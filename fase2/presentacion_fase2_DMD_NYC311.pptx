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B0801-11F2-4F47-87D7-8CA4E46BB1E8}" type="datetimeFigureOut">
              <a:rPr lang="es-SV" smtClean="0"/>
              <a:t>14/9/2026</a:t>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C3A91-ADA7-40D4-99A7-0DE14F5CA57A}" type="slidenum">
              <a:rPr lang="es-SV" smtClean="0"/>
              <a:t>‹Nº›</a:t>
            </a:fld>
            <a:endParaRPr lang="es-SV"/>
          </a:p>
        </p:txBody>
      </p:sp>
    </p:spTree>
    <p:extLst>
      <p:ext uri="{BB962C8B-B14F-4D97-AF65-F5344CB8AC3E}">
        <p14:creationId xmlns:p14="http://schemas.microsoft.com/office/powerpoint/2010/main" val="861256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Esta presentación recorre toda la cadena de evidencia. Comienza con NYC Open Data, continúa con el ETL y el Data Warehouse de la Fase 1, muestra la vista y el CSV de minería, explica el preprocesamiento KDD y termina con los resultados del Árbol de Decisión y K-Means.</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a:t>
            </a:fld>
            <a:endParaRPr lang="es-SV"/>
          </a:p>
        </p:txBody>
      </p:sp>
    </p:spTree>
    <p:extLst>
      <p:ext uri="{BB962C8B-B14F-4D97-AF65-F5344CB8AC3E}">
        <p14:creationId xmlns:p14="http://schemas.microsoft.com/office/powerpoint/2010/main" val="4131633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El análisis formula dos preguntas distintas. El árbol usa una clase objetivo para estimar riesgo de demora. K-Means no usa etiquetas y agrupa perfiles operativos. Ambas preguntas parten del mismo dataset analítico, pero requieren preparaciones diferentes.</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2</a:t>
            </a:fld>
            <a:endParaRPr lang="es-SV"/>
          </a:p>
        </p:txBody>
      </p:sp>
    </p:spTree>
    <p:extLst>
      <p:ext uri="{BB962C8B-B14F-4D97-AF65-F5344CB8AC3E}">
        <p14:creationId xmlns:p14="http://schemas.microsoft.com/office/powerpoint/2010/main" val="4047912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La fuente externa es 311 Service Requests from 2020 to Present, dataset erm2-nwe9 de NYC Open Data. La Fase 1 llevó los datos por raw.Solicitud y stg.Solicitud hasta DW_NYC311. La Fase 2 usa la tabla de hechos y sus dimensiones para crear mining.vw_dataset_fase2, exportarla como resultados.csv y analizarla con Python. Fuente: https://data.cityofnewyork.us/d/erm2-nwe9</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3</a:t>
            </a:fld>
            <a:endParaRPr lang="es-SV"/>
          </a:p>
        </p:txBody>
      </p:sp>
    </p:spTree>
    <p:extLst>
      <p:ext uri="{BB962C8B-B14F-4D97-AF65-F5344CB8AC3E}">
        <p14:creationId xmlns:p14="http://schemas.microsoft.com/office/powerpoint/2010/main" val="2023739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La tabla muestra la procedencia de cada variable. El SQL calcula el P75 con PERCENTILE_CONT sobre los tiempos observados y une FactSolicitud con siete dimensiones. La clase demora_alta es elaboración propia y se genera mediante CASE. El script completo está en tmp/codigo/sql/mining_view_fase2.sql.</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4</a:t>
            </a:fld>
            <a:endParaRPr lang="es-SV"/>
          </a:p>
        </p:txBody>
      </p:sp>
    </p:spTree>
    <p:extLst>
      <p:ext uri="{BB962C8B-B14F-4D97-AF65-F5344CB8AC3E}">
        <p14:creationId xmlns:p14="http://schemas.microsoft.com/office/powerpoint/2010/main" val="535978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Esta tabla responde directamente al criterio de preprocesamiento. Los nulos se interpretan antes de decidir qué hacer. El P75 discretiza el tiempo. OneHotEncoder prepara categorías para el árbol. log1p y StandardScaler preparan las distancias de K-Means. Se excluyen variables que producirían fuga de información.</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5</a:t>
            </a:fld>
            <a:endParaRPr lang="es-SV"/>
          </a:p>
        </p:txBody>
      </p:sp>
    </p:spTree>
    <p:extLst>
      <p:ext uri="{BB962C8B-B14F-4D97-AF65-F5344CB8AC3E}">
        <p14:creationId xmlns:p14="http://schemas.microsoft.com/office/powerpoint/2010/main" val="2935379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No existía una etiqueta original de demora. Calculamos los percentiles sobre 1,230,737 solicitudes resueltas. P75 quedó en 4,329 minutos. Elegimos ese punto porque identifica el 25 por ciento de tiempos mayores mediante una regla calculada con nuestros datos. Los casos sin cierre no se imputan ni se etiquetan.</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6</a:t>
            </a:fld>
            <a:endParaRPr lang="es-SV"/>
          </a:p>
        </p:txBody>
      </p:sp>
    </p:spTree>
    <p:extLst>
      <p:ext uri="{BB962C8B-B14F-4D97-AF65-F5344CB8AC3E}">
        <p14:creationId xmlns:p14="http://schemas.microsoft.com/office/powerpoint/2010/main" val="1612719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El conjunto clasificable se separó 80 y 20 por ciento con estratificación. GridSearchCV comparó 18 combinaciones y cada una se evaluó en tres particiones, para un total de 54 ajustes. La combinación con mejor F1 usa profundidad 15, mínimo 50 por hoja y pesos balanceados. Documentación: https://scikit-learn.org/stable/modules/generated/sklearn.model_selection.GridSearchCV.html</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7</a:t>
            </a:fld>
            <a:endParaRPr lang="es-SV"/>
          </a:p>
        </p:txBody>
      </p:sp>
    </p:spTree>
    <p:extLst>
      <p:ext uri="{BB962C8B-B14F-4D97-AF65-F5344CB8AC3E}">
        <p14:creationId xmlns:p14="http://schemas.microsoft.com/office/powerpoint/2010/main" val="3797808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El modelo base tenía Recall de 59.41 por ciento. El optimizado alcanza 95.15 por ciento y mejora F1 y ROC AUC. La precisión cae a 66.63 por ciento. Ese intercambio tiene sentido si el objetivo es dejar pocas demoras reales sin alerta y una persona revisa las alertas antes de actuar.</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8</a:t>
            </a:fld>
            <a:endParaRPr lang="es-SV"/>
          </a:p>
        </p:txBody>
      </p:sp>
    </p:spTree>
    <p:extLst>
      <p:ext uri="{BB962C8B-B14F-4D97-AF65-F5344CB8AC3E}">
        <p14:creationId xmlns:p14="http://schemas.microsoft.com/office/powerpoint/2010/main" val="330843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La matriz permite verificar el Recall. El modelo detectó 58,549 de 61,531 demoras reales y dejó 2,982 sin alerta. Produjo 29,328 falsos positivos. Esta lectura muestra por qué proponemos revisión humana y no una decisión automática.</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9</a:t>
            </a:fld>
            <a:endParaRPr lang="es-SV"/>
          </a:p>
        </p:txBody>
      </p:sp>
    </p:spTree>
    <p:extLst>
      <p:ext uri="{BB962C8B-B14F-4D97-AF65-F5344CB8AC3E}">
        <p14:creationId xmlns:p14="http://schemas.microsoft.com/office/powerpoint/2010/main" val="148710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La agencia concentra 79.95 por ciento de la importancia y el tipo de reclamo 16.27 por ciento. El árbol usa esas variables para separar casos, pero la medida no demuestra causa y efecto. La diferencia observada entre agencias debe orientar análisis segmentados, no juicios causales.</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10</a:t>
            </a:fld>
            <a:endParaRPr lang="es-SV"/>
          </a:p>
        </p:txBody>
      </p:sp>
    </p:spTree>
    <p:extLst>
      <p:ext uri="{BB962C8B-B14F-4D97-AF65-F5344CB8AC3E}">
        <p14:creationId xmlns:p14="http://schemas.microsoft.com/office/powerpoint/2010/main" val="3385262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K-Means no agrupa las 1.29 millones de solicitudes individuales. Primero agrupamos por agencia, tipo de reclamo y borough. Muchas filas HPD, UNSANITARY CONDITION y BRONX se resumen en un perfil con volumen, mediana, porcentaje de demora y porcentaje sin resolución. Se crearon 912 perfiles, 487 superaron el mínimo de 100 solicitudes y 480 quedaron completos para el modelo.</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11</a:t>
            </a:fld>
            <a:endParaRPr lang="es-SV"/>
          </a:p>
        </p:txBody>
      </p:sp>
    </p:spTree>
    <p:extLst>
      <p:ext uri="{BB962C8B-B14F-4D97-AF65-F5344CB8AC3E}">
        <p14:creationId xmlns:p14="http://schemas.microsoft.com/office/powerpoint/2010/main" val="1737836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Probamos K entre 2 y 8 después de aplicar log1p y StandardScaler. K igual a 3 obtuvo el Silhouette más alto, 0.421321, y una reducción importante de inercia frente a K igual a 2. El resultado sustenta una segmentación exploratoria, no categorías absolutas. Documentación: https://scikit-learn.org/stable/modules/clustering.html#k-means</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12</a:t>
            </a:fld>
            <a:endParaRPr lang="es-SV"/>
          </a:p>
        </p:txBody>
      </p:sp>
    </p:spTree>
    <p:extLst>
      <p:ext uri="{BB962C8B-B14F-4D97-AF65-F5344CB8AC3E}">
        <p14:creationId xmlns:p14="http://schemas.microsoft.com/office/powerpoint/2010/main" val="3082815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El primer cluster concentra la mayoría del volumen y tiene tiempos bajos. El segundo reúne 351,275 solicitudes con una mediana de 11,376 minutos y 71.09 por ciento de demora. El tercero es más pequeño, pero 82.72 por ciento no tiene resolución observada. Antes de comparar tiempos en ese grupo debemos revisar los cierres.</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13</a:t>
            </a:fld>
            <a:endParaRPr lang="es-SV"/>
          </a:p>
        </p:txBody>
      </p:sp>
    </p:spTree>
    <p:extLst>
      <p:ext uri="{BB962C8B-B14F-4D97-AF65-F5344CB8AC3E}">
        <p14:creationId xmlns:p14="http://schemas.microsoft.com/office/powerpoint/2010/main" val="204048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El árbol prioriza revisiones tempranas. El cluster de resolución prolongada reúne el volumen más relevante para mejora. El rezago crítico requiere auditar estados y cierres. Estas decisiones se limitan a cuatro meses, una clase definida por P75, importancia predictiva sin causalidad y clusters con separación moderada.</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14</a:t>
            </a:fld>
            <a:endParaRPr lang="es-SV"/>
          </a:p>
        </p:txBody>
      </p:sp>
    </p:spTree>
    <p:extLst>
      <p:ext uri="{BB962C8B-B14F-4D97-AF65-F5344CB8AC3E}">
        <p14:creationId xmlns:p14="http://schemas.microsoft.com/office/powerpoint/2010/main" val="775958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a:t>Los resultados se pueden verificar con el notebook fuente, el notebook ejecutado, resultados.csv y el script de la vista. Los prefijos SHA-256 identifican los archivos usados. Referencias: [1] https://data.cityofnewyork.us/d/erm2-nwe9 [2] https://scikit-learn.org/stable/modules/generated/sklearn.preprocessing.OneHotEncoder.html y https://scikit-learn.org/stable/modules/generated/sklearn.model_selection.GridSearchCV.html [3] https://scikit-learn.org/stable/modules/clustering.html#k-means
Preguntas probables:
¿De dónde salen las 1,293,816 filas? De la vista mining.vw_dataset_fase2, construida sobre dw.FactSolicitud y sus dimensiones.
¿De dónde sale P75? De PERCENTILE_CONT sobre 1,230,737 tiempos observados.
¿Por qué Árbol de Decisión? Permite clasificación supervisada e interpretación de reglas.
¿Por qué K-Means sobre perfiles? Las combinaciones de agencia, reclamo y borough tienen significado operativo.
¿Un Silhouette de 0.421 es alto? Es moderado y permite exploración, no una segmentación definitiva.</a:t>
            </a:r>
            <a:endParaRPr lang="es-SV"/>
          </a:p>
        </p:txBody>
      </p:sp>
      <p:sp>
        <p:nvSpPr>
          <p:cNvPr id="4" name="Marcador de número de diapositiva 3"/>
          <p:cNvSpPr>
            <a:spLocks noGrp="1"/>
          </p:cNvSpPr>
          <p:nvPr>
            <p:ph type="sldNum" sz="quarter" idx="5"/>
          </p:nvPr>
        </p:nvSpPr>
        <p:spPr/>
        <p:txBody>
          <a:bodyPr/>
          <a:lstStyle/>
          <a:p>
            <a:fld id="{295C3A91-ADA7-40D4-99A7-0DE14F5CA57A}" type="slidenum">
              <a:rPr lang="es-SV" smtClean="0"/>
              <a:t>15</a:t>
            </a:fld>
            <a:endParaRPr lang="es-SV"/>
          </a:p>
        </p:txBody>
      </p:sp>
    </p:spTree>
    <p:extLst>
      <p:ext uri="{BB962C8B-B14F-4D97-AF65-F5344CB8AC3E}">
        <p14:creationId xmlns:p14="http://schemas.microsoft.com/office/powerpoint/2010/main" val="1508077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331992-4117-5700-67EB-E58013341016}"/>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SV"/>
          </a:p>
        </p:txBody>
      </p:sp>
      <p:sp>
        <p:nvSpPr>
          <p:cNvPr id="3" name="Subtítulo 2">
            <a:extLst>
              <a:ext uri="{FF2B5EF4-FFF2-40B4-BE49-F238E27FC236}">
                <a16:creationId xmlns:a16="http://schemas.microsoft.com/office/drawing/2014/main" id="{D806CB2C-C916-386A-C3CB-D4690F8EEC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SV"/>
          </a:p>
        </p:txBody>
      </p:sp>
      <p:sp>
        <p:nvSpPr>
          <p:cNvPr id="4" name="Marcador de fecha 3">
            <a:extLst>
              <a:ext uri="{FF2B5EF4-FFF2-40B4-BE49-F238E27FC236}">
                <a16:creationId xmlns:a16="http://schemas.microsoft.com/office/drawing/2014/main" id="{954D6931-C09F-D78C-AAFB-F54117DE3758}"/>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5" name="Marcador de pie de página 4">
            <a:extLst>
              <a:ext uri="{FF2B5EF4-FFF2-40B4-BE49-F238E27FC236}">
                <a16:creationId xmlns:a16="http://schemas.microsoft.com/office/drawing/2014/main" id="{441BF8F5-9EE6-38D5-E38C-F1F2C9610520}"/>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99C7969C-6D61-C95A-9011-5B00013D7572}"/>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1811965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F614C-F02B-9342-69D9-2CDB44AA4804}"/>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contenido 2">
            <a:extLst>
              <a:ext uri="{FF2B5EF4-FFF2-40B4-BE49-F238E27FC236}">
                <a16:creationId xmlns:a16="http://schemas.microsoft.com/office/drawing/2014/main" id="{BFC2B276-9673-BAD1-4066-BF03E3DE5550}"/>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75F9EF47-4166-AEDD-D718-773BC965E4A7}"/>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5" name="Marcador de pie de página 4">
            <a:extLst>
              <a:ext uri="{FF2B5EF4-FFF2-40B4-BE49-F238E27FC236}">
                <a16:creationId xmlns:a16="http://schemas.microsoft.com/office/drawing/2014/main" id="{3640B2F2-8AB5-F596-38DF-10A64F41882F}"/>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6611FAB5-0C8D-015A-C21E-9BFEF8FE0E5E}"/>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4058316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27A79B-E7EB-8B50-7D78-6B7943FDBAB8}"/>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SV"/>
          </a:p>
        </p:txBody>
      </p:sp>
      <p:sp>
        <p:nvSpPr>
          <p:cNvPr id="3" name="Marcador de texto 2">
            <a:extLst>
              <a:ext uri="{FF2B5EF4-FFF2-40B4-BE49-F238E27FC236}">
                <a16:creationId xmlns:a16="http://schemas.microsoft.com/office/drawing/2014/main" id="{27EE1F8F-A495-B441-7DF5-E8AF06A8BF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ADB5CACB-8F04-C0D9-D119-1DE6DDF38D13}"/>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5" name="Marcador de pie de página 4">
            <a:extLst>
              <a:ext uri="{FF2B5EF4-FFF2-40B4-BE49-F238E27FC236}">
                <a16:creationId xmlns:a16="http://schemas.microsoft.com/office/drawing/2014/main" id="{A2532131-9880-5DA0-FAD5-723598FC03DD}"/>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48881C24-C3C8-4E27-7BCF-6BF0CB018304}"/>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1360283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BCA62E-7705-4108-EEE3-1E5B7B2083F3}"/>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contenido 2">
            <a:extLst>
              <a:ext uri="{FF2B5EF4-FFF2-40B4-BE49-F238E27FC236}">
                <a16:creationId xmlns:a16="http://schemas.microsoft.com/office/drawing/2014/main" id="{F34948E6-147D-3054-6D4F-F1B8BA036941}"/>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contenido 3">
            <a:extLst>
              <a:ext uri="{FF2B5EF4-FFF2-40B4-BE49-F238E27FC236}">
                <a16:creationId xmlns:a16="http://schemas.microsoft.com/office/drawing/2014/main" id="{5EB81903-0B4B-DDA0-86B5-373B3992171F}"/>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5" name="Marcador de fecha 4">
            <a:extLst>
              <a:ext uri="{FF2B5EF4-FFF2-40B4-BE49-F238E27FC236}">
                <a16:creationId xmlns:a16="http://schemas.microsoft.com/office/drawing/2014/main" id="{22CB4A77-B651-FE8F-601F-C08553D7B1EC}"/>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6" name="Marcador de pie de página 5">
            <a:extLst>
              <a:ext uri="{FF2B5EF4-FFF2-40B4-BE49-F238E27FC236}">
                <a16:creationId xmlns:a16="http://schemas.microsoft.com/office/drawing/2014/main" id="{2B3FFD7D-CA19-F6CD-FEDE-2620BED2A83C}"/>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2202B08D-2BFF-63E3-F2E8-35B8340B9647}"/>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2501534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A5F920-6D61-2FBF-4C8C-E7D2C52AC98C}"/>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SV"/>
          </a:p>
        </p:txBody>
      </p:sp>
      <p:sp>
        <p:nvSpPr>
          <p:cNvPr id="3" name="Marcador de texto 2">
            <a:extLst>
              <a:ext uri="{FF2B5EF4-FFF2-40B4-BE49-F238E27FC236}">
                <a16:creationId xmlns:a16="http://schemas.microsoft.com/office/drawing/2014/main" id="{1924E7C8-3D92-07E3-CAD4-CE77B450FA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1251FD4-EE68-28C5-3262-A601A9C4AB8C}"/>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5" name="Marcador de texto 4">
            <a:extLst>
              <a:ext uri="{FF2B5EF4-FFF2-40B4-BE49-F238E27FC236}">
                <a16:creationId xmlns:a16="http://schemas.microsoft.com/office/drawing/2014/main" id="{E8E20C64-465F-10B6-EBFA-F14279A1E6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C135A24D-0358-C055-7543-B1B750F863C2}"/>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7" name="Marcador de fecha 6">
            <a:extLst>
              <a:ext uri="{FF2B5EF4-FFF2-40B4-BE49-F238E27FC236}">
                <a16:creationId xmlns:a16="http://schemas.microsoft.com/office/drawing/2014/main" id="{DD6D0E14-09D6-3138-A12E-0DD44D1D83DB}"/>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8" name="Marcador de pie de página 7">
            <a:extLst>
              <a:ext uri="{FF2B5EF4-FFF2-40B4-BE49-F238E27FC236}">
                <a16:creationId xmlns:a16="http://schemas.microsoft.com/office/drawing/2014/main" id="{D3EC9A6E-9633-1249-9246-35EC9F76B82B}"/>
              </a:ext>
            </a:extLst>
          </p:cNvPr>
          <p:cNvSpPr>
            <a:spLocks noGrp="1"/>
          </p:cNvSpPr>
          <p:nvPr>
            <p:ph type="ftr" sz="quarter" idx="11"/>
          </p:nvPr>
        </p:nvSpPr>
        <p:spPr/>
        <p:txBody>
          <a:bodyPr/>
          <a:lstStyle/>
          <a:p>
            <a:endParaRPr lang="es-SV"/>
          </a:p>
        </p:txBody>
      </p:sp>
      <p:sp>
        <p:nvSpPr>
          <p:cNvPr id="9" name="Marcador de número de diapositiva 8">
            <a:extLst>
              <a:ext uri="{FF2B5EF4-FFF2-40B4-BE49-F238E27FC236}">
                <a16:creationId xmlns:a16="http://schemas.microsoft.com/office/drawing/2014/main" id="{41DA8BBE-0340-6307-BFD6-20E0CD6789BC}"/>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3214917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AC4218-E4BD-031B-8F82-3DCC2CFBB473}"/>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fecha 2">
            <a:extLst>
              <a:ext uri="{FF2B5EF4-FFF2-40B4-BE49-F238E27FC236}">
                <a16:creationId xmlns:a16="http://schemas.microsoft.com/office/drawing/2014/main" id="{5D2AD9BB-FA09-76AE-54A4-2A0649EE7514}"/>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4" name="Marcador de pie de página 3">
            <a:extLst>
              <a:ext uri="{FF2B5EF4-FFF2-40B4-BE49-F238E27FC236}">
                <a16:creationId xmlns:a16="http://schemas.microsoft.com/office/drawing/2014/main" id="{B8784E19-032D-E8BE-94F0-CA5074E80F6D}"/>
              </a:ext>
            </a:extLst>
          </p:cNvPr>
          <p:cNvSpPr>
            <a:spLocks noGrp="1"/>
          </p:cNvSpPr>
          <p:nvPr>
            <p:ph type="ftr" sz="quarter" idx="11"/>
          </p:nvPr>
        </p:nvSpPr>
        <p:spPr/>
        <p:txBody>
          <a:bodyPr/>
          <a:lstStyle/>
          <a:p>
            <a:endParaRPr lang="es-SV"/>
          </a:p>
        </p:txBody>
      </p:sp>
      <p:sp>
        <p:nvSpPr>
          <p:cNvPr id="5" name="Marcador de número de diapositiva 4">
            <a:extLst>
              <a:ext uri="{FF2B5EF4-FFF2-40B4-BE49-F238E27FC236}">
                <a16:creationId xmlns:a16="http://schemas.microsoft.com/office/drawing/2014/main" id="{AD049DA8-ACD4-91E5-082C-B6153C1EF1E7}"/>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25125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26D18E3-2FDA-E2EF-4066-6F297C8D8280}"/>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3" name="Marcador de pie de página 2">
            <a:extLst>
              <a:ext uri="{FF2B5EF4-FFF2-40B4-BE49-F238E27FC236}">
                <a16:creationId xmlns:a16="http://schemas.microsoft.com/office/drawing/2014/main" id="{10979752-FD15-9DA0-45E6-C78C5E397998}"/>
              </a:ext>
            </a:extLst>
          </p:cNvPr>
          <p:cNvSpPr>
            <a:spLocks noGrp="1"/>
          </p:cNvSpPr>
          <p:nvPr>
            <p:ph type="ftr" sz="quarter" idx="11"/>
          </p:nvPr>
        </p:nvSpPr>
        <p:spPr/>
        <p:txBody>
          <a:bodyPr/>
          <a:lstStyle/>
          <a:p>
            <a:endParaRPr lang="es-SV"/>
          </a:p>
        </p:txBody>
      </p:sp>
      <p:sp>
        <p:nvSpPr>
          <p:cNvPr id="4" name="Marcador de número de diapositiva 3">
            <a:extLst>
              <a:ext uri="{FF2B5EF4-FFF2-40B4-BE49-F238E27FC236}">
                <a16:creationId xmlns:a16="http://schemas.microsoft.com/office/drawing/2014/main" id="{535A5AB1-A268-8FF9-4043-E69862D43A4E}"/>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180696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BF87EA-04C5-FD77-69CA-08CAD54B2D6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SV"/>
          </a:p>
        </p:txBody>
      </p:sp>
      <p:sp>
        <p:nvSpPr>
          <p:cNvPr id="3" name="Marcador de contenido 2">
            <a:extLst>
              <a:ext uri="{FF2B5EF4-FFF2-40B4-BE49-F238E27FC236}">
                <a16:creationId xmlns:a16="http://schemas.microsoft.com/office/drawing/2014/main" id="{FB892D2F-6ECE-DAE9-52D6-61BE6BF4BF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texto 3">
            <a:extLst>
              <a:ext uri="{FF2B5EF4-FFF2-40B4-BE49-F238E27FC236}">
                <a16:creationId xmlns:a16="http://schemas.microsoft.com/office/drawing/2014/main" id="{78BBCFA5-638E-E38F-1143-EAB66A762D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5D9E165-9EDC-21B0-3643-3B9B6EDAD202}"/>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6" name="Marcador de pie de página 5">
            <a:extLst>
              <a:ext uri="{FF2B5EF4-FFF2-40B4-BE49-F238E27FC236}">
                <a16:creationId xmlns:a16="http://schemas.microsoft.com/office/drawing/2014/main" id="{1226F2FE-177F-C895-3E32-06815FF960D9}"/>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6612EF75-001C-9A8E-41B2-61D4B63B83A6}"/>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875090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6A4604-7367-AEA1-EB83-66625555EDFB}"/>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SV"/>
          </a:p>
        </p:txBody>
      </p:sp>
      <p:sp>
        <p:nvSpPr>
          <p:cNvPr id="3" name="Marcador de posición de imagen 2">
            <a:extLst>
              <a:ext uri="{FF2B5EF4-FFF2-40B4-BE49-F238E27FC236}">
                <a16:creationId xmlns:a16="http://schemas.microsoft.com/office/drawing/2014/main" id="{5188D821-A1E7-480A-602D-1AF2C40A5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SV"/>
          </a:p>
        </p:txBody>
      </p:sp>
      <p:sp>
        <p:nvSpPr>
          <p:cNvPr id="4" name="Marcador de texto 3">
            <a:extLst>
              <a:ext uri="{FF2B5EF4-FFF2-40B4-BE49-F238E27FC236}">
                <a16:creationId xmlns:a16="http://schemas.microsoft.com/office/drawing/2014/main" id="{2760FBF5-3356-7A25-B110-1F3535602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52B771B-66E4-1A3D-1C8D-A2EB81BD0666}"/>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6" name="Marcador de pie de página 5">
            <a:extLst>
              <a:ext uri="{FF2B5EF4-FFF2-40B4-BE49-F238E27FC236}">
                <a16:creationId xmlns:a16="http://schemas.microsoft.com/office/drawing/2014/main" id="{AB478793-34D5-4817-5427-9F9B084E95D1}"/>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7D3C1866-CD8C-A02A-8F6C-36193BE5969E}"/>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1068523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78A1AA-4B2D-B14C-5715-0B784A63956D}"/>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texto vertical 2">
            <a:extLst>
              <a:ext uri="{FF2B5EF4-FFF2-40B4-BE49-F238E27FC236}">
                <a16:creationId xmlns:a16="http://schemas.microsoft.com/office/drawing/2014/main" id="{FDFF1078-02BB-BD25-B46D-AD2FCA67CBFC}"/>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9CD36853-CCEA-5826-B763-FFD330C55900}"/>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5" name="Marcador de pie de página 4">
            <a:extLst>
              <a:ext uri="{FF2B5EF4-FFF2-40B4-BE49-F238E27FC236}">
                <a16:creationId xmlns:a16="http://schemas.microsoft.com/office/drawing/2014/main" id="{F8A348E8-5FDA-F481-2E34-F1FEE38A40B1}"/>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277FBF34-E47C-63E6-62B6-C24A3B253D2C}"/>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138971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7E6D24B-97BE-FAFF-24D0-C3993D9BAD3B}"/>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SV"/>
          </a:p>
        </p:txBody>
      </p:sp>
      <p:sp>
        <p:nvSpPr>
          <p:cNvPr id="3" name="Marcador de texto vertical 2">
            <a:extLst>
              <a:ext uri="{FF2B5EF4-FFF2-40B4-BE49-F238E27FC236}">
                <a16:creationId xmlns:a16="http://schemas.microsoft.com/office/drawing/2014/main" id="{A70DE733-7C8D-DAA2-97F7-6F3F7DE87424}"/>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43BE0B27-8958-9E5B-17A1-0AB51F63E80A}"/>
              </a:ext>
            </a:extLst>
          </p:cNvPr>
          <p:cNvSpPr>
            <a:spLocks noGrp="1"/>
          </p:cNvSpPr>
          <p:nvPr>
            <p:ph type="dt" sz="half" idx="10"/>
          </p:nvPr>
        </p:nvSpPr>
        <p:spPr/>
        <p:txBody>
          <a:bodyPr/>
          <a:lstStyle/>
          <a:p>
            <a:fld id="{70810EBB-CD54-4A44-92C1-B1C66A473779}" type="datetimeFigureOut">
              <a:rPr lang="es-SV" smtClean="0"/>
              <a:t>14/9/2026</a:t>
            </a:fld>
            <a:endParaRPr lang="es-SV"/>
          </a:p>
        </p:txBody>
      </p:sp>
      <p:sp>
        <p:nvSpPr>
          <p:cNvPr id="5" name="Marcador de pie de página 4">
            <a:extLst>
              <a:ext uri="{FF2B5EF4-FFF2-40B4-BE49-F238E27FC236}">
                <a16:creationId xmlns:a16="http://schemas.microsoft.com/office/drawing/2014/main" id="{28CA6A4C-6E8F-596F-0969-862C8D6CEB6D}"/>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9D19D381-9E88-FBE8-7059-355CC032007A}"/>
              </a:ext>
            </a:extLst>
          </p:cNvPr>
          <p:cNvSpPr>
            <a:spLocks noGrp="1"/>
          </p:cNvSpPr>
          <p:nvPr>
            <p:ph type="sldNum" sz="quarter" idx="12"/>
          </p:nvPr>
        </p:nvSpPr>
        <p:spPr/>
        <p:txBody>
          <a:bodyPr/>
          <a:lstStyle/>
          <a:p>
            <a:fld id="{7B73420E-ABA8-4B9E-BF8F-32C91BF5DD51}" type="slidenum">
              <a:rPr lang="es-SV" smtClean="0"/>
              <a:t>‹Nº›</a:t>
            </a:fld>
            <a:endParaRPr lang="es-SV"/>
          </a:p>
        </p:txBody>
      </p:sp>
    </p:spTree>
    <p:extLst>
      <p:ext uri="{BB962C8B-B14F-4D97-AF65-F5344CB8AC3E}">
        <p14:creationId xmlns:p14="http://schemas.microsoft.com/office/powerpoint/2010/main" val="2141516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7F1F9EB-D21D-E843-D25E-3CFFF98D8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SV"/>
          </a:p>
        </p:txBody>
      </p:sp>
      <p:sp>
        <p:nvSpPr>
          <p:cNvPr id="3" name="Marcador de texto 2">
            <a:extLst>
              <a:ext uri="{FF2B5EF4-FFF2-40B4-BE49-F238E27FC236}">
                <a16:creationId xmlns:a16="http://schemas.microsoft.com/office/drawing/2014/main" id="{0BF8046C-E129-2578-B63D-B58D3FE411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0D12AF2A-7601-4E3C-05DA-9DA697826E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810EBB-CD54-4A44-92C1-B1C66A473779}" type="datetimeFigureOut">
              <a:rPr lang="es-SV" smtClean="0"/>
              <a:t>14/9/2026</a:t>
            </a:fld>
            <a:endParaRPr lang="es-SV"/>
          </a:p>
        </p:txBody>
      </p:sp>
      <p:sp>
        <p:nvSpPr>
          <p:cNvPr id="5" name="Marcador de pie de página 4">
            <a:extLst>
              <a:ext uri="{FF2B5EF4-FFF2-40B4-BE49-F238E27FC236}">
                <a16:creationId xmlns:a16="http://schemas.microsoft.com/office/drawing/2014/main" id="{5CB8AEE8-0B5A-7ACF-0262-48027C9995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SV"/>
          </a:p>
        </p:txBody>
      </p:sp>
      <p:sp>
        <p:nvSpPr>
          <p:cNvPr id="6" name="Marcador de número de diapositiva 5">
            <a:extLst>
              <a:ext uri="{FF2B5EF4-FFF2-40B4-BE49-F238E27FC236}">
                <a16:creationId xmlns:a16="http://schemas.microsoft.com/office/drawing/2014/main" id="{0AAA12D1-2BAC-9495-12F9-3AF7273CF2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73420E-ABA8-4B9E-BF8F-32C91BF5DD51}" type="slidenum">
              <a:rPr lang="es-SV" smtClean="0"/>
              <a:t>‹Nº›</a:t>
            </a:fld>
            <a:endParaRPr lang="es-SV"/>
          </a:p>
        </p:txBody>
      </p:sp>
    </p:spTree>
    <p:extLst>
      <p:ext uri="{BB962C8B-B14F-4D97-AF65-F5344CB8AC3E}">
        <p14:creationId xmlns:p14="http://schemas.microsoft.com/office/powerpoint/2010/main" val="3449162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E375E86-9379-2129-73AE-5D39A5E7B8B5}"/>
              </a:ext>
            </a:extLst>
          </p:cNvPr>
          <p:cNvSpPr/>
          <p:nvPr/>
        </p:nvSpPr>
        <p:spPr>
          <a:xfrm>
            <a:off x="0" y="0"/>
            <a:ext cx="7239000" cy="6858000"/>
          </a:xfrm>
          <a:prstGeom prst="rect">
            <a:avLst/>
          </a:prstGeom>
          <a:solidFill>
            <a:srgbClr val="17365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3" name="Rectángulo 2">
            <a:extLst>
              <a:ext uri="{FF2B5EF4-FFF2-40B4-BE49-F238E27FC236}">
                <a16:creationId xmlns:a16="http://schemas.microsoft.com/office/drawing/2014/main" id="{DB3F2D53-A8FE-7AB0-CD56-7C5FDB3A890A}"/>
              </a:ext>
            </a:extLst>
          </p:cNvPr>
          <p:cNvSpPr/>
          <p:nvPr/>
        </p:nvSpPr>
        <p:spPr>
          <a:xfrm>
            <a:off x="685800" y="1320800"/>
            <a:ext cx="1168400" cy="889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CB1F0CED-D5FA-0926-5AE8-7994569F069B}"/>
              </a:ext>
            </a:extLst>
          </p:cNvPr>
          <p:cNvSpPr txBox="1"/>
          <p:nvPr/>
        </p:nvSpPr>
        <p:spPr>
          <a:xfrm>
            <a:off x="685800" y="1676400"/>
            <a:ext cx="5969000" cy="276999"/>
          </a:xfrm>
          <a:prstGeom prst="rect">
            <a:avLst/>
          </a:prstGeom>
          <a:noFill/>
        </p:spPr>
        <p:txBody>
          <a:bodyPr vert="horz" wrap="square" lIns="0" tIns="0" rIns="0" bIns="0" rtlCol="0">
            <a:noAutofit/>
          </a:bodyPr>
          <a:lstStyle/>
          <a:p>
            <a:r>
              <a:rPr lang="es-419" sz="3100" b="1">
                <a:solidFill>
                  <a:srgbClr val="FFFFFF"/>
                </a:solidFill>
                <a:latin typeface="Arial" panose="020B0604020202020204" pitchFamily="34" charset="0"/>
              </a:rPr>
              <a:t>Minería de Datos y Descubrimiento de Conocimiento para NYC311</a:t>
            </a:r>
            <a:endParaRPr lang="es-SV" sz="3100" b="1">
              <a:solidFill>
                <a:srgbClr val="FFFFFF"/>
              </a:solidFill>
              <a:latin typeface="Arial" panose="020B0604020202020204" pitchFamily="34" charset="0"/>
            </a:endParaRPr>
          </a:p>
        </p:txBody>
      </p:sp>
      <p:sp>
        <p:nvSpPr>
          <p:cNvPr id="5" name="CuadroTexto 4">
            <a:extLst>
              <a:ext uri="{FF2B5EF4-FFF2-40B4-BE49-F238E27FC236}">
                <a16:creationId xmlns:a16="http://schemas.microsoft.com/office/drawing/2014/main" id="{BCB55535-8600-2E4F-14A8-7598B4FBB397}"/>
              </a:ext>
            </a:extLst>
          </p:cNvPr>
          <p:cNvSpPr txBox="1"/>
          <p:nvPr/>
        </p:nvSpPr>
        <p:spPr>
          <a:xfrm>
            <a:off x="685800" y="4000500"/>
            <a:ext cx="5715000" cy="276999"/>
          </a:xfrm>
          <a:prstGeom prst="rect">
            <a:avLst/>
          </a:prstGeom>
          <a:noFill/>
        </p:spPr>
        <p:txBody>
          <a:bodyPr vert="horz" wrap="square" lIns="0" tIns="0" rIns="0" bIns="0" rtlCol="0">
            <a:noAutofit/>
          </a:bodyPr>
          <a:lstStyle/>
          <a:p>
            <a:r>
              <a:rPr lang="es-419" sz="1500">
                <a:solidFill>
                  <a:srgbClr val="D9EAF7"/>
                </a:solidFill>
                <a:latin typeface="Arial" panose="020B0604020202020204" pitchFamily="34" charset="0"/>
              </a:rPr>
              <a:t>Fase 2   Trazabilidad KDD, Árbol de Decisión y K-Means</a:t>
            </a:r>
            <a:endParaRPr lang="es-SV" sz="1500">
              <a:solidFill>
                <a:srgbClr val="D9EAF7"/>
              </a:solidFill>
              <a:latin typeface="Arial" panose="020B0604020202020204" pitchFamily="34" charset="0"/>
            </a:endParaRPr>
          </a:p>
        </p:txBody>
      </p:sp>
      <p:sp>
        <p:nvSpPr>
          <p:cNvPr id="6" name="CuadroTexto 5">
            <a:extLst>
              <a:ext uri="{FF2B5EF4-FFF2-40B4-BE49-F238E27FC236}">
                <a16:creationId xmlns:a16="http://schemas.microsoft.com/office/drawing/2014/main" id="{7F30C7A0-CE1F-520C-D90F-8BF462F18A14}"/>
              </a:ext>
            </a:extLst>
          </p:cNvPr>
          <p:cNvSpPr txBox="1"/>
          <p:nvPr/>
        </p:nvSpPr>
        <p:spPr>
          <a:xfrm>
            <a:off x="685800" y="5689600"/>
            <a:ext cx="5715000" cy="276999"/>
          </a:xfrm>
          <a:prstGeom prst="rect">
            <a:avLst/>
          </a:prstGeom>
          <a:noFill/>
        </p:spPr>
        <p:txBody>
          <a:bodyPr vert="horz" wrap="square" lIns="0" tIns="0" rIns="0" bIns="0" rtlCol="0">
            <a:noAutofit/>
          </a:bodyPr>
          <a:lstStyle/>
          <a:p>
            <a:r>
              <a:rPr lang="es-419" sz="1100">
                <a:solidFill>
                  <a:srgbClr val="FFFFFF"/>
                </a:solidFill>
                <a:latin typeface="Arial" panose="020B0604020202020204" pitchFamily="34" charset="0"/>
              </a:rPr>
              <a:t>Universidad Don Bosco   DMD104   Septiembre de 2026</a:t>
            </a:r>
            <a:endParaRPr lang="es-SV" sz="1100">
              <a:solidFill>
                <a:srgbClr val="FFFFFF"/>
              </a:solidFill>
              <a:latin typeface="Arial" panose="020B0604020202020204" pitchFamily="34" charset="0"/>
            </a:endParaRPr>
          </a:p>
        </p:txBody>
      </p:sp>
      <p:pic>
        <p:nvPicPr>
          <p:cNvPr id="8" name="Imagen 7">
            <a:extLst>
              <a:ext uri="{FF2B5EF4-FFF2-40B4-BE49-F238E27FC236}">
                <a16:creationId xmlns:a16="http://schemas.microsoft.com/office/drawing/2014/main" id="{F3361A5E-E415-779A-CCEF-931C719D28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585200" y="1676400"/>
            <a:ext cx="1905000" cy="1905000"/>
          </a:xfrm>
          <a:prstGeom prst="rect">
            <a:avLst/>
          </a:prstGeom>
        </p:spPr>
      </p:pic>
      <p:sp>
        <p:nvSpPr>
          <p:cNvPr id="9" name="CuadroTexto 8">
            <a:extLst>
              <a:ext uri="{FF2B5EF4-FFF2-40B4-BE49-F238E27FC236}">
                <a16:creationId xmlns:a16="http://schemas.microsoft.com/office/drawing/2014/main" id="{2A8E7ADE-8FAC-5757-C916-2AC238D45A06}"/>
              </a:ext>
            </a:extLst>
          </p:cNvPr>
          <p:cNvSpPr txBox="1"/>
          <p:nvPr/>
        </p:nvSpPr>
        <p:spPr>
          <a:xfrm>
            <a:off x="8001000" y="4191000"/>
            <a:ext cx="3175000" cy="276999"/>
          </a:xfrm>
          <a:prstGeom prst="rect">
            <a:avLst/>
          </a:prstGeom>
          <a:noFill/>
        </p:spPr>
        <p:txBody>
          <a:bodyPr vert="horz" wrap="square" lIns="0" tIns="0" rIns="0" bIns="0" rtlCol="0">
            <a:noAutofit/>
          </a:bodyPr>
          <a:lstStyle/>
          <a:p>
            <a:pPr algn="ctr"/>
            <a:r>
              <a:rPr lang="es-SV" sz="2000" b="1">
                <a:solidFill>
                  <a:srgbClr val="17365D"/>
                </a:solidFill>
                <a:latin typeface="Arial" panose="020B0604020202020204" pitchFamily="34" charset="0"/>
              </a:rPr>
              <a:t>1,293,816 solicitudes</a:t>
            </a:r>
          </a:p>
        </p:txBody>
      </p:sp>
      <p:sp>
        <p:nvSpPr>
          <p:cNvPr id="10" name="CuadroTexto 9">
            <a:extLst>
              <a:ext uri="{FF2B5EF4-FFF2-40B4-BE49-F238E27FC236}">
                <a16:creationId xmlns:a16="http://schemas.microsoft.com/office/drawing/2014/main" id="{1F2EE163-8F42-8952-5599-271930C0730B}"/>
              </a:ext>
            </a:extLst>
          </p:cNvPr>
          <p:cNvSpPr txBox="1"/>
          <p:nvPr/>
        </p:nvSpPr>
        <p:spPr>
          <a:xfrm>
            <a:off x="8001000" y="4953000"/>
            <a:ext cx="3175000" cy="276999"/>
          </a:xfrm>
          <a:prstGeom prst="rect">
            <a:avLst/>
          </a:prstGeom>
          <a:noFill/>
        </p:spPr>
        <p:txBody>
          <a:bodyPr vert="horz" wrap="square" lIns="0" tIns="0" rIns="0" bIns="0" rtlCol="0">
            <a:noAutofit/>
          </a:bodyPr>
          <a:lstStyle/>
          <a:p>
            <a:pPr algn="ctr"/>
            <a:r>
              <a:rPr lang="es-SV" sz="1300">
                <a:solidFill>
                  <a:srgbClr val="5C6770"/>
                </a:solidFill>
                <a:latin typeface="Arial" panose="020B0604020202020204" pitchFamily="34" charset="0"/>
              </a:rPr>
              <a:t>Presentación de defensa</a:t>
            </a:r>
          </a:p>
        </p:txBody>
      </p:sp>
    </p:spTree>
    <p:extLst>
      <p:ext uri="{BB962C8B-B14F-4D97-AF65-F5344CB8AC3E}">
        <p14:creationId xmlns:p14="http://schemas.microsoft.com/office/powerpoint/2010/main" val="3538085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B59D7B9-A7B0-9B35-2398-ECE08AA8A18F}"/>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Problema y preguntas de minería</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9853A2D4-B00B-17B4-6987-6D2D7861530A}"/>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91D49E89-0866-3173-A246-BB07087BBE1C}"/>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02</a:t>
            </a:r>
          </a:p>
        </p:txBody>
      </p:sp>
      <p:sp>
        <p:nvSpPr>
          <p:cNvPr id="5" name="CuadroTexto 4">
            <a:extLst>
              <a:ext uri="{FF2B5EF4-FFF2-40B4-BE49-F238E27FC236}">
                <a16:creationId xmlns:a16="http://schemas.microsoft.com/office/drawing/2014/main" id="{2249133A-1D2A-09A4-DA5F-2B9BFFC8AA83}"/>
              </a:ext>
            </a:extLst>
          </p:cNvPr>
          <p:cNvSpPr txBox="1"/>
          <p:nvPr/>
        </p:nvSpPr>
        <p:spPr>
          <a:xfrm>
            <a:off x="685800" y="1524000"/>
            <a:ext cx="2794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BASE ANALÍTICA</a:t>
            </a:r>
          </a:p>
        </p:txBody>
      </p:sp>
      <p:sp>
        <p:nvSpPr>
          <p:cNvPr id="6" name="CuadroTexto 5">
            <a:extLst>
              <a:ext uri="{FF2B5EF4-FFF2-40B4-BE49-F238E27FC236}">
                <a16:creationId xmlns:a16="http://schemas.microsoft.com/office/drawing/2014/main" id="{403B3476-620A-7680-6930-562FEF5C69B9}"/>
              </a:ext>
            </a:extLst>
          </p:cNvPr>
          <p:cNvSpPr txBox="1"/>
          <p:nvPr/>
        </p:nvSpPr>
        <p:spPr>
          <a:xfrm>
            <a:off x="685800" y="1905000"/>
            <a:ext cx="4191000" cy="276999"/>
          </a:xfrm>
          <a:prstGeom prst="rect">
            <a:avLst/>
          </a:prstGeom>
          <a:noFill/>
        </p:spPr>
        <p:txBody>
          <a:bodyPr vert="horz" wrap="square" lIns="0" tIns="0" rIns="0" bIns="0" rtlCol="0">
            <a:noAutofit/>
          </a:bodyPr>
          <a:lstStyle/>
          <a:p>
            <a:r>
              <a:rPr lang="es-SV" sz="4000" b="1">
                <a:solidFill>
                  <a:srgbClr val="17365D"/>
                </a:solidFill>
                <a:latin typeface="Arial" panose="020B0604020202020204" pitchFamily="34" charset="0"/>
              </a:rPr>
              <a:t>1,293,816</a:t>
            </a:r>
          </a:p>
        </p:txBody>
      </p:sp>
      <p:sp>
        <p:nvSpPr>
          <p:cNvPr id="7" name="CuadroTexto 6">
            <a:extLst>
              <a:ext uri="{FF2B5EF4-FFF2-40B4-BE49-F238E27FC236}">
                <a16:creationId xmlns:a16="http://schemas.microsoft.com/office/drawing/2014/main" id="{FF26E5E1-035B-E7F3-2024-8C12F689C7BC}"/>
              </a:ext>
            </a:extLst>
          </p:cNvPr>
          <p:cNvSpPr txBox="1"/>
          <p:nvPr/>
        </p:nvSpPr>
        <p:spPr>
          <a:xfrm>
            <a:off x="685800" y="2870200"/>
            <a:ext cx="4191000" cy="276999"/>
          </a:xfrm>
          <a:prstGeom prst="rect">
            <a:avLst/>
          </a:prstGeom>
          <a:noFill/>
        </p:spPr>
        <p:txBody>
          <a:bodyPr vert="horz" wrap="square" lIns="0" tIns="0" rIns="0" bIns="0" rtlCol="0">
            <a:noAutofit/>
          </a:bodyPr>
          <a:lstStyle/>
          <a:p>
            <a:r>
              <a:rPr lang="es-419">
                <a:solidFill>
                  <a:srgbClr val="5C6770"/>
                </a:solidFill>
                <a:latin typeface="Arial" panose="020B0604020202020204" pitchFamily="34" charset="0"/>
              </a:rPr>
              <a:t>solicitudes de NYC311 entre abril y julio de 2026</a:t>
            </a:r>
            <a:endParaRPr lang="es-SV">
              <a:solidFill>
                <a:srgbClr val="5C6770"/>
              </a:solidFill>
              <a:latin typeface="Arial" panose="020B0604020202020204" pitchFamily="34" charset="0"/>
            </a:endParaRPr>
          </a:p>
        </p:txBody>
      </p:sp>
      <p:sp>
        <p:nvSpPr>
          <p:cNvPr id="8" name="Rectángulo 7">
            <a:extLst>
              <a:ext uri="{FF2B5EF4-FFF2-40B4-BE49-F238E27FC236}">
                <a16:creationId xmlns:a16="http://schemas.microsoft.com/office/drawing/2014/main" id="{5370AAFB-D60B-A23B-A0B8-C609393E9F93}"/>
              </a:ext>
            </a:extLst>
          </p:cNvPr>
          <p:cNvSpPr/>
          <p:nvPr/>
        </p:nvSpPr>
        <p:spPr>
          <a:xfrm>
            <a:off x="5410200" y="1498600"/>
            <a:ext cx="38100" cy="4114800"/>
          </a:xfrm>
          <a:prstGeom prst="rect">
            <a:avLst/>
          </a:prstGeom>
          <a:solidFill>
            <a:srgbClr val="D9EAF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9" name="CuadroTexto 8">
            <a:extLst>
              <a:ext uri="{FF2B5EF4-FFF2-40B4-BE49-F238E27FC236}">
                <a16:creationId xmlns:a16="http://schemas.microsoft.com/office/drawing/2014/main" id="{F66F39C3-0646-893D-78B8-22E5E01EDC0F}"/>
              </a:ext>
            </a:extLst>
          </p:cNvPr>
          <p:cNvSpPr txBox="1"/>
          <p:nvPr/>
        </p:nvSpPr>
        <p:spPr>
          <a:xfrm>
            <a:off x="6019800" y="1600200"/>
            <a:ext cx="2159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PREGUNTA 1</a:t>
            </a:r>
          </a:p>
        </p:txBody>
      </p:sp>
      <p:sp>
        <p:nvSpPr>
          <p:cNvPr id="10" name="CuadroTexto 9">
            <a:extLst>
              <a:ext uri="{FF2B5EF4-FFF2-40B4-BE49-F238E27FC236}">
                <a16:creationId xmlns:a16="http://schemas.microsoft.com/office/drawing/2014/main" id="{CEAB8233-3E54-4D79-57A5-80DDD82172D7}"/>
              </a:ext>
            </a:extLst>
          </p:cNvPr>
          <p:cNvSpPr txBox="1"/>
          <p:nvPr/>
        </p:nvSpPr>
        <p:spPr>
          <a:xfrm>
            <a:off x="6019800" y="1955800"/>
            <a:ext cx="5207000" cy="276999"/>
          </a:xfrm>
          <a:prstGeom prst="rect">
            <a:avLst/>
          </a:prstGeom>
          <a:noFill/>
        </p:spPr>
        <p:txBody>
          <a:bodyPr vert="horz" wrap="square" lIns="0" tIns="0" rIns="0" bIns="0" rtlCol="0">
            <a:noAutofit/>
          </a:bodyPr>
          <a:lstStyle/>
          <a:p>
            <a:r>
              <a:rPr lang="es-419" sz="2300" b="1">
                <a:solidFill>
                  <a:srgbClr val="111111"/>
                </a:solidFill>
                <a:latin typeface="Arial" panose="020B0604020202020204" pitchFamily="34" charset="0"/>
              </a:rPr>
              <a:t>¿Qué solicitudes tienen mayor probabilidad de terminar con demora alta?</a:t>
            </a:r>
            <a:endParaRPr lang="es-SV" sz="2300" b="1">
              <a:solidFill>
                <a:srgbClr val="111111"/>
              </a:solidFill>
              <a:latin typeface="Arial" panose="020B0604020202020204" pitchFamily="34" charset="0"/>
            </a:endParaRPr>
          </a:p>
        </p:txBody>
      </p:sp>
      <p:sp>
        <p:nvSpPr>
          <p:cNvPr id="11" name="CuadroTexto 10">
            <a:extLst>
              <a:ext uri="{FF2B5EF4-FFF2-40B4-BE49-F238E27FC236}">
                <a16:creationId xmlns:a16="http://schemas.microsoft.com/office/drawing/2014/main" id="{95C96149-5D04-C46A-9124-2FC20C7A8EAC}"/>
              </a:ext>
            </a:extLst>
          </p:cNvPr>
          <p:cNvSpPr txBox="1"/>
          <p:nvPr/>
        </p:nvSpPr>
        <p:spPr>
          <a:xfrm>
            <a:off x="6019800" y="3022600"/>
            <a:ext cx="5207000" cy="276999"/>
          </a:xfrm>
          <a:prstGeom prst="rect">
            <a:avLst/>
          </a:prstGeom>
          <a:noFill/>
        </p:spPr>
        <p:txBody>
          <a:bodyPr vert="horz" wrap="square" lIns="0" tIns="0" rIns="0" bIns="0" rtlCol="0">
            <a:noAutofit/>
          </a:bodyPr>
          <a:lstStyle/>
          <a:p>
            <a:r>
              <a:rPr lang="es-419" sz="1500">
                <a:solidFill>
                  <a:srgbClr val="5C6770"/>
                </a:solidFill>
                <a:latin typeface="Arial" panose="020B0604020202020204" pitchFamily="34" charset="0"/>
              </a:rPr>
              <a:t>Clasificación supervisada con Árbol de Decisión</a:t>
            </a:r>
            <a:endParaRPr lang="es-SV" sz="1500">
              <a:solidFill>
                <a:srgbClr val="5C6770"/>
              </a:solidFill>
              <a:latin typeface="Arial" panose="020B0604020202020204" pitchFamily="34" charset="0"/>
            </a:endParaRPr>
          </a:p>
        </p:txBody>
      </p:sp>
      <p:sp>
        <p:nvSpPr>
          <p:cNvPr id="12" name="CuadroTexto 11">
            <a:extLst>
              <a:ext uri="{FF2B5EF4-FFF2-40B4-BE49-F238E27FC236}">
                <a16:creationId xmlns:a16="http://schemas.microsoft.com/office/drawing/2014/main" id="{75AB17FE-4034-2945-0B9E-08E23C64A82B}"/>
              </a:ext>
            </a:extLst>
          </p:cNvPr>
          <p:cNvSpPr txBox="1"/>
          <p:nvPr/>
        </p:nvSpPr>
        <p:spPr>
          <a:xfrm>
            <a:off x="6019800" y="4013200"/>
            <a:ext cx="2159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PREGUNTA 2</a:t>
            </a:r>
          </a:p>
        </p:txBody>
      </p:sp>
      <p:sp>
        <p:nvSpPr>
          <p:cNvPr id="13" name="CuadroTexto 12">
            <a:extLst>
              <a:ext uri="{FF2B5EF4-FFF2-40B4-BE49-F238E27FC236}">
                <a16:creationId xmlns:a16="http://schemas.microsoft.com/office/drawing/2014/main" id="{C7E0135A-EAD7-A87C-2593-5041260F3273}"/>
              </a:ext>
            </a:extLst>
          </p:cNvPr>
          <p:cNvSpPr txBox="1"/>
          <p:nvPr/>
        </p:nvSpPr>
        <p:spPr>
          <a:xfrm>
            <a:off x="6019800" y="4368800"/>
            <a:ext cx="5207000" cy="276999"/>
          </a:xfrm>
          <a:prstGeom prst="rect">
            <a:avLst/>
          </a:prstGeom>
          <a:noFill/>
        </p:spPr>
        <p:txBody>
          <a:bodyPr vert="horz" wrap="square" lIns="0" tIns="0" rIns="0" bIns="0" rtlCol="0">
            <a:noAutofit/>
          </a:bodyPr>
          <a:lstStyle/>
          <a:p>
            <a:r>
              <a:rPr lang="es-419" sz="2300" b="1">
                <a:solidFill>
                  <a:srgbClr val="111111"/>
                </a:solidFill>
                <a:latin typeface="Arial" panose="020B0604020202020204" pitchFamily="34" charset="0"/>
              </a:rPr>
              <a:t>¿Qué perfiles combinan volumen, demora y falta de resolución?</a:t>
            </a:r>
            <a:endParaRPr lang="es-SV" sz="2300" b="1">
              <a:solidFill>
                <a:srgbClr val="111111"/>
              </a:solidFill>
              <a:latin typeface="Arial" panose="020B0604020202020204" pitchFamily="34" charset="0"/>
            </a:endParaRPr>
          </a:p>
        </p:txBody>
      </p:sp>
      <p:sp>
        <p:nvSpPr>
          <p:cNvPr id="14" name="CuadroTexto 13">
            <a:extLst>
              <a:ext uri="{FF2B5EF4-FFF2-40B4-BE49-F238E27FC236}">
                <a16:creationId xmlns:a16="http://schemas.microsoft.com/office/drawing/2014/main" id="{61D87F16-88E5-DDFB-B32A-3BBA44E94F67}"/>
              </a:ext>
            </a:extLst>
          </p:cNvPr>
          <p:cNvSpPr txBox="1"/>
          <p:nvPr/>
        </p:nvSpPr>
        <p:spPr>
          <a:xfrm>
            <a:off x="6019800" y="5334000"/>
            <a:ext cx="5207000" cy="276999"/>
          </a:xfrm>
          <a:prstGeom prst="rect">
            <a:avLst/>
          </a:prstGeom>
          <a:noFill/>
        </p:spPr>
        <p:txBody>
          <a:bodyPr vert="horz" wrap="square" lIns="0" tIns="0" rIns="0" bIns="0" rtlCol="0">
            <a:noAutofit/>
          </a:bodyPr>
          <a:lstStyle/>
          <a:p>
            <a:r>
              <a:rPr lang="es-419" sz="1500">
                <a:solidFill>
                  <a:srgbClr val="5C6770"/>
                </a:solidFill>
                <a:latin typeface="Arial" panose="020B0604020202020204" pitchFamily="34" charset="0"/>
              </a:rPr>
              <a:t>Agrupación no supervisada con K-Means</a:t>
            </a:r>
            <a:endParaRPr lang="es-SV" sz="1500">
              <a:solidFill>
                <a:srgbClr val="5C6770"/>
              </a:solidFill>
              <a:latin typeface="Arial" panose="020B0604020202020204" pitchFamily="34" charset="0"/>
            </a:endParaRPr>
          </a:p>
        </p:txBody>
      </p:sp>
      <p:sp>
        <p:nvSpPr>
          <p:cNvPr id="15" name="CuadroTexto 14">
            <a:extLst>
              <a:ext uri="{FF2B5EF4-FFF2-40B4-BE49-F238E27FC236}">
                <a16:creationId xmlns:a16="http://schemas.microsoft.com/office/drawing/2014/main" id="{9587601B-260A-6438-722B-7049133E71C3}"/>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6" name="CuadroTexto 15">
            <a:extLst>
              <a:ext uri="{FF2B5EF4-FFF2-40B4-BE49-F238E27FC236}">
                <a16:creationId xmlns:a16="http://schemas.microsoft.com/office/drawing/2014/main" id="{953F1553-1676-DF4B-18AA-9F6F7D5DDAF7}"/>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3290522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51D3764-3535-60B4-A6A9-5D63E1B7E7B5}"/>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Trazabilidad desde la fuente hasta los modelos</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F0D24A03-83BC-7690-2942-6EB73DB8C057}"/>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50A48FE7-119E-2813-4300-10D281289B2A}"/>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03</a:t>
            </a:r>
          </a:p>
        </p:txBody>
      </p:sp>
      <p:sp>
        <p:nvSpPr>
          <p:cNvPr id="5" name="Rectángulo: esquinas redondeadas 4">
            <a:extLst>
              <a:ext uri="{FF2B5EF4-FFF2-40B4-BE49-F238E27FC236}">
                <a16:creationId xmlns:a16="http://schemas.microsoft.com/office/drawing/2014/main" id="{0105DB4D-4A87-C255-DEE0-0C836BEABF72}"/>
              </a:ext>
            </a:extLst>
          </p:cNvPr>
          <p:cNvSpPr/>
          <p:nvPr/>
        </p:nvSpPr>
        <p:spPr>
          <a:xfrm>
            <a:off x="508000" y="2209800"/>
            <a:ext cx="1231900" cy="1193800"/>
          </a:xfrm>
          <a:prstGeom prst="roundRect">
            <a:avLst/>
          </a:prstGeom>
          <a:solidFill>
            <a:srgbClr val="D9EAF7"/>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NYC Open Data</a:t>
            </a:r>
          </a:p>
          <a:p>
            <a:pPr algn="ctr"/>
            <a:r>
              <a:rPr lang="es-SV" sz="1100" b="1">
                <a:solidFill>
                  <a:srgbClr val="17365D"/>
                </a:solidFill>
                <a:latin typeface="Arial" panose="020B0604020202020204" pitchFamily="34" charset="0"/>
              </a:rPr>
              <a:t>erm2-nwe9</a:t>
            </a:r>
          </a:p>
        </p:txBody>
      </p:sp>
      <p:cxnSp>
        <p:nvCxnSpPr>
          <p:cNvPr id="6" name="Conector recto de flecha 5">
            <a:extLst>
              <a:ext uri="{FF2B5EF4-FFF2-40B4-BE49-F238E27FC236}">
                <a16:creationId xmlns:a16="http://schemas.microsoft.com/office/drawing/2014/main" id="{6CAA9769-6524-8FCB-A6BA-694B1F38F438}"/>
              </a:ext>
            </a:extLst>
          </p:cNvPr>
          <p:cNvCxnSpPr/>
          <p:nvPr/>
        </p:nvCxnSpPr>
        <p:spPr>
          <a:xfrm>
            <a:off x="17399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7" name="Rectángulo: esquinas redondeadas 6">
            <a:extLst>
              <a:ext uri="{FF2B5EF4-FFF2-40B4-BE49-F238E27FC236}">
                <a16:creationId xmlns:a16="http://schemas.microsoft.com/office/drawing/2014/main" id="{65355455-3FB6-A40C-6453-96F8AA78CF97}"/>
              </a:ext>
            </a:extLst>
          </p:cNvPr>
          <p:cNvSpPr/>
          <p:nvPr/>
        </p:nvSpPr>
        <p:spPr>
          <a:xfrm>
            <a:off x="1892300" y="2209800"/>
            <a:ext cx="1231900" cy="1193800"/>
          </a:xfrm>
          <a:prstGeom prst="roundRect">
            <a:avLst/>
          </a:prstGeom>
          <a:solidFill>
            <a:srgbClr val="EEF5FA"/>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ETL</a:t>
            </a:r>
          </a:p>
          <a:p>
            <a:pPr algn="ctr"/>
            <a:r>
              <a:rPr lang="es-SV" sz="1100" b="1">
                <a:solidFill>
                  <a:srgbClr val="17365D"/>
                </a:solidFill>
                <a:latin typeface="Arial" panose="020B0604020202020204" pitchFamily="34" charset="0"/>
              </a:rPr>
              <a:t>Fase 1</a:t>
            </a:r>
          </a:p>
        </p:txBody>
      </p:sp>
      <p:cxnSp>
        <p:nvCxnSpPr>
          <p:cNvPr id="8" name="Conector recto de flecha 7">
            <a:extLst>
              <a:ext uri="{FF2B5EF4-FFF2-40B4-BE49-F238E27FC236}">
                <a16:creationId xmlns:a16="http://schemas.microsoft.com/office/drawing/2014/main" id="{984C7DB8-DB1F-548B-84A3-78720A049D25}"/>
              </a:ext>
            </a:extLst>
          </p:cNvPr>
          <p:cNvCxnSpPr/>
          <p:nvPr/>
        </p:nvCxnSpPr>
        <p:spPr>
          <a:xfrm>
            <a:off x="31242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9" name="Rectángulo: esquinas redondeadas 8">
            <a:extLst>
              <a:ext uri="{FF2B5EF4-FFF2-40B4-BE49-F238E27FC236}">
                <a16:creationId xmlns:a16="http://schemas.microsoft.com/office/drawing/2014/main" id="{9584BF0E-FD1E-3C79-B313-57B050829A39}"/>
              </a:ext>
            </a:extLst>
          </p:cNvPr>
          <p:cNvSpPr/>
          <p:nvPr/>
        </p:nvSpPr>
        <p:spPr>
          <a:xfrm>
            <a:off x="3276600" y="2209800"/>
            <a:ext cx="1231900" cy="1193800"/>
          </a:xfrm>
          <a:prstGeom prst="roundRect">
            <a:avLst/>
          </a:prstGeom>
          <a:solidFill>
            <a:srgbClr val="EEF5FA"/>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raw.Solicitud</a:t>
            </a:r>
          </a:p>
        </p:txBody>
      </p:sp>
      <p:cxnSp>
        <p:nvCxnSpPr>
          <p:cNvPr id="10" name="Conector recto de flecha 9">
            <a:extLst>
              <a:ext uri="{FF2B5EF4-FFF2-40B4-BE49-F238E27FC236}">
                <a16:creationId xmlns:a16="http://schemas.microsoft.com/office/drawing/2014/main" id="{87E5C901-327F-2C27-1D26-A0D2FEA34FFE}"/>
              </a:ext>
            </a:extLst>
          </p:cNvPr>
          <p:cNvCxnSpPr/>
          <p:nvPr/>
        </p:nvCxnSpPr>
        <p:spPr>
          <a:xfrm>
            <a:off x="45085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11" name="Rectángulo: esquinas redondeadas 10">
            <a:extLst>
              <a:ext uri="{FF2B5EF4-FFF2-40B4-BE49-F238E27FC236}">
                <a16:creationId xmlns:a16="http://schemas.microsoft.com/office/drawing/2014/main" id="{29DE3BF8-F36C-A5D6-48A6-A0C9ACCF8DB6}"/>
              </a:ext>
            </a:extLst>
          </p:cNvPr>
          <p:cNvSpPr/>
          <p:nvPr/>
        </p:nvSpPr>
        <p:spPr>
          <a:xfrm>
            <a:off x="4660900" y="2209800"/>
            <a:ext cx="1231900" cy="1193800"/>
          </a:xfrm>
          <a:prstGeom prst="roundRect">
            <a:avLst/>
          </a:prstGeom>
          <a:solidFill>
            <a:srgbClr val="EEF5FA"/>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stg.Solicitud</a:t>
            </a:r>
          </a:p>
        </p:txBody>
      </p:sp>
      <p:cxnSp>
        <p:nvCxnSpPr>
          <p:cNvPr id="12" name="Conector recto de flecha 11">
            <a:extLst>
              <a:ext uri="{FF2B5EF4-FFF2-40B4-BE49-F238E27FC236}">
                <a16:creationId xmlns:a16="http://schemas.microsoft.com/office/drawing/2014/main" id="{E6FBFE06-D0FA-4FC1-6361-9320D7DC91C1}"/>
              </a:ext>
            </a:extLst>
          </p:cNvPr>
          <p:cNvCxnSpPr/>
          <p:nvPr/>
        </p:nvCxnSpPr>
        <p:spPr>
          <a:xfrm>
            <a:off x="58928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13" name="Rectángulo: esquinas redondeadas 12">
            <a:extLst>
              <a:ext uri="{FF2B5EF4-FFF2-40B4-BE49-F238E27FC236}">
                <a16:creationId xmlns:a16="http://schemas.microsoft.com/office/drawing/2014/main" id="{2D3AA6A9-302F-6117-3FEF-815D0A28763E}"/>
              </a:ext>
            </a:extLst>
          </p:cNvPr>
          <p:cNvSpPr/>
          <p:nvPr/>
        </p:nvSpPr>
        <p:spPr>
          <a:xfrm>
            <a:off x="6045200" y="2209800"/>
            <a:ext cx="1231900" cy="1193800"/>
          </a:xfrm>
          <a:prstGeom prst="roundRect">
            <a:avLst/>
          </a:prstGeom>
          <a:solidFill>
            <a:srgbClr val="D9EAF7"/>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419" sz="1100" b="1">
                <a:solidFill>
                  <a:srgbClr val="17365D"/>
                </a:solidFill>
                <a:latin typeface="Arial" panose="020B0604020202020204" pitchFamily="34" charset="0"/>
              </a:rPr>
              <a:t>DW_NYC311</a:t>
            </a:r>
          </a:p>
          <a:p>
            <a:pPr algn="ctr"/>
            <a:r>
              <a:rPr lang="es-419" sz="1100" b="1">
                <a:solidFill>
                  <a:srgbClr val="17365D"/>
                </a:solidFill>
                <a:latin typeface="Arial" panose="020B0604020202020204" pitchFamily="34" charset="0"/>
              </a:rPr>
              <a:t>Hecho y dimensiones</a:t>
            </a:r>
            <a:endParaRPr lang="es-SV" sz="1100" b="1">
              <a:solidFill>
                <a:srgbClr val="17365D"/>
              </a:solidFill>
              <a:latin typeface="Arial" panose="020B0604020202020204" pitchFamily="34" charset="0"/>
            </a:endParaRPr>
          </a:p>
        </p:txBody>
      </p:sp>
      <p:cxnSp>
        <p:nvCxnSpPr>
          <p:cNvPr id="14" name="Conector recto de flecha 13">
            <a:extLst>
              <a:ext uri="{FF2B5EF4-FFF2-40B4-BE49-F238E27FC236}">
                <a16:creationId xmlns:a16="http://schemas.microsoft.com/office/drawing/2014/main" id="{B7167864-1832-0C40-0CF8-9D25C2098DA8}"/>
              </a:ext>
            </a:extLst>
          </p:cNvPr>
          <p:cNvCxnSpPr/>
          <p:nvPr/>
        </p:nvCxnSpPr>
        <p:spPr>
          <a:xfrm>
            <a:off x="72771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15" name="Rectángulo: esquinas redondeadas 14">
            <a:extLst>
              <a:ext uri="{FF2B5EF4-FFF2-40B4-BE49-F238E27FC236}">
                <a16:creationId xmlns:a16="http://schemas.microsoft.com/office/drawing/2014/main" id="{472F2064-9DA4-6DA4-0873-801178E67663}"/>
              </a:ext>
            </a:extLst>
          </p:cNvPr>
          <p:cNvSpPr/>
          <p:nvPr/>
        </p:nvSpPr>
        <p:spPr>
          <a:xfrm>
            <a:off x="7429500" y="2209800"/>
            <a:ext cx="1231900" cy="1193800"/>
          </a:xfrm>
          <a:prstGeom prst="roundRect">
            <a:avLst/>
          </a:prstGeom>
          <a:solidFill>
            <a:srgbClr val="EEF5FA"/>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mining.vw_dataset_fase2</a:t>
            </a:r>
          </a:p>
        </p:txBody>
      </p:sp>
      <p:cxnSp>
        <p:nvCxnSpPr>
          <p:cNvPr id="16" name="Conector recto de flecha 15">
            <a:extLst>
              <a:ext uri="{FF2B5EF4-FFF2-40B4-BE49-F238E27FC236}">
                <a16:creationId xmlns:a16="http://schemas.microsoft.com/office/drawing/2014/main" id="{22CFA40D-DE54-298E-B202-60B727FE28AA}"/>
              </a:ext>
            </a:extLst>
          </p:cNvPr>
          <p:cNvCxnSpPr/>
          <p:nvPr/>
        </p:nvCxnSpPr>
        <p:spPr>
          <a:xfrm>
            <a:off x="86614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17" name="Rectángulo: esquinas redondeadas 16">
            <a:extLst>
              <a:ext uri="{FF2B5EF4-FFF2-40B4-BE49-F238E27FC236}">
                <a16:creationId xmlns:a16="http://schemas.microsoft.com/office/drawing/2014/main" id="{0DFE4839-5646-590F-26B1-BEB6D36BA585}"/>
              </a:ext>
            </a:extLst>
          </p:cNvPr>
          <p:cNvSpPr/>
          <p:nvPr/>
        </p:nvSpPr>
        <p:spPr>
          <a:xfrm>
            <a:off x="8813800" y="2209800"/>
            <a:ext cx="1231900" cy="1193800"/>
          </a:xfrm>
          <a:prstGeom prst="roundRect">
            <a:avLst/>
          </a:prstGeom>
          <a:solidFill>
            <a:srgbClr val="EEF5FA"/>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resultados.csv</a:t>
            </a:r>
          </a:p>
          <a:p>
            <a:pPr algn="ctr"/>
            <a:r>
              <a:rPr lang="es-SV" sz="1100" b="1">
                <a:solidFill>
                  <a:srgbClr val="17365D"/>
                </a:solidFill>
                <a:latin typeface="Arial" panose="020B0604020202020204" pitchFamily="34" charset="0"/>
              </a:rPr>
              <a:t>1,293,816 x 13</a:t>
            </a:r>
          </a:p>
        </p:txBody>
      </p:sp>
      <p:cxnSp>
        <p:nvCxnSpPr>
          <p:cNvPr id="18" name="Conector recto de flecha 17">
            <a:extLst>
              <a:ext uri="{FF2B5EF4-FFF2-40B4-BE49-F238E27FC236}">
                <a16:creationId xmlns:a16="http://schemas.microsoft.com/office/drawing/2014/main" id="{1A6662BE-F8AB-7C28-50A8-18C71E8ED54C}"/>
              </a:ext>
            </a:extLst>
          </p:cNvPr>
          <p:cNvCxnSpPr/>
          <p:nvPr/>
        </p:nvCxnSpPr>
        <p:spPr>
          <a:xfrm>
            <a:off x="10045700" y="2806700"/>
            <a:ext cx="1143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19" name="Rectángulo: esquinas redondeadas 18">
            <a:extLst>
              <a:ext uri="{FF2B5EF4-FFF2-40B4-BE49-F238E27FC236}">
                <a16:creationId xmlns:a16="http://schemas.microsoft.com/office/drawing/2014/main" id="{837D55A3-D34E-7BB2-B7E1-D8CE558DE211}"/>
              </a:ext>
            </a:extLst>
          </p:cNvPr>
          <p:cNvSpPr/>
          <p:nvPr/>
        </p:nvSpPr>
        <p:spPr>
          <a:xfrm>
            <a:off x="10198100" y="2209800"/>
            <a:ext cx="1231900" cy="1193800"/>
          </a:xfrm>
          <a:prstGeom prst="roundRect">
            <a:avLst/>
          </a:prstGeom>
          <a:solidFill>
            <a:srgbClr val="D9EAF7"/>
          </a:solidFill>
          <a:ln w="12700">
            <a:solidFill>
              <a:srgbClr val="D9EAF7"/>
            </a:solidFill>
          </a:ln>
        </p:spPr>
        <p:style>
          <a:lnRef idx="2">
            <a:schemeClr val="accent1">
              <a:shade val="15000"/>
            </a:schemeClr>
          </a:lnRef>
          <a:fillRef idx="1">
            <a:schemeClr val="accent1"/>
          </a:fillRef>
          <a:effectRef idx="0">
            <a:schemeClr val="accent1"/>
          </a:effectRef>
          <a:fontRef idx="minor">
            <a:schemeClr val="lt1"/>
          </a:fontRef>
        </p:style>
        <p:txBody>
          <a:bodyPr lIns="63500" tIns="63500" rIns="63500" bIns="63500" rtlCol="0" anchor="ctr"/>
          <a:lstStyle/>
          <a:p>
            <a:pPr algn="ctr"/>
            <a:r>
              <a:rPr lang="es-SV" sz="1100" b="1">
                <a:solidFill>
                  <a:srgbClr val="17365D"/>
                </a:solidFill>
                <a:latin typeface="Arial" panose="020B0604020202020204" pitchFamily="34" charset="0"/>
              </a:rPr>
              <a:t>Python y KDD</a:t>
            </a:r>
          </a:p>
          <a:p>
            <a:pPr algn="ctr"/>
            <a:r>
              <a:rPr lang="es-SV" sz="1100" b="1">
                <a:solidFill>
                  <a:srgbClr val="17365D"/>
                </a:solidFill>
                <a:latin typeface="Arial" panose="020B0604020202020204" pitchFamily="34" charset="0"/>
              </a:rPr>
              <a:t>Árbol + K-Means</a:t>
            </a:r>
          </a:p>
        </p:txBody>
      </p:sp>
      <p:sp>
        <p:nvSpPr>
          <p:cNvPr id="20" name="CuadroTexto 19">
            <a:extLst>
              <a:ext uri="{FF2B5EF4-FFF2-40B4-BE49-F238E27FC236}">
                <a16:creationId xmlns:a16="http://schemas.microsoft.com/office/drawing/2014/main" id="{032DE05D-803A-7666-19C5-2AE74EC51CF0}"/>
              </a:ext>
            </a:extLst>
          </p:cNvPr>
          <p:cNvSpPr txBox="1"/>
          <p:nvPr/>
        </p:nvSpPr>
        <p:spPr>
          <a:xfrm>
            <a:off x="1714500" y="3987800"/>
            <a:ext cx="8763000" cy="276999"/>
          </a:xfrm>
          <a:prstGeom prst="rect">
            <a:avLst/>
          </a:prstGeom>
          <a:noFill/>
        </p:spPr>
        <p:txBody>
          <a:bodyPr vert="horz" wrap="square" lIns="0" tIns="0" rIns="0" bIns="0" rtlCol="0">
            <a:noAutofit/>
          </a:bodyPr>
          <a:lstStyle/>
          <a:p>
            <a:pPr algn="ctr"/>
            <a:r>
              <a:rPr lang="es-419" sz="2100" b="1">
                <a:solidFill>
                  <a:srgbClr val="17365D"/>
                </a:solidFill>
                <a:latin typeface="Arial" panose="020B0604020202020204" pitchFamily="34" charset="0"/>
              </a:rPr>
              <a:t>La Fase 2 usa el Data Warehouse consolidado. No vuelve a RAW como fuente directa de minería.</a:t>
            </a:r>
            <a:endParaRPr lang="es-SV" sz="2100" b="1">
              <a:solidFill>
                <a:srgbClr val="17365D"/>
              </a:solidFill>
              <a:latin typeface="Arial" panose="020B0604020202020204" pitchFamily="34" charset="0"/>
            </a:endParaRPr>
          </a:p>
        </p:txBody>
      </p:sp>
      <p:sp>
        <p:nvSpPr>
          <p:cNvPr id="21" name="CuadroTexto 20">
            <a:extLst>
              <a:ext uri="{FF2B5EF4-FFF2-40B4-BE49-F238E27FC236}">
                <a16:creationId xmlns:a16="http://schemas.microsoft.com/office/drawing/2014/main" id="{E24D251C-2B41-BFDF-5A2E-F077D0CA6C06}"/>
              </a:ext>
            </a:extLst>
          </p:cNvPr>
          <p:cNvSpPr txBox="1"/>
          <p:nvPr/>
        </p:nvSpPr>
        <p:spPr>
          <a:xfrm>
            <a:off x="2286000" y="4851400"/>
            <a:ext cx="7620000" cy="276999"/>
          </a:xfrm>
          <a:prstGeom prst="rect">
            <a:avLst/>
          </a:prstGeom>
          <a:noFill/>
        </p:spPr>
        <p:txBody>
          <a:bodyPr vert="horz" wrap="square" lIns="0" tIns="0" rIns="0" bIns="0" rtlCol="0">
            <a:noAutofit/>
          </a:bodyPr>
          <a:lstStyle/>
          <a:p>
            <a:pPr algn="ctr"/>
            <a:r>
              <a:rPr lang="es-419" sz="1700">
                <a:solidFill>
                  <a:srgbClr val="111111"/>
                </a:solidFill>
                <a:latin typeface="Arial" panose="020B0604020202020204" pitchFamily="34" charset="0"/>
              </a:rPr>
              <a:t>La vista conserva una fila por solicitud y conecta cada resultado con su origen.</a:t>
            </a:r>
            <a:endParaRPr lang="es-SV" sz="1700">
              <a:solidFill>
                <a:srgbClr val="111111"/>
              </a:solidFill>
              <a:latin typeface="Arial" panose="020B0604020202020204" pitchFamily="34" charset="0"/>
            </a:endParaRPr>
          </a:p>
        </p:txBody>
      </p:sp>
      <p:sp>
        <p:nvSpPr>
          <p:cNvPr id="22" name="CuadroTexto 21">
            <a:extLst>
              <a:ext uri="{FF2B5EF4-FFF2-40B4-BE49-F238E27FC236}">
                <a16:creationId xmlns:a16="http://schemas.microsoft.com/office/drawing/2014/main" id="{3867F260-5A3F-39B9-2E88-E18E8FC5ABE8}"/>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23" name="CuadroTexto 22">
            <a:extLst>
              <a:ext uri="{FF2B5EF4-FFF2-40B4-BE49-F238E27FC236}">
                <a16:creationId xmlns:a16="http://schemas.microsoft.com/office/drawing/2014/main" id="{DDDD7CCA-7B61-08EB-4149-6F9FF771638E}"/>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SV" sz="800">
                <a:solidFill>
                  <a:srgbClr val="5C6770"/>
                </a:solidFill>
                <a:latin typeface="Arial" panose="020B0604020202020204" pitchFamily="34" charset="0"/>
              </a:rPr>
              <a:t>Fuente externa: NYC Open Data, dataset erm2-nwe9</a:t>
            </a:r>
          </a:p>
        </p:txBody>
      </p:sp>
    </p:spTree>
    <p:extLst>
      <p:ext uri="{BB962C8B-B14F-4D97-AF65-F5344CB8AC3E}">
        <p14:creationId xmlns:p14="http://schemas.microsoft.com/office/powerpoint/2010/main" val="1897679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438DD4A-EC19-FF1C-84AB-4C60937E5F93}"/>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Vista analítica y origen de las 13 variables</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2E93E337-4C2C-574B-DDFF-165E163DD857}"/>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3ED84935-25FF-F785-D29E-950B019BA3E9}"/>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04</a:t>
            </a:r>
          </a:p>
        </p:txBody>
      </p:sp>
      <p:graphicFrame>
        <p:nvGraphicFramePr>
          <p:cNvPr id="5" name="Tabla 4">
            <a:extLst>
              <a:ext uri="{FF2B5EF4-FFF2-40B4-BE49-F238E27FC236}">
                <a16:creationId xmlns:a16="http://schemas.microsoft.com/office/drawing/2014/main" id="{74FA8CCD-4212-AD78-C720-35ECAF320586}"/>
              </a:ext>
            </a:extLst>
          </p:cNvPr>
          <p:cNvGraphicFramePr>
            <a:graphicFrameLocks noGrp="1"/>
          </p:cNvGraphicFramePr>
          <p:nvPr>
            <p:extLst>
              <p:ext uri="{D42A27DB-BD31-4B8C-83A1-F6EECF244321}">
                <p14:modId xmlns:p14="http://schemas.microsoft.com/office/powerpoint/2010/main" val="923840332"/>
              </p:ext>
            </p:extLst>
          </p:nvPr>
        </p:nvGraphicFramePr>
        <p:xfrm>
          <a:off x="609600" y="1473200"/>
          <a:ext cx="6350000" cy="41656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4287001388"/>
                    </a:ext>
                  </a:extLst>
                </a:gridCol>
                <a:gridCol w="3175000">
                  <a:extLst>
                    <a:ext uri="{9D8B030D-6E8A-4147-A177-3AD203B41FA5}">
                      <a16:colId xmlns:a16="http://schemas.microsoft.com/office/drawing/2014/main" val="1911338435"/>
                    </a:ext>
                  </a:extLst>
                </a:gridCol>
              </a:tblGrid>
              <a:tr h="462844">
                <a:tc>
                  <a:txBody>
                    <a:bodyPr/>
                    <a:lstStyle/>
                    <a:p>
                      <a:pPr algn="ctr"/>
                      <a:r>
                        <a:rPr lang="es-SV" sz="1250" b="1">
                          <a:solidFill>
                            <a:srgbClr val="FFFFFF"/>
                          </a:solidFill>
                          <a:latin typeface="Arial" panose="020B0604020202020204" pitchFamily="34" charset="0"/>
                        </a:rPr>
                        <a:t>Variables</a:t>
                      </a:r>
                    </a:p>
                  </a:txBody>
                  <a:tcPr marL="76200" marR="76200" marT="38100" marB="38100">
                    <a:solidFill>
                      <a:srgbClr val="17365D"/>
                    </a:solidFill>
                  </a:tcPr>
                </a:tc>
                <a:tc>
                  <a:txBody>
                    <a:bodyPr/>
                    <a:lstStyle/>
                    <a:p>
                      <a:pPr algn="ctr"/>
                      <a:r>
                        <a:rPr lang="es-SV" sz="1250" b="1">
                          <a:solidFill>
                            <a:srgbClr val="FFFFFF"/>
                          </a:solidFill>
                          <a:latin typeface="Arial" panose="020B0604020202020204" pitchFamily="34" charset="0"/>
                        </a:rPr>
                        <a:t>Procedencia</a:t>
                      </a:r>
                    </a:p>
                  </a:txBody>
                  <a:tcPr marL="76200" marR="76200" marT="38100" marB="38100">
                    <a:solidFill>
                      <a:srgbClr val="17365D"/>
                    </a:solidFill>
                  </a:tcPr>
                </a:tc>
                <a:extLst>
                  <a:ext uri="{0D108BD9-81ED-4DB2-BD59-A6C34878D82A}">
                    <a16:rowId xmlns:a16="http://schemas.microsoft.com/office/drawing/2014/main" val="1019322506"/>
                  </a:ext>
                </a:extLst>
              </a:tr>
              <a:tr h="462844">
                <a:tc>
                  <a:txBody>
                    <a:bodyPr/>
                    <a:lstStyle/>
                    <a:p>
                      <a:pPr algn="l"/>
                      <a:r>
                        <a:rPr lang="es-SV" sz="1250" b="1">
                          <a:solidFill>
                            <a:srgbClr val="111111"/>
                          </a:solidFill>
                          <a:latin typeface="Arial" panose="020B0604020202020204" pitchFamily="34" charset="0"/>
                        </a:rPr>
                        <a:t>codigo, minutos, latitud, longitud</a:t>
                      </a:r>
                    </a:p>
                  </a:txBody>
                  <a:tcPr marL="76200" marR="76200" marT="38100" marB="38100">
                    <a:solidFill>
                      <a:srgbClr val="FFFFFF"/>
                    </a:solidFill>
                  </a:tcPr>
                </a:tc>
                <a:tc>
                  <a:txBody>
                    <a:bodyPr/>
                    <a:lstStyle/>
                    <a:p>
                      <a:pPr algn="l"/>
                      <a:r>
                        <a:rPr lang="es-SV" sz="1250" b="0">
                          <a:solidFill>
                            <a:srgbClr val="111111"/>
                          </a:solidFill>
                          <a:latin typeface="Arial" panose="020B0604020202020204" pitchFamily="34" charset="0"/>
                        </a:rPr>
                        <a:t>dw.FactSolicitud</a:t>
                      </a:r>
                    </a:p>
                  </a:txBody>
                  <a:tcPr marL="76200" marR="76200" marT="38100" marB="38100">
                    <a:solidFill>
                      <a:srgbClr val="FFFFFF"/>
                    </a:solidFill>
                  </a:tcPr>
                </a:tc>
                <a:extLst>
                  <a:ext uri="{0D108BD9-81ED-4DB2-BD59-A6C34878D82A}">
                    <a16:rowId xmlns:a16="http://schemas.microsoft.com/office/drawing/2014/main" val="3922893148"/>
                  </a:ext>
                </a:extLst>
              </a:tr>
              <a:tr h="462844">
                <a:tc>
                  <a:txBody>
                    <a:bodyPr/>
                    <a:lstStyle/>
                    <a:p>
                      <a:pPr algn="l"/>
                      <a:r>
                        <a:rPr lang="es-SV" sz="1250" b="1">
                          <a:solidFill>
                            <a:srgbClr val="111111"/>
                          </a:solidFill>
                          <a:latin typeface="Arial" panose="020B0604020202020204" pitchFamily="34" charset="0"/>
                        </a:rPr>
                        <a:t>agency</a:t>
                      </a:r>
                    </a:p>
                  </a:txBody>
                  <a:tcPr marL="76200" marR="76200" marT="38100" marB="38100">
                    <a:solidFill>
                      <a:srgbClr val="F2F4F6"/>
                    </a:solidFill>
                  </a:tcPr>
                </a:tc>
                <a:tc>
                  <a:txBody>
                    <a:bodyPr/>
                    <a:lstStyle/>
                    <a:p>
                      <a:pPr algn="l"/>
                      <a:r>
                        <a:rPr lang="es-SV" sz="1250" b="0">
                          <a:solidFill>
                            <a:srgbClr val="111111"/>
                          </a:solidFill>
                          <a:latin typeface="Arial" panose="020B0604020202020204" pitchFamily="34" charset="0"/>
                        </a:rPr>
                        <a:t>dw.DimAgencia</a:t>
                      </a:r>
                    </a:p>
                  </a:txBody>
                  <a:tcPr marL="76200" marR="76200" marT="38100" marB="38100">
                    <a:solidFill>
                      <a:srgbClr val="F2F4F6"/>
                    </a:solidFill>
                  </a:tcPr>
                </a:tc>
                <a:extLst>
                  <a:ext uri="{0D108BD9-81ED-4DB2-BD59-A6C34878D82A}">
                    <a16:rowId xmlns:a16="http://schemas.microsoft.com/office/drawing/2014/main" val="3299084022"/>
                  </a:ext>
                </a:extLst>
              </a:tr>
              <a:tr h="462844">
                <a:tc>
                  <a:txBody>
                    <a:bodyPr/>
                    <a:lstStyle/>
                    <a:p>
                      <a:pPr algn="l"/>
                      <a:r>
                        <a:rPr lang="es-SV" sz="1250" b="1">
                          <a:solidFill>
                            <a:srgbClr val="111111"/>
                          </a:solidFill>
                          <a:latin typeface="Arial" panose="020B0604020202020204" pitchFamily="34" charset="0"/>
                        </a:rPr>
                        <a:t>complaint_type</a:t>
                      </a:r>
                    </a:p>
                  </a:txBody>
                  <a:tcPr marL="76200" marR="76200" marT="38100" marB="38100">
                    <a:solidFill>
                      <a:srgbClr val="FFFFFF"/>
                    </a:solidFill>
                  </a:tcPr>
                </a:tc>
                <a:tc>
                  <a:txBody>
                    <a:bodyPr/>
                    <a:lstStyle/>
                    <a:p>
                      <a:pPr algn="l"/>
                      <a:r>
                        <a:rPr lang="es-SV" sz="1250" b="0">
                          <a:solidFill>
                            <a:srgbClr val="111111"/>
                          </a:solidFill>
                          <a:latin typeface="Arial" panose="020B0604020202020204" pitchFamily="34" charset="0"/>
                        </a:rPr>
                        <a:t>dw.DimProblema</a:t>
                      </a:r>
                    </a:p>
                  </a:txBody>
                  <a:tcPr marL="76200" marR="76200" marT="38100" marB="38100">
                    <a:solidFill>
                      <a:srgbClr val="FFFFFF"/>
                    </a:solidFill>
                  </a:tcPr>
                </a:tc>
                <a:extLst>
                  <a:ext uri="{0D108BD9-81ED-4DB2-BD59-A6C34878D82A}">
                    <a16:rowId xmlns:a16="http://schemas.microsoft.com/office/drawing/2014/main" val="128554301"/>
                  </a:ext>
                </a:extLst>
              </a:tr>
              <a:tr h="462844">
                <a:tc>
                  <a:txBody>
                    <a:bodyPr/>
                    <a:lstStyle/>
                    <a:p>
                      <a:pPr algn="l"/>
                      <a:r>
                        <a:rPr lang="es-SV" sz="1250" b="1">
                          <a:solidFill>
                            <a:srgbClr val="111111"/>
                          </a:solidFill>
                          <a:latin typeface="Arial" panose="020B0604020202020204" pitchFamily="34" charset="0"/>
                        </a:rPr>
                        <a:t>borough</a:t>
                      </a:r>
                    </a:p>
                  </a:txBody>
                  <a:tcPr marL="76200" marR="76200" marT="38100" marB="38100">
                    <a:solidFill>
                      <a:srgbClr val="F2F4F6"/>
                    </a:solidFill>
                  </a:tcPr>
                </a:tc>
                <a:tc>
                  <a:txBody>
                    <a:bodyPr/>
                    <a:lstStyle/>
                    <a:p>
                      <a:pPr algn="l"/>
                      <a:r>
                        <a:rPr lang="es-SV" sz="1250" b="0">
                          <a:solidFill>
                            <a:srgbClr val="111111"/>
                          </a:solidFill>
                          <a:latin typeface="Arial" panose="020B0604020202020204" pitchFamily="34" charset="0"/>
                        </a:rPr>
                        <a:t>dw.DimGeografia</a:t>
                      </a:r>
                    </a:p>
                  </a:txBody>
                  <a:tcPr marL="76200" marR="76200" marT="38100" marB="38100">
                    <a:solidFill>
                      <a:srgbClr val="F2F4F6"/>
                    </a:solidFill>
                  </a:tcPr>
                </a:tc>
                <a:extLst>
                  <a:ext uri="{0D108BD9-81ED-4DB2-BD59-A6C34878D82A}">
                    <a16:rowId xmlns:a16="http://schemas.microsoft.com/office/drawing/2014/main" val="466101211"/>
                  </a:ext>
                </a:extLst>
              </a:tr>
              <a:tr h="462844">
                <a:tc>
                  <a:txBody>
                    <a:bodyPr/>
                    <a:lstStyle/>
                    <a:p>
                      <a:pPr algn="l"/>
                      <a:r>
                        <a:rPr lang="es-SV" sz="1250" b="1">
                          <a:solidFill>
                            <a:srgbClr val="111111"/>
                          </a:solidFill>
                          <a:latin typeface="Arial" panose="020B0604020202020204" pitchFamily="34" charset="0"/>
                        </a:rPr>
                        <a:t>status</a:t>
                      </a:r>
                    </a:p>
                  </a:txBody>
                  <a:tcPr marL="76200" marR="76200" marT="38100" marB="38100">
                    <a:solidFill>
                      <a:srgbClr val="FFFFFF"/>
                    </a:solidFill>
                  </a:tcPr>
                </a:tc>
                <a:tc>
                  <a:txBody>
                    <a:bodyPr/>
                    <a:lstStyle/>
                    <a:p>
                      <a:pPr algn="l"/>
                      <a:r>
                        <a:rPr lang="es-SV" sz="1250" b="0">
                          <a:solidFill>
                            <a:srgbClr val="111111"/>
                          </a:solidFill>
                          <a:latin typeface="Arial" panose="020B0604020202020204" pitchFamily="34" charset="0"/>
                        </a:rPr>
                        <a:t>dw.DimEstado</a:t>
                      </a:r>
                    </a:p>
                  </a:txBody>
                  <a:tcPr marL="76200" marR="76200" marT="38100" marB="38100">
                    <a:solidFill>
                      <a:srgbClr val="FFFFFF"/>
                    </a:solidFill>
                  </a:tcPr>
                </a:tc>
                <a:extLst>
                  <a:ext uri="{0D108BD9-81ED-4DB2-BD59-A6C34878D82A}">
                    <a16:rowId xmlns:a16="http://schemas.microsoft.com/office/drawing/2014/main" val="1781496025"/>
                  </a:ext>
                </a:extLst>
              </a:tr>
              <a:tr h="462844">
                <a:tc>
                  <a:txBody>
                    <a:bodyPr/>
                    <a:lstStyle/>
                    <a:p>
                      <a:pPr algn="l"/>
                      <a:r>
                        <a:rPr lang="es-SV" sz="1250" b="1">
                          <a:solidFill>
                            <a:srgbClr val="111111"/>
                          </a:solidFill>
                          <a:latin typeface="Arial" panose="020B0604020202020204" pitchFamily="34" charset="0"/>
                        </a:rPr>
                        <a:t>open_data_channel_type</a:t>
                      </a:r>
                    </a:p>
                  </a:txBody>
                  <a:tcPr marL="76200" marR="76200" marT="38100" marB="38100">
                    <a:solidFill>
                      <a:srgbClr val="F2F4F6"/>
                    </a:solidFill>
                  </a:tcPr>
                </a:tc>
                <a:tc>
                  <a:txBody>
                    <a:bodyPr/>
                    <a:lstStyle/>
                    <a:p>
                      <a:pPr algn="l"/>
                      <a:r>
                        <a:rPr lang="es-SV" sz="1250" b="0">
                          <a:solidFill>
                            <a:srgbClr val="111111"/>
                          </a:solidFill>
                          <a:latin typeface="Arial" panose="020B0604020202020204" pitchFamily="34" charset="0"/>
                        </a:rPr>
                        <a:t>dw.DimCanal</a:t>
                      </a:r>
                    </a:p>
                  </a:txBody>
                  <a:tcPr marL="76200" marR="76200" marT="38100" marB="38100">
                    <a:solidFill>
                      <a:srgbClr val="F2F4F6"/>
                    </a:solidFill>
                  </a:tcPr>
                </a:tc>
                <a:extLst>
                  <a:ext uri="{0D108BD9-81ED-4DB2-BD59-A6C34878D82A}">
                    <a16:rowId xmlns:a16="http://schemas.microsoft.com/office/drawing/2014/main" val="614445127"/>
                  </a:ext>
                </a:extLst>
              </a:tr>
              <a:tr h="462844">
                <a:tc>
                  <a:txBody>
                    <a:bodyPr/>
                    <a:lstStyle/>
                    <a:p>
                      <a:pPr algn="l"/>
                      <a:r>
                        <a:rPr lang="es-419" sz="1250" b="1">
                          <a:solidFill>
                            <a:srgbClr val="111111"/>
                          </a:solidFill>
                          <a:latin typeface="Arial" panose="020B0604020202020204" pitchFamily="34" charset="0"/>
                        </a:rPr>
                        <a:t>año, mes, día de semana</a:t>
                      </a:r>
                      <a:endParaRPr lang="es-SV" sz="1250" b="1">
                        <a:solidFill>
                          <a:srgbClr val="111111"/>
                        </a:solidFill>
                        <a:latin typeface="Arial" panose="020B0604020202020204" pitchFamily="34" charset="0"/>
                      </a:endParaRPr>
                    </a:p>
                  </a:txBody>
                  <a:tcPr marL="76200" marR="76200" marT="38100" marB="38100">
                    <a:solidFill>
                      <a:srgbClr val="FFFFFF"/>
                    </a:solidFill>
                  </a:tcPr>
                </a:tc>
                <a:tc>
                  <a:txBody>
                    <a:bodyPr/>
                    <a:lstStyle/>
                    <a:p>
                      <a:pPr algn="l"/>
                      <a:r>
                        <a:rPr lang="es-SV" sz="1250" b="0">
                          <a:solidFill>
                            <a:srgbClr val="111111"/>
                          </a:solidFill>
                          <a:latin typeface="Arial" panose="020B0604020202020204" pitchFamily="34" charset="0"/>
                        </a:rPr>
                        <a:t>dw.DimFecha</a:t>
                      </a:r>
                    </a:p>
                  </a:txBody>
                  <a:tcPr marL="76200" marR="76200" marT="38100" marB="38100">
                    <a:solidFill>
                      <a:srgbClr val="FFFFFF"/>
                    </a:solidFill>
                  </a:tcPr>
                </a:tc>
                <a:extLst>
                  <a:ext uri="{0D108BD9-81ED-4DB2-BD59-A6C34878D82A}">
                    <a16:rowId xmlns:a16="http://schemas.microsoft.com/office/drawing/2014/main" val="39660062"/>
                  </a:ext>
                </a:extLst>
              </a:tr>
              <a:tr h="462844">
                <a:tc>
                  <a:txBody>
                    <a:bodyPr/>
                    <a:lstStyle/>
                    <a:p>
                      <a:pPr algn="l"/>
                      <a:r>
                        <a:rPr lang="es-SV" sz="1250" b="1">
                          <a:solidFill>
                            <a:srgbClr val="111111"/>
                          </a:solidFill>
                          <a:latin typeface="Arial" panose="020B0604020202020204" pitchFamily="34" charset="0"/>
                        </a:rPr>
                        <a:t>demora_alta</a:t>
                      </a:r>
                    </a:p>
                  </a:txBody>
                  <a:tcPr marL="76200" marR="76200" marT="38100" marB="38100">
                    <a:solidFill>
                      <a:srgbClr val="F2F4F6"/>
                    </a:solidFill>
                  </a:tcPr>
                </a:tc>
                <a:tc>
                  <a:txBody>
                    <a:bodyPr/>
                    <a:lstStyle/>
                    <a:p>
                      <a:pPr algn="l"/>
                      <a:r>
                        <a:rPr lang="es-SV" sz="1250" b="0">
                          <a:solidFill>
                            <a:srgbClr val="111111"/>
                          </a:solidFill>
                          <a:latin typeface="Arial" panose="020B0604020202020204" pitchFamily="34" charset="0"/>
                        </a:rPr>
                        <a:t>CASE calculado con P75</a:t>
                      </a:r>
                    </a:p>
                  </a:txBody>
                  <a:tcPr marL="76200" marR="76200" marT="38100" marB="38100">
                    <a:solidFill>
                      <a:srgbClr val="F2F4F6"/>
                    </a:solidFill>
                  </a:tcPr>
                </a:tc>
                <a:extLst>
                  <a:ext uri="{0D108BD9-81ED-4DB2-BD59-A6C34878D82A}">
                    <a16:rowId xmlns:a16="http://schemas.microsoft.com/office/drawing/2014/main" val="1748137679"/>
                  </a:ext>
                </a:extLst>
              </a:tr>
            </a:tbl>
          </a:graphicData>
        </a:graphic>
      </p:graphicFrame>
      <p:sp>
        <p:nvSpPr>
          <p:cNvPr id="6" name="CuadroTexto 5">
            <a:extLst>
              <a:ext uri="{FF2B5EF4-FFF2-40B4-BE49-F238E27FC236}">
                <a16:creationId xmlns:a16="http://schemas.microsoft.com/office/drawing/2014/main" id="{17F62FF4-0C7F-FD2B-E9D4-C5896DE14EC2}"/>
              </a:ext>
            </a:extLst>
          </p:cNvPr>
          <p:cNvSpPr txBox="1"/>
          <p:nvPr/>
        </p:nvSpPr>
        <p:spPr>
          <a:xfrm>
            <a:off x="7493000" y="1498600"/>
            <a:ext cx="3556000" cy="276999"/>
          </a:xfrm>
          <a:prstGeom prst="rect">
            <a:avLst/>
          </a:prstGeom>
          <a:noFill/>
        </p:spPr>
        <p:txBody>
          <a:bodyPr vert="horz" wrap="square" lIns="0" tIns="0" rIns="0" bIns="0" rtlCol="0">
            <a:noAutofit/>
          </a:bodyPr>
          <a:lstStyle/>
          <a:p>
            <a:r>
              <a:rPr lang="es-419" sz="1100" b="1">
                <a:solidFill>
                  <a:srgbClr val="2F6F9F"/>
                </a:solidFill>
                <a:latin typeface="Arial" panose="020B0604020202020204" pitchFamily="34" charset="0"/>
              </a:rPr>
              <a:t>SQL REAL DE LA VISTA</a:t>
            </a:r>
            <a:endParaRPr lang="es-SV" sz="1100" b="1">
              <a:solidFill>
                <a:srgbClr val="2F6F9F"/>
              </a:solidFill>
              <a:latin typeface="Arial" panose="020B0604020202020204" pitchFamily="34" charset="0"/>
            </a:endParaRPr>
          </a:p>
        </p:txBody>
      </p:sp>
      <p:sp>
        <p:nvSpPr>
          <p:cNvPr id="7" name="CuadroTexto 6">
            <a:extLst>
              <a:ext uri="{FF2B5EF4-FFF2-40B4-BE49-F238E27FC236}">
                <a16:creationId xmlns:a16="http://schemas.microsoft.com/office/drawing/2014/main" id="{BAB65BA7-DDAA-4A94-013D-35279986942B}"/>
              </a:ext>
            </a:extLst>
          </p:cNvPr>
          <p:cNvSpPr txBox="1"/>
          <p:nvPr/>
        </p:nvSpPr>
        <p:spPr>
          <a:xfrm>
            <a:off x="7493000" y="1905000"/>
            <a:ext cx="3937000" cy="276999"/>
          </a:xfrm>
          <a:prstGeom prst="rect">
            <a:avLst/>
          </a:prstGeom>
          <a:noFill/>
        </p:spPr>
        <p:txBody>
          <a:bodyPr vert="horz" wrap="square" lIns="0" tIns="0" rIns="0" bIns="0" rtlCol="0">
            <a:noAutofit/>
          </a:bodyPr>
          <a:lstStyle/>
          <a:p>
            <a:r>
              <a:rPr lang="es-SV" sz="1400">
                <a:solidFill>
                  <a:srgbClr val="111111"/>
                </a:solidFill>
                <a:latin typeface="Consolas" panose="020B0609020204030204" pitchFamily="49" charset="0"/>
              </a:rPr>
              <a:t>PERCENTILE_CONT(0.75)</a:t>
            </a:r>
          </a:p>
          <a:p>
            <a:r>
              <a:rPr lang="es-SV" sz="1400">
                <a:solidFill>
                  <a:srgbClr val="111111"/>
                </a:solidFill>
                <a:latin typeface="Consolas" panose="020B0609020204030204" pitchFamily="49" charset="0"/>
              </a:rPr>
              <a:t>WITHIN GROUP (</a:t>
            </a:r>
          </a:p>
          <a:p>
            <a:r>
              <a:rPr lang="es-SV" sz="1400">
                <a:solidFill>
                  <a:srgbClr val="111111"/>
                </a:solidFill>
                <a:latin typeface="Consolas" panose="020B0609020204030204" pitchFamily="49" charset="0"/>
              </a:rPr>
              <a:t>  ORDER BY minutos_resolucion</a:t>
            </a:r>
          </a:p>
          <a:p>
            <a:r>
              <a:rPr lang="es-SV" sz="1400">
                <a:solidFill>
                  <a:srgbClr val="111111"/>
                </a:solidFill>
                <a:latin typeface="Consolas" panose="020B0609020204030204" pitchFamily="49" charset="0"/>
              </a:rPr>
              <a:t>)</a:t>
            </a:r>
          </a:p>
          <a:p>
            <a:endParaRPr lang="es-SV" sz="1400">
              <a:solidFill>
                <a:srgbClr val="111111"/>
              </a:solidFill>
              <a:latin typeface="Consolas" panose="020B0609020204030204" pitchFamily="49" charset="0"/>
            </a:endParaRPr>
          </a:p>
          <a:p>
            <a:r>
              <a:rPr lang="es-SV" sz="1400">
                <a:solidFill>
                  <a:srgbClr val="111111"/>
                </a:solidFill>
                <a:latin typeface="Consolas" panose="020B0609020204030204" pitchFamily="49" charset="0"/>
              </a:rPr>
              <a:t>FactSolicitud</a:t>
            </a:r>
          </a:p>
          <a:p>
            <a:r>
              <a:rPr lang="es-SV" sz="1400">
                <a:solidFill>
                  <a:srgbClr val="111111"/>
                </a:solidFill>
                <a:latin typeface="Consolas" panose="020B0609020204030204" pitchFamily="49" charset="0"/>
              </a:rPr>
              <a:t>  JOIN DimFecha</a:t>
            </a:r>
          </a:p>
          <a:p>
            <a:r>
              <a:rPr lang="es-SV" sz="1400">
                <a:solidFill>
                  <a:srgbClr val="111111"/>
                </a:solidFill>
                <a:latin typeface="Consolas" panose="020B0609020204030204" pitchFamily="49" charset="0"/>
              </a:rPr>
              <a:t>  JOIN DimAgencia</a:t>
            </a:r>
          </a:p>
          <a:p>
            <a:r>
              <a:rPr lang="es-SV" sz="1400">
                <a:solidFill>
                  <a:srgbClr val="111111"/>
                </a:solidFill>
                <a:latin typeface="Consolas" panose="020B0609020204030204" pitchFamily="49" charset="0"/>
              </a:rPr>
              <a:t>  JOIN DimProblema</a:t>
            </a:r>
          </a:p>
          <a:p>
            <a:r>
              <a:rPr lang="es-SV" sz="1400">
                <a:solidFill>
                  <a:srgbClr val="111111"/>
                </a:solidFill>
                <a:latin typeface="Consolas" panose="020B0609020204030204" pitchFamily="49" charset="0"/>
              </a:rPr>
              <a:t>  LEFT JOIN DimGeografia</a:t>
            </a:r>
          </a:p>
          <a:p>
            <a:r>
              <a:rPr lang="es-SV" sz="1400">
                <a:solidFill>
                  <a:srgbClr val="111111"/>
                </a:solidFill>
                <a:latin typeface="Consolas" panose="020B0609020204030204" pitchFamily="49" charset="0"/>
              </a:rPr>
              <a:t>  JOIN DimEstado</a:t>
            </a:r>
          </a:p>
          <a:p>
            <a:r>
              <a:rPr lang="es-SV" sz="1400">
                <a:solidFill>
                  <a:srgbClr val="111111"/>
                </a:solidFill>
                <a:latin typeface="Consolas" panose="020B0609020204030204" pitchFamily="49" charset="0"/>
              </a:rPr>
              <a:t>  LEFT JOIN DimCanal</a:t>
            </a:r>
          </a:p>
        </p:txBody>
      </p:sp>
      <p:sp>
        <p:nvSpPr>
          <p:cNvPr id="8" name="CuadroTexto 7">
            <a:extLst>
              <a:ext uri="{FF2B5EF4-FFF2-40B4-BE49-F238E27FC236}">
                <a16:creationId xmlns:a16="http://schemas.microsoft.com/office/drawing/2014/main" id="{722A4C04-7011-3E8E-0FD3-040C6E078CF5}"/>
              </a:ext>
            </a:extLst>
          </p:cNvPr>
          <p:cNvSpPr txBox="1"/>
          <p:nvPr/>
        </p:nvSpPr>
        <p:spPr>
          <a:xfrm>
            <a:off x="7493000" y="5207000"/>
            <a:ext cx="3810000" cy="276999"/>
          </a:xfrm>
          <a:prstGeom prst="rect">
            <a:avLst/>
          </a:prstGeom>
          <a:noFill/>
        </p:spPr>
        <p:txBody>
          <a:bodyPr vert="horz" wrap="square" lIns="0" tIns="0" rIns="0" bIns="0" rtlCol="0">
            <a:noAutofit/>
          </a:bodyPr>
          <a:lstStyle/>
          <a:p>
            <a:r>
              <a:rPr lang="es-SV" sz="1600" b="1">
                <a:solidFill>
                  <a:srgbClr val="17365D"/>
                </a:solidFill>
                <a:latin typeface="Arial" panose="020B0604020202020204" pitchFamily="34" charset="0"/>
              </a:rPr>
              <a:t>Resultado verificado</a:t>
            </a:r>
          </a:p>
          <a:p>
            <a:r>
              <a:rPr lang="es-SV" sz="1600" b="1">
                <a:solidFill>
                  <a:srgbClr val="17365D"/>
                </a:solidFill>
                <a:latin typeface="Arial" panose="020B0604020202020204" pitchFamily="34" charset="0"/>
              </a:rPr>
              <a:t>1,293,816 solicitudes x 13 variables</a:t>
            </a:r>
          </a:p>
        </p:txBody>
      </p:sp>
      <p:sp>
        <p:nvSpPr>
          <p:cNvPr id="9" name="CuadroTexto 8">
            <a:extLst>
              <a:ext uri="{FF2B5EF4-FFF2-40B4-BE49-F238E27FC236}">
                <a16:creationId xmlns:a16="http://schemas.microsoft.com/office/drawing/2014/main" id="{070A0B25-168D-5A73-3CF4-42D37E83435C}"/>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0" name="CuadroTexto 9">
            <a:extLst>
              <a:ext uri="{FF2B5EF4-FFF2-40B4-BE49-F238E27FC236}">
                <a16:creationId xmlns:a16="http://schemas.microsoft.com/office/drawing/2014/main" id="{5FBCC0D7-BDD2-F4FF-DCF9-2DE1625999C8}"/>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Fuente interna: DW_NYC311 y mining.vw_dataset_fase2</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2677939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E27CBEC-3C0B-34C0-76F7-C51FE87EC29A}"/>
              </a:ext>
            </a:extLst>
          </p:cNvPr>
          <p:cNvSpPr txBox="1"/>
          <p:nvPr/>
        </p:nvSpPr>
        <p:spPr>
          <a:xfrm>
            <a:off x="685800" y="355600"/>
            <a:ext cx="10668000" cy="276999"/>
          </a:xfrm>
          <a:prstGeom prst="rect">
            <a:avLst/>
          </a:prstGeom>
          <a:noFill/>
        </p:spPr>
        <p:txBody>
          <a:bodyPr vert="horz" wrap="square" lIns="0" tIns="0" rIns="0" bIns="0" rtlCol="0">
            <a:noAutofit/>
          </a:bodyPr>
          <a:lstStyle/>
          <a:p>
            <a:r>
              <a:rPr lang="es-SV" sz="2600" b="1">
                <a:solidFill>
                  <a:srgbClr val="17365D"/>
                </a:solidFill>
                <a:latin typeface="Arial" panose="020B0604020202020204" pitchFamily="34" charset="0"/>
              </a:rPr>
              <a:t>Evidencia del preprocesamiento KDD</a:t>
            </a:r>
          </a:p>
        </p:txBody>
      </p:sp>
      <p:sp>
        <p:nvSpPr>
          <p:cNvPr id="3" name="Rectángulo 2">
            <a:extLst>
              <a:ext uri="{FF2B5EF4-FFF2-40B4-BE49-F238E27FC236}">
                <a16:creationId xmlns:a16="http://schemas.microsoft.com/office/drawing/2014/main" id="{A79D977B-5D6F-B057-CBF0-C6D97C36D0CD}"/>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74C48327-86E5-CF59-0DE9-9493A2A1B7C9}"/>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05</a:t>
            </a:r>
          </a:p>
        </p:txBody>
      </p:sp>
      <p:graphicFrame>
        <p:nvGraphicFramePr>
          <p:cNvPr id="5" name="Tabla 4">
            <a:extLst>
              <a:ext uri="{FF2B5EF4-FFF2-40B4-BE49-F238E27FC236}">
                <a16:creationId xmlns:a16="http://schemas.microsoft.com/office/drawing/2014/main" id="{F21BC217-3DEF-0551-1383-A35AF57BC4B5}"/>
              </a:ext>
            </a:extLst>
          </p:cNvPr>
          <p:cNvGraphicFramePr>
            <a:graphicFrameLocks noGrp="1"/>
          </p:cNvGraphicFramePr>
          <p:nvPr>
            <p:extLst>
              <p:ext uri="{D42A27DB-BD31-4B8C-83A1-F6EECF244321}">
                <p14:modId xmlns:p14="http://schemas.microsoft.com/office/powerpoint/2010/main" val="2292483151"/>
              </p:ext>
            </p:extLst>
          </p:nvPr>
        </p:nvGraphicFramePr>
        <p:xfrm>
          <a:off x="660400" y="1498600"/>
          <a:ext cx="10871200" cy="4241800"/>
        </p:xfrm>
        <a:graphic>
          <a:graphicData uri="http://schemas.openxmlformats.org/drawingml/2006/table">
            <a:tbl>
              <a:tblPr firstRow="1" bandRow="1">
                <a:tableStyleId>{5C22544A-7EE6-4342-B048-85BDC9FD1C3A}</a:tableStyleId>
              </a:tblPr>
              <a:tblGrid>
                <a:gridCol w="3623733">
                  <a:extLst>
                    <a:ext uri="{9D8B030D-6E8A-4147-A177-3AD203B41FA5}">
                      <a16:colId xmlns:a16="http://schemas.microsoft.com/office/drawing/2014/main" val="2800640414"/>
                    </a:ext>
                  </a:extLst>
                </a:gridCol>
                <a:gridCol w="3623733">
                  <a:extLst>
                    <a:ext uri="{9D8B030D-6E8A-4147-A177-3AD203B41FA5}">
                      <a16:colId xmlns:a16="http://schemas.microsoft.com/office/drawing/2014/main" val="3684168007"/>
                    </a:ext>
                  </a:extLst>
                </a:gridCol>
                <a:gridCol w="3623733">
                  <a:extLst>
                    <a:ext uri="{9D8B030D-6E8A-4147-A177-3AD203B41FA5}">
                      <a16:colId xmlns:a16="http://schemas.microsoft.com/office/drawing/2014/main" val="3642571148"/>
                    </a:ext>
                  </a:extLst>
                </a:gridCol>
              </a:tblGrid>
              <a:tr h="530225">
                <a:tc>
                  <a:txBody>
                    <a:bodyPr/>
                    <a:lstStyle/>
                    <a:p>
                      <a:pPr algn="ctr"/>
                      <a:r>
                        <a:rPr lang="es-SV" sz="1350" b="1">
                          <a:solidFill>
                            <a:srgbClr val="FFFFFF"/>
                          </a:solidFill>
                          <a:latin typeface="Arial" panose="020B0604020202020204" pitchFamily="34" charset="0"/>
                        </a:rPr>
                        <a:t>Requisito</a:t>
                      </a:r>
                    </a:p>
                  </a:txBody>
                  <a:tcPr marL="76200" marR="76200" marT="38100" marB="38100">
                    <a:solidFill>
                      <a:srgbClr val="17365D"/>
                    </a:solidFill>
                  </a:tcPr>
                </a:tc>
                <a:tc>
                  <a:txBody>
                    <a:bodyPr/>
                    <a:lstStyle/>
                    <a:p>
                      <a:pPr algn="ctr"/>
                      <a:r>
                        <a:rPr lang="es-SV" sz="1350" b="1">
                          <a:solidFill>
                            <a:srgbClr val="FFFFFF"/>
                          </a:solidFill>
                          <a:latin typeface="Arial" panose="020B0604020202020204" pitchFamily="34" charset="0"/>
                        </a:rPr>
                        <a:t>Qué se hizo</a:t>
                      </a:r>
                    </a:p>
                  </a:txBody>
                  <a:tcPr marL="76200" marR="76200" marT="38100" marB="38100">
                    <a:solidFill>
                      <a:srgbClr val="17365D"/>
                    </a:solidFill>
                  </a:tcPr>
                </a:tc>
                <a:tc>
                  <a:txBody>
                    <a:bodyPr/>
                    <a:lstStyle/>
                    <a:p>
                      <a:pPr algn="ctr"/>
                      <a:r>
                        <a:rPr lang="es-SV" sz="1350" b="1">
                          <a:solidFill>
                            <a:srgbClr val="FFFFFF"/>
                          </a:solidFill>
                          <a:latin typeface="Arial" panose="020B0604020202020204" pitchFamily="34" charset="0"/>
                        </a:rPr>
                        <a:t>Razón</a:t>
                      </a:r>
                    </a:p>
                  </a:txBody>
                  <a:tcPr marL="76200" marR="76200" marT="38100" marB="38100">
                    <a:solidFill>
                      <a:srgbClr val="17365D"/>
                    </a:solidFill>
                  </a:tcPr>
                </a:tc>
                <a:extLst>
                  <a:ext uri="{0D108BD9-81ED-4DB2-BD59-A6C34878D82A}">
                    <a16:rowId xmlns:a16="http://schemas.microsoft.com/office/drawing/2014/main" val="3984461163"/>
                  </a:ext>
                </a:extLst>
              </a:tr>
              <a:tr h="530225">
                <a:tc>
                  <a:txBody>
                    <a:bodyPr/>
                    <a:lstStyle/>
                    <a:p>
                      <a:pPr algn="l"/>
                      <a:r>
                        <a:rPr lang="es-SV" sz="1350" b="1">
                          <a:solidFill>
                            <a:srgbClr val="111111"/>
                          </a:solidFill>
                          <a:latin typeface="Arial" panose="020B0604020202020204" pitchFamily="34" charset="0"/>
                        </a:rPr>
                        <a:t>Selección</a:t>
                      </a:r>
                    </a:p>
                  </a:txBody>
                  <a:tcPr marL="76200" marR="76200" marT="38100" marB="38100">
                    <a:solidFill>
                      <a:srgbClr val="FFFFFF"/>
                    </a:solidFill>
                  </a:tcPr>
                </a:tc>
                <a:tc>
                  <a:txBody>
                    <a:bodyPr/>
                    <a:lstStyle/>
                    <a:p>
                      <a:pPr algn="l"/>
                      <a:r>
                        <a:rPr lang="es-419" sz="1350" b="0">
                          <a:solidFill>
                            <a:srgbClr val="111111"/>
                          </a:solidFill>
                          <a:latin typeface="Arial" panose="020B0604020202020204" pitchFamily="34" charset="0"/>
                        </a:rPr>
                        <a:t>Vista del hecho y dimensiones</a:t>
                      </a:r>
                      <a:endParaRPr lang="es-SV" sz="1350" b="0">
                        <a:solidFill>
                          <a:srgbClr val="111111"/>
                        </a:solidFill>
                        <a:latin typeface="Arial" panose="020B0604020202020204" pitchFamily="34" charset="0"/>
                      </a:endParaRPr>
                    </a:p>
                  </a:txBody>
                  <a:tcPr marL="76200" marR="76200" marT="38100" marB="38100">
                    <a:solidFill>
                      <a:srgbClr val="FFFFFF"/>
                    </a:solidFill>
                  </a:tcPr>
                </a:tc>
                <a:tc>
                  <a:txBody>
                    <a:bodyPr/>
                    <a:lstStyle/>
                    <a:p>
                      <a:pPr algn="l"/>
                      <a:r>
                        <a:rPr lang="es-SV" sz="1350" b="0">
                          <a:solidFill>
                            <a:srgbClr val="111111"/>
                          </a:solidFill>
                          <a:latin typeface="Arial" panose="020B0604020202020204" pitchFamily="34" charset="0"/>
                        </a:rPr>
                        <a:t>Conservar 13 variables relevantes</a:t>
                      </a:r>
                    </a:p>
                  </a:txBody>
                  <a:tcPr marL="76200" marR="76200" marT="38100" marB="38100">
                    <a:solidFill>
                      <a:srgbClr val="FFFFFF"/>
                    </a:solidFill>
                  </a:tcPr>
                </a:tc>
                <a:extLst>
                  <a:ext uri="{0D108BD9-81ED-4DB2-BD59-A6C34878D82A}">
                    <a16:rowId xmlns:a16="http://schemas.microsoft.com/office/drawing/2014/main" val="650995539"/>
                  </a:ext>
                </a:extLst>
              </a:tr>
              <a:tr h="530225">
                <a:tc>
                  <a:txBody>
                    <a:bodyPr/>
                    <a:lstStyle/>
                    <a:p>
                      <a:pPr algn="l"/>
                      <a:r>
                        <a:rPr lang="es-SV" sz="1350" b="1">
                          <a:solidFill>
                            <a:srgbClr val="111111"/>
                          </a:solidFill>
                          <a:latin typeface="Arial" panose="020B0604020202020204" pitchFamily="34" charset="0"/>
                        </a:rPr>
                        <a:t>Nulos</a:t>
                      </a:r>
                    </a:p>
                  </a:txBody>
                  <a:tcPr marL="76200" marR="76200" marT="38100" marB="38100">
                    <a:solidFill>
                      <a:srgbClr val="F2F4F6"/>
                    </a:solidFill>
                  </a:tcPr>
                </a:tc>
                <a:tc>
                  <a:txBody>
                    <a:bodyPr/>
                    <a:lstStyle/>
                    <a:p>
                      <a:pPr algn="l"/>
                      <a:r>
                        <a:rPr lang="es-SV" sz="1350" b="0">
                          <a:solidFill>
                            <a:srgbClr val="111111"/>
                          </a:solidFill>
                          <a:latin typeface="Arial" panose="020B0604020202020204" pitchFamily="34" charset="0"/>
                        </a:rPr>
                        <a:t>63,079 tiempos sin imputar</a:t>
                      </a:r>
                    </a:p>
                  </a:txBody>
                  <a:tcPr marL="76200" marR="76200" marT="38100" marB="38100">
                    <a:solidFill>
                      <a:srgbClr val="F2F4F6"/>
                    </a:solidFill>
                  </a:tcPr>
                </a:tc>
                <a:tc>
                  <a:txBody>
                    <a:bodyPr/>
                    <a:lstStyle/>
                    <a:p>
                      <a:pPr algn="l"/>
                      <a:r>
                        <a:rPr lang="es-SV" sz="1350" b="0">
                          <a:solidFill>
                            <a:srgbClr val="111111"/>
                          </a:solidFill>
                          <a:latin typeface="Arial" panose="020B0604020202020204" pitchFamily="34" charset="0"/>
                        </a:rPr>
                        <a:t>No existe cierre observado</a:t>
                      </a:r>
                    </a:p>
                  </a:txBody>
                  <a:tcPr marL="76200" marR="76200" marT="38100" marB="38100">
                    <a:solidFill>
                      <a:srgbClr val="F2F4F6"/>
                    </a:solidFill>
                  </a:tcPr>
                </a:tc>
                <a:extLst>
                  <a:ext uri="{0D108BD9-81ED-4DB2-BD59-A6C34878D82A}">
                    <a16:rowId xmlns:a16="http://schemas.microsoft.com/office/drawing/2014/main" val="1572140166"/>
                  </a:ext>
                </a:extLst>
              </a:tr>
              <a:tr h="530225">
                <a:tc>
                  <a:txBody>
                    <a:bodyPr/>
                    <a:lstStyle/>
                    <a:p>
                      <a:pPr algn="l"/>
                      <a:r>
                        <a:rPr lang="es-SV" sz="1350" b="1">
                          <a:solidFill>
                            <a:srgbClr val="111111"/>
                          </a:solidFill>
                          <a:latin typeface="Arial" panose="020B0604020202020204" pitchFamily="34" charset="0"/>
                        </a:rPr>
                        <a:t>Discretización</a:t>
                      </a:r>
                    </a:p>
                  </a:txBody>
                  <a:tcPr marL="76200" marR="76200" marT="38100" marB="38100">
                    <a:solidFill>
                      <a:srgbClr val="FFFFFF"/>
                    </a:solidFill>
                  </a:tcPr>
                </a:tc>
                <a:tc>
                  <a:txBody>
                    <a:bodyPr/>
                    <a:lstStyle/>
                    <a:p>
                      <a:pPr algn="l"/>
                      <a:r>
                        <a:rPr lang="es-SV" sz="1350" b="0">
                          <a:solidFill>
                            <a:srgbClr val="111111"/>
                          </a:solidFill>
                          <a:latin typeface="Arial" panose="020B0604020202020204" pitchFamily="34" charset="0"/>
                        </a:rPr>
                        <a:t>P75 = 4,329 crea demora_alta</a:t>
                      </a:r>
                    </a:p>
                  </a:txBody>
                  <a:tcPr marL="76200" marR="76200" marT="38100" marB="38100">
                    <a:solidFill>
                      <a:srgbClr val="FFFFFF"/>
                    </a:solidFill>
                  </a:tcPr>
                </a:tc>
                <a:tc>
                  <a:txBody>
                    <a:bodyPr/>
                    <a:lstStyle/>
                    <a:p>
                      <a:pPr algn="l"/>
                      <a:r>
                        <a:rPr lang="es-419" sz="1350" b="0">
                          <a:solidFill>
                            <a:srgbClr val="111111"/>
                          </a:solidFill>
                          <a:latin typeface="Arial" panose="020B0604020202020204" pitchFamily="34" charset="0"/>
                        </a:rPr>
                        <a:t>Separar el 25% de tiempos mayores</a:t>
                      </a:r>
                      <a:endParaRPr lang="es-SV" sz="1350" b="0">
                        <a:solidFill>
                          <a:srgbClr val="111111"/>
                        </a:solidFill>
                        <a:latin typeface="Arial" panose="020B0604020202020204" pitchFamily="34" charset="0"/>
                      </a:endParaRPr>
                    </a:p>
                  </a:txBody>
                  <a:tcPr marL="76200" marR="76200" marT="38100" marB="38100">
                    <a:solidFill>
                      <a:srgbClr val="FFFFFF"/>
                    </a:solidFill>
                  </a:tcPr>
                </a:tc>
                <a:extLst>
                  <a:ext uri="{0D108BD9-81ED-4DB2-BD59-A6C34878D82A}">
                    <a16:rowId xmlns:a16="http://schemas.microsoft.com/office/drawing/2014/main" val="524229510"/>
                  </a:ext>
                </a:extLst>
              </a:tr>
              <a:tr h="530225">
                <a:tc>
                  <a:txBody>
                    <a:bodyPr/>
                    <a:lstStyle/>
                    <a:p>
                      <a:pPr algn="l"/>
                      <a:r>
                        <a:rPr lang="es-SV" sz="1350" b="1">
                          <a:solidFill>
                            <a:srgbClr val="111111"/>
                          </a:solidFill>
                          <a:latin typeface="Arial" panose="020B0604020202020204" pitchFamily="34" charset="0"/>
                        </a:rPr>
                        <a:t>Codificación</a:t>
                      </a:r>
                    </a:p>
                  </a:txBody>
                  <a:tcPr marL="76200" marR="76200" marT="38100" marB="38100">
                    <a:solidFill>
                      <a:srgbClr val="F2F4F6"/>
                    </a:solidFill>
                  </a:tcPr>
                </a:tc>
                <a:tc>
                  <a:txBody>
                    <a:bodyPr/>
                    <a:lstStyle/>
                    <a:p>
                      <a:pPr algn="l"/>
                      <a:r>
                        <a:rPr lang="es-SV" sz="1350" b="0">
                          <a:solidFill>
                            <a:srgbClr val="111111"/>
                          </a:solidFill>
                          <a:latin typeface="Arial" panose="020B0604020202020204" pitchFamily="34" charset="0"/>
                        </a:rPr>
                        <a:t>OneHotEncoder</a:t>
                      </a:r>
                    </a:p>
                  </a:txBody>
                  <a:tcPr marL="76200" marR="76200" marT="38100" marB="38100">
                    <a:solidFill>
                      <a:srgbClr val="F2F4F6"/>
                    </a:solidFill>
                  </a:tcPr>
                </a:tc>
                <a:tc>
                  <a:txBody>
                    <a:bodyPr/>
                    <a:lstStyle/>
                    <a:p>
                      <a:pPr algn="l"/>
                      <a:r>
                        <a:rPr lang="es-SV" sz="1350" b="0">
                          <a:solidFill>
                            <a:srgbClr val="111111"/>
                          </a:solidFill>
                          <a:latin typeface="Arial" panose="020B0604020202020204" pitchFamily="34" charset="0"/>
                        </a:rPr>
                        <a:t>Categorías sin orden artificial</a:t>
                      </a:r>
                    </a:p>
                  </a:txBody>
                  <a:tcPr marL="76200" marR="76200" marT="38100" marB="38100">
                    <a:solidFill>
                      <a:srgbClr val="F2F4F6"/>
                    </a:solidFill>
                  </a:tcPr>
                </a:tc>
                <a:extLst>
                  <a:ext uri="{0D108BD9-81ED-4DB2-BD59-A6C34878D82A}">
                    <a16:rowId xmlns:a16="http://schemas.microsoft.com/office/drawing/2014/main" val="4099227695"/>
                  </a:ext>
                </a:extLst>
              </a:tr>
              <a:tr h="530225">
                <a:tc>
                  <a:txBody>
                    <a:bodyPr/>
                    <a:lstStyle/>
                    <a:p>
                      <a:pPr algn="l"/>
                      <a:r>
                        <a:rPr lang="es-SV" sz="1350" b="1">
                          <a:solidFill>
                            <a:srgbClr val="111111"/>
                          </a:solidFill>
                          <a:latin typeface="Arial" panose="020B0604020202020204" pitchFamily="34" charset="0"/>
                        </a:rPr>
                        <a:t>Transformación</a:t>
                      </a:r>
                    </a:p>
                  </a:txBody>
                  <a:tcPr marL="76200" marR="76200" marT="38100" marB="38100">
                    <a:solidFill>
                      <a:srgbClr val="FFFFFF"/>
                    </a:solidFill>
                  </a:tcPr>
                </a:tc>
                <a:tc>
                  <a:txBody>
                    <a:bodyPr/>
                    <a:lstStyle/>
                    <a:p>
                      <a:pPr algn="l"/>
                      <a:r>
                        <a:rPr lang="es-419" sz="1350" b="0">
                          <a:solidFill>
                            <a:srgbClr val="111111"/>
                          </a:solidFill>
                          <a:latin typeface="Arial" panose="020B0604020202020204" pitchFamily="34" charset="0"/>
                        </a:rPr>
                        <a:t>log1p en volumen y mediana</a:t>
                      </a:r>
                      <a:endParaRPr lang="es-SV" sz="1350" b="0">
                        <a:solidFill>
                          <a:srgbClr val="111111"/>
                        </a:solidFill>
                        <a:latin typeface="Arial" panose="020B0604020202020204" pitchFamily="34" charset="0"/>
                      </a:endParaRPr>
                    </a:p>
                  </a:txBody>
                  <a:tcPr marL="76200" marR="76200" marT="38100" marB="38100">
                    <a:solidFill>
                      <a:srgbClr val="FFFFFF"/>
                    </a:solidFill>
                  </a:tcPr>
                </a:tc>
                <a:tc>
                  <a:txBody>
                    <a:bodyPr/>
                    <a:lstStyle/>
                    <a:p>
                      <a:pPr algn="l"/>
                      <a:r>
                        <a:rPr lang="es-SV" sz="1350" b="0">
                          <a:solidFill>
                            <a:srgbClr val="111111"/>
                          </a:solidFill>
                          <a:latin typeface="Arial" panose="020B0604020202020204" pitchFamily="34" charset="0"/>
                        </a:rPr>
                        <a:t>Reducir asimetría y extremos</a:t>
                      </a:r>
                    </a:p>
                  </a:txBody>
                  <a:tcPr marL="76200" marR="76200" marT="38100" marB="38100">
                    <a:solidFill>
                      <a:srgbClr val="FFFFFF"/>
                    </a:solidFill>
                  </a:tcPr>
                </a:tc>
                <a:extLst>
                  <a:ext uri="{0D108BD9-81ED-4DB2-BD59-A6C34878D82A}">
                    <a16:rowId xmlns:a16="http://schemas.microsoft.com/office/drawing/2014/main" val="3184630638"/>
                  </a:ext>
                </a:extLst>
              </a:tr>
              <a:tr h="530225">
                <a:tc>
                  <a:txBody>
                    <a:bodyPr/>
                    <a:lstStyle/>
                    <a:p>
                      <a:pPr algn="l"/>
                      <a:r>
                        <a:rPr lang="es-SV" sz="1350" b="1">
                          <a:solidFill>
                            <a:srgbClr val="111111"/>
                          </a:solidFill>
                          <a:latin typeface="Arial" panose="020B0604020202020204" pitchFamily="34" charset="0"/>
                        </a:rPr>
                        <a:t>Normalización</a:t>
                      </a:r>
                    </a:p>
                  </a:txBody>
                  <a:tcPr marL="76200" marR="76200" marT="38100" marB="38100">
                    <a:solidFill>
                      <a:srgbClr val="F2F4F6"/>
                    </a:solidFill>
                  </a:tcPr>
                </a:tc>
                <a:tc>
                  <a:txBody>
                    <a:bodyPr/>
                    <a:lstStyle/>
                    <a:p>
                      <a:pPr algn="l"/>
                      <a:r>
                        <a:rPr lang="es-SV" sz="1350" b="0">
                          <a:solidFill>
                            <a:srgbClr val="111111"/>
                          </a:solidFill>
                          <a:latin typeface="Arial" panose="020B0604020202020204" pitchFamily="34" charset="0"/>
                        </a:rPr>
                        <a:t>StandardScaler en K-Means</a:t>
                      </a:r>
                    </a:p>
                  </a:txBody>
                  <a:tcPr marL="76200" marR="76200" marT="38100" marB="38100">
                    <a:solidFill>
                      <a:srgbClr val="F2F4F6"/>
                    </a:solidFill>
                  </a:tcPr>
                </a:tc>
                <a:tc>
                  <a:txBody>
                    <a:bodyPr/>
                    <a:lstStyle/>
                    <a:p>
                      <a:pPr algn="l"/>
                      <a:r>
                        <a:rPr lang="es-419" sz="1350" b="0">
                          <a:solidFill>
                            <a:srgbClr val="111111"/>
                          </a:solidFill>
                          <a:latin typeface="Arial" panose="020B0604020202020204" pitchFamily="34" charset="0"/>
                        </a:rPr>
                        <a:t>Comparar distancias en una escala común</a:t>
                      </a:r>
                      <a:endParaRPr lang="es-SV" sz="1350" b="0">
                        <a:solidFill>
                          <a:srgbClr val="111111"/>
                        </a:solidFill>
                        <a:latin typeface="Arial" panose="020B0604020202020204" pitchFamily="34" charset="0"/>
                      </a:endParaRPr>
                    </a:p>
                  </a:txBody>
                  <a:tcPr marL="76200" marR="76200" marT="38100" marB="38100">
                    <a:solidFill>
                      <a:srgbClr val="F2F4F6"/>
                    </a:solidFill>
                  </a:tcPr>
                </a:tc>
                <a:extLst>
                  <a:ext uri="{0D108BD9-81ED-4DB2-BD59-A6C34878D82A}">
                    <a16:rowId xmlns:a16="http://schemas.microsoft.com/office/drawing/2014/main" val="3351602556"/>
                  </a:ext>
                </a:extLst>
              </a:tr>
              <a:tr h="530225">
                <a:tc>
                  <a:txBody>
                    <a:bodyPr/>
                    <a:lstStyle/>
                    <a:p>
                      <a:pPr algn="l"/>
                      <a:r>
                        <a:rPr lang="es-SV" sz="1350" b="1">
                          <a:solidFill>
                            <a:srgbClr val="111111"/>
                          </a:solidFill>
                          <a:latin typeface="Arial" panose="020B0604020202020204" pitchFamily="34" charset="0"/>
                        </a:rPr>
                        <a:t>Selección final</a:t>
                      </a:r>
                    </a:p>
                  </a:txBody>
                  <a:tcPr marL="76200" marR="76200" marT="38100" marB="38100">
                    <a:solidFill>
                      <a:srgbClr val="FFFFFF"/>
                    </a:solidFill>
                  </a:tcPr>
                </a:tc>
                <a:tc>
                  <a:txBody>
                    <a:bodyPr/>
                    <a:lstStyle/>
                    <a:p>
                      <a:pPr algn="l"/>
                      <a:r>
                        <a:rPr lang="es-SV" sz="1350" b="0">
                          <a:solidFill>
                            <a:srgbClr val="111111"/>
                          </a:solidFill>
                          <a:latin typeface="Arial" panose="020B0604020202020204" pitchFamily="34" charset="0"/>
                        </a:rPr>
                        <a:t>Se excluyen minutos, estado e ID</a:t>
                      </a:r>
                    </a:p>
                  </a:txBody>
                  <a:tcPr marL="76200" marR="76200" marT="38100" marB="38100">
                    <a:solidFill>
                      <a:srgbClr val="FFFFFF"/>
                    </a:solidFill>
                  </a:tcPr>
                </a:tc>
                <a:tc>
                  <a:txBody>
                    <a:bodyPr/>
                    <a:lstStyle/>
                    <a:p>
                      <a:pPr algn="l"/>
                      <a:r>
                        <a:rPr lang="es-SV" sz="1350" b="0">
                          <a:solidFill>
                            <a:srgbClr val="111111"/>
                          </a:solidFill>
                          <a:latin typeface="Arial" panose="020B0604020202020204" pitchFamily="34" charset="0"/>
                        </a:rPr>
                        <a:t>Evitar fuga o variables sin aporte</a:t>
                      </a:r>
                    </a:p>
                  </a:txBody>
                  <a:tcPr marL="76200" marR="76200" marT="38100" marB="38100">
                    <a:solidFill>
                      <a:srgbClr val="FFFFFF"/>
                    </a:solidFill>
                  </a:tcPr>
                </a:tc>
                <a:extLst>
                  <a:ext uri="{0D108BD9-81ED-4DB2-BD59-A6C34878D82A}">
                    <a16:rowId xmlns:a16="http://schemas.microsoft.com/office/drawing/2014/main" val="1886699980"/>
                  </a:ext>
                </a:extLst>
              </a:tr>
            </a:tbl>
          </a:graphicData>
        </a:graphic>
      </p:graphicFrame>
      <p:sp>
        <p:nvSpPr>
          <p:cNvPr id="6" name="CuadroTexto 5">
            <a:extLst>
              <a:ext uri="{FF2B5EF4-FFF2-40B4-BE49-F238E27FC236}">
                <a16:creationId xmlns:a16="http://schemas.microsoft.com/office/drawing/2014/main" id="{31BB4DEE-9897-F24C-B537-D5CC9C838AB1}"/>
              </a:ext>
            </a:extLst>
          </p:cNvPr>
          <p:cNvSpPr txBox="1"/>
          <p:nvPr/>
        </p:nvSpPr>
        <p:spPr>
          <a:xfrm>
            <a:off x="1143000" y="5918200"/>
            <a:ext cx="9906000" cy="276999"/>
          </a:xfrm>
          <a:prstGeom prst="rect">
            <a:avLst/>
          </a:prstGeom>
          <a:noFill/>
        </p:spPr>
        <p:txBody>
          <a:bodyPr vert="horz" wrap="square" lIns="0" tIns="0" rIns="0" bIns="0" rtlCol="0">
            <a:noAutofit/>
          </a:bodyPr>
          <a:lstStyle/>
          <a:p>
            <a:pPr algn="ctr"/>
            <a:r>
              <a:rPr lang="es-419" sz="1500" b="1">
                <a:solidFill>
                  <a:srgbClr val="17365D"/>
                </a:solidFill>
                <a:latin typeface="Arial" panose="020B0604020202020204" pitchFamily="34" charset="0"/>
              </a:rPr>
              <a:t>KDD incluye preparación, minería, evaluación e interpretación. Los algoritmos ocupan una etapa del proceso.</a:t>
            </a:r>
            <a:endParaRPr lang="es-SV" sz="1500" b="1">
              <a:solidFill>
                <a:srgbClr val="17365D"/>
              </a:solidFill>
              <a:latin typeface="Arial" panose="020B0604020202020204" pitchFamily="34" charset="0"/>
            </a:endParaRPr>
          </a:p>
        </p:txBody>
      </p:sp>
      <p:sp>
        <p:nvSpPr>
          <p:cNvPr id="7" name="CuadroTexto 6">
            <a:extLst>
              <a:ext uri="{FF2B5EF4-FFF2-40B4-BE49-F238E27FC236}">
                <a16:creationId xmlns:a16="http://schemas.microsoft.com/office/drawing/2014/main" id="{4D80144A-7AFC-9E19-09FC-59AA9055EDC1}"/>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8" name="CuadroTexto 7">
            <a:extLst>
              <a:ext uri="{FF2B5EF4-FFF2-40B4-BE49-F238E27FC236}">
                <a16:creationId xmlns:a16="http://schemas.microsoft.com/office/drawing/2014/main" id="{B44D9E8D-AF2A-DEEF-068E-607DD133EF7E}"/>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880117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4735ED5-90D7-2F28-A777-15EDD24AB4DC}"/>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Construcción estadística de demora alta</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EE63B1F2-CC51-DC66-72DF-FA22B620335D}"/>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FC673384-5E70-58D6-44A6-805B7B59B1B1}"/>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06</a:t>
            </a:r>
          </a:p>
        </p:txBody>
      </p:sp>
      <p:pic>
        <p:nvPicPr>
          <p:cNvPr id="6" name="Imagen 5">
            <a:extLst>
              <a:ext uri="{FF2B5EF4-FFF2-40B4-BE49-F238E27FC236}">
                <a16:creationId xmlns:a16="http://schemas.microsoft.com/office/drawing/2014/main" id="{576F7F77-7A17-9E7C-EC76-04271BADF9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1498600"/>
            <a:ext cx="6731000" cy="4292600"/>
          </a:xfrm>
          <a:prstGeom prst="rect">
            <a:avLst/>
          </a:prstGeom>
        </p:spPr>
      </p:pic>
      <p:sp>
        <p:nvSpPr>
          <p:cNvPr id="7" name="CuadroTexto 6">
            <a:extLst>
              <a:ext uri="{FF2B5EF4-FFF2-40B4-BE49-F238E27FC236}">
                <a16:creationId xmlns:a16="http://schemas.microsoft.com/office/drawing/2014/main" id="{A4485787-B447-14B0-423C-C86461151881}"/>
              </a:ext>
            </a:extLst>
          </p:cNvPr>
          <p:cNvSpPr txBox="1"/>
          <p:nvPr/>
        </p:nvSpPr>
        <p:spPr>
          <a:xfrm>
            <a:off x="7950200" y="1498600"/>
            <a:ext cx="3556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PERCENTILES OBSERVADOS</a:t>
            </a:r>
          </a:p>
        </p:txBody>
      </p:sp>
      <p:sp>
        <p:nvSpPr>
          <p:cNvPr id="8" name="CuadroTexto 7">
            <a:extLst>
              <a:ext uri="{FF2B5EF4-FFF2-40B4-BE49-F238E27FC236}">
                <a16:creationId xmlns:a16="http://schemas.microsoft.com/office/drawing/2014/main" id="{1A4C9452-5E34-8EC4-3903-15FCE2C27966}"/>
              </a:ext>
            </a:extLst>
          </p:cNvPr>
          <p:cNvSpPr txBox="1"/>
          <p:nvPr/>
        </p:nvSpPr>
        <p:spPr>
          <a:xfrm>
            <a:off x="7950200" y="1930400"/>
            <a:ext cx="3556000" cy="276999"/>
          </a:xfrm>
          <a:prstGeom prst="rect">
            <a:avLst/>
          </a:prstGeom>
          <a:noFill/>
        </p:spPr>
        <p:txBody>
          <a:bodyPr vert="horz" wrap="square" lIns="0" tIns="0" rIns="0" bIns="0" rtlCol="0">
            <a:noAutofit/>
          </a:bodyPr>
          <a:lstStyle/>
          <a:p>
            <a:r>
              <a:rPr lang="sv-SE" sz="1700">
                <a:solidFill>
                  <a:srgbClr val="111111"/>
                </a:solidFill>
                <a:latin typeface="Consolas" panose="020B0609020204030204" pitchFamily="49" charset="0"/>
              </a:rPr>
              <a:t>P25       65 min</a:t>
            </a:r>
          </a:p>
          <a:p>
            <a:r>
              <a:rPr lang="sv-SE" sz="1700">
                <a:solidFill>
                  <a:srgbClr val="111111"/>
                </a:solidFill>
                <a:latin typeface="Consolas" panose="020B0609020204030204" pitchFamily="49" charset="0"/>
              </a:rPr>
              <a:t>P50     330 min</a:t>
            </a:r>
          </a:p>
          <a:p>
            <a:r>
              <a:rPr lang="sv-SE" sz="1700">
                <a:solidFill>
                  <a:srgbClr val="111111"/>
                </a:solidFill>
                <a:latin typeface="Consolas" panose="020B0609020204030204" pitchFamily="49" charset="0"/>
              </a:rPr>
              <a:t>P75   4,329 min   corte</a:t>
            </a:r>
          </a:p>
          <a:p>
            <a:r>
              <a:rPr lang="sv-SE" sz="1700">
                <a:solidFill>
                  <a:srgbClr val="111111"/>
                </a:solidFill>
                <a:latin typeface="Consolas" panose="020B0609020204030204" pitchFamily="49" charset="0"/>
              </a:rPr>
              <a:t>P90 21,062 min</a:t>
            </a:r>
          </a:p>
          <a:p>
            <a:r>
              <a:rPr lang="sv-SE" sz="1700">
                <a:solidFill>
                  <a:srgbClr val="111111"/>
                </a:solidFill>
                <a:latin typeface="Consolas" panose="020B0609020204030204" pitchFamily="49" charset="0"/>
              </a:rPr>
              <a:t>P95 43,399 min</a:t>
            </a:r>
          </a:p>
          <a:p>
            <a:r>
              <a:rPr lang="sv-SE" sz="1700">
                <a:solidFill>
                  <a:srgbClr val="111111"/>
                </a:solidFill>
                <a:latin typeface="Consolas" panose="020B0609020204030204" pitchFamily="49" charset="0"/>
              </a:rPr>
              <a:t>P99 90,956 min</a:t>
            </a:r>
            <a:endParaRPr lang="es-SV" sz="1700">
              <a:solidFill>
                <a:srgbClr val="111111"/>
              </a:solidFill>
              <a:latin typeface="Consolas" panose="020B0609020204030204" pitchFamily="49" charset="0"/>
            </a:endParaRPr>
          </a:p>
        </p:txBody>
      </p:sp>
      <p:sp>
        <p:nvSpPr>
          <p:cNvPr id="9" name="CuadroTexto 8">
            <a:extLst>
              <a:ext uri="{FF2B5EF4-FFF2-40B4-BE49-F238E27FC236}">
                <a16:creationId xmlns:a16="http://schemas.microsoft.com/office/drawing/2014/main" id="{DECB0ED2-5B71-C23A-9C62-1046F182EF1A}"/>
              </a:ext>
            </a:extLst>
          </p:cNvPr>
          <p:cNvSpPr txBox="1"/>
          <p:nvPr/>
        </p:nvSpPr>
        <p:spPr>
          <a:xfrm>
            <a:off x="7950200" y="4114800"/>
            <a:ext cx="3556000" cy="276999"/>
          </a:xfrm>
          <a:prstGeom prst="rect">
            <a:avLst/>
          </a:prstGeom>
          <a:noFill/>
        </p:spPr>
        <p:txBody>
          <a:bodyPr vert="horz" wrap="square" lIns="0" tIns="0" rIns="0" bIns="0" rtlCol="0">
            <a:noAutofit/>
          </a:bodyPr>
          <a:lstStyle/>
          <a:p>
            <a:r>
              <a:rPr lang="es-419" sz="1700" b="1">
                <a:solidFill>
                  <a:srgbClr val="17365D"/>
                </a:solidFill>
                <a:latin typeface="Arial" panose="020B0604020202020204" pitchFamily="34" charset="0"/>
              </a:rPr>
              <a:t>NYC no entrega la etiqueta demora_alta. El proyecto la crea con el cuartil superior de 1,230,737 tiempos reales.</a:t>
            </a:r>
            <a:endParaRPr lang="es-SV" sz="1700" b="1">
              <a:solidFill>
                <a:srgbClr val="17365D"/>
              </a:solidFill>
              <a:latin typeface="Arial" panose="020B0604020202020204" pitchFamily="34" charset="0"/>
            </a:endParaRPr>
          </a:p>
        </p:txBody>
      </p:sp>
      <p:sp>
        <p:nvSpPr>
          <p:cNvPr id="10" name="CuadroTexto 9">
            <a:extLst>
              <a:ext uri="{FF2B5EF4-FFF2-40B4-BE49-F238E27FC236}">
                <a16:creationId xmlns:a16="http://schemas.microsoft.com/office/drawing/2014/main" id="{6D6452E7-9E4F-A2CB-0488-284ECDBC87D3}"/>
              </a:ext>
            </a:extLst>
          </p:cNvPr>
          <p:cNvSpPr txBox="1"/>
          <p:nvPr/>
        </p:nvSpPr>
        <p:spPr>
          <a:xfrm>
            <a:off x="7950200" y="5384800"/>
            <a:ext cx="3556000" cy="276999"/>
          </a:xfrm>
          <a:prstGeom prst="rect">
            <a:avLst/>
          </a:prstGeom>
          <a:noFill/>
        </p:spPr>
        <p:txBody>
          <a:bodyPr vert="horz" wrap="square" lIns="0" tIns="0" rIns="0" bIns="0" rtlCol="0">
            <a:noAutofit/>
          </a:bodyPr>
          <a:lstStyle/>
          <a:p>
            <a:r>
              <a:rPr lang="es-419" sz="1500">
                <a:solidFill>
                  <a:srgbClr val="D95F02"/>
                </a:solidFill>
                <a:latin typeface="Arial" panose="020B0604020202020204" pitchFamily="34" charset="0"/>
              </a:rPr>
              <a:t>63,079 casos sin tiempo final permanecen sin clasificar.</a:t>
            </a:r>
            <a:endParaRPr lang="es-SV" sz="1500">
              <a:solidFill>
                <a:srgbClr val="D95F02"/>
              </a:solidFill>
              <a:latin typeface="Arial" panose="020B0604020202020204" pitchFamily="34" charset="0"/>
            </a:endParaRPr>
          </a:p>
        </p:txBody>
      </p:sp>
      <p:sp>
        <p:nvSpPr>
          <p:cNvPr id="11" name="CuadroTexto 10">
            <a:extLst>
              <a:ext uri="{FF2B5EF4-FFF2-40B4-BE49-F238E27FC236}">
                <a16:creationId xmlns:a16="http://schemas.microsoft.com/office/drawing/2014/main" id="{25980DC8-6925-5073-5AA6-C8E1D3109F2C}"/>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2" name="CuadroTexto 11">
            <a:extLst>
              <a:ext uri="{FF2B5EF4-FFF2-40B4-BE49-F238E27FC236}">
                <a16:creationId xmlns:a16="http://schemas.microsoft.com/office/drawing/2014/main" id="{ABA6E864-A34C-13E6-2DAD-76C84F86C807}"/>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1298871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E43CD00-5779-9259-F290-83C9E39E8827}"/>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Diseño y selección del Árbol de Decisión</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C7C8A0A9-78A5-6D3A-DDC0-390D42C17ABA}"/>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473337D2-0736-E10B-1AD3-99FE3D31FCD1}"/>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07</a:t>
            </a:r>
          </a:p>
        </p:txBody>
      </p:sp>
      <p:sp>
        <p:nvSpPr>
          <p:cNvPr id="5" name="CuadroTexto 4">
            <a:extLst>
              <a:ext uri="{FF2B5EF4-FFF2-40B4-BE49-F238E27FC236}">
                <a16:creationId xmlns:a16="http://schemas.microsoft.com/office/drawing/2014/main" id="{DED2A54E-AC9A-8978-9C09-91BF550165C0}"/>
              </a:ext>
            </a:extLst>
          </p:cNvPr>
          <p:cNvSpPr txBox="1"/>
          <p:nvPr/>
        </p:nvSpPr>
        <p:spPr>
          <a:xfrm>
            <a:off x="685800" y="1524000"/>
            <a:ext cx="3175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DATOS Y PIPELINE</a:t>
            </a:r>
          </a:p>
        </p:txBody>
      </p:sp>
      <p:sp>
        <p:nvSpPr>
          <p:cNvPr id="6" name="CuadroTexto 5">
            <a:extLst>
              <a:ext uri="{FF2B5EF4-FFF2-40B4-BE49-F238E27FC236}">
                <a16:creationId xmlns:a16="http://schemas.microsoft.com/office/drawing/2014/main" id="{FBD3E35D-5EC3-506A-7FCD-2342ED87D038}"/>
              </a:ext>
            </a:extLst>
          </p:cNvPr>
          <p:cNvSpPr txBox="1"/>
          <p:nvPr/>
        </p:nvSpPr>
        <p:spPr>
          <a:xfrm>
            <a:off x="685800" y="1955800"/>
            <a:ext cx="3810000" cy="276999"/>
          </a:xfrm>
          <a:prstGeom prst="rect">
            <a:avLst/>
          </a:prstGeom>
          <a:noFill/>
        </p:spPr>
        <p:txBody>
          <a:bodyPr vert="horz" wrap="square" lIns="0" tIns="0" rIns="0" bIns="0" rtlCol="0">
            <a:noAutofit/>
          </a:bodyPr>
          <a:lstStyle/>
          <a:p>
            <a:r>
              <a:rPr lang="es-419">
                <a:solidFill>
                  <a:srgbClr val="111111"/>
                </a:solidFill>
                <a:latin typeface="Arial" panose="020B0604020202020204" pitchFamily="34" charset="0"/>
              </a:rPr>
              <a:t>1,230,737 casos clasificables</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80% entrenamiento</a:t>
            </a:r>
          </a:p>
          <a:p>
            <a:r>
              <a:rPr lang="es-419">
                <a:solidFill>
                  <a:srgbClr val="111111"/>
                </a:solidFill>
                <a:latin typeface="Arial" panose="020B0604020202020204" pitchFamily="34" charset="0"/>
              </a:rPr>
              <a:t>20% prueba estratificada</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OneHotEncoder + Pipeline</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random_state = 42</a:t>
            </a:r>
            <a:endParaRPr lang="es-SV">
              <a:solidFill>
                <a:srgbClr val="111111"/>
              </a:solidFill>
              <a:latin typeface="Arial" panose="020B0604020202020204" pitchFamily="34" charset="0"/>
            </a:endParaRPr>
          </a:p>
        </p:txBody>
      </p:sp>
      <p:sp>
        <p:nvSpPr>
          <p:cNvPr id="7" name="CuadroTexto 6">
            <a:extLst>
              <a:ext uri="{FF2B5EF4-FFF2-40B4-BE49-F238E27FC236}">
                <a16:creationId xmlns:a16="http://schemas.microsoft.com/office/drawing/2014/main" id="{512BA4DD-AD91-A9AB-7EAE-0E7975308D06}"/>
              </a:ext>
            </a:extLst>
          </p:cNvPr>
          <p:cNvSpPr txBox="1"/>
          <p:nvPr/>
        </p:nvSpPr>
        <p:spPr>
          <a:xfrm>
            <a:off x="5334000" y="1524000"/>
            <a:ext cx="3175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GRIDSEARCHCV</a:t>
            </a:r>
          </a:p>
        </p:txBody>
      </p:sp>
      <p:graphicFrame>
        <p:nvGraphicFramePr>
          <p:cNvPr id="8" name="Tabla 7">
            <a:extLst>
              <a:ext uri="{FF2B5EF4-FFF2-40B4-BE49-F238E27FC236}">
                <a16:creationId xmlns:a16="http://schemas.microsoft.com/office/drawing/2014/main" id="{7C58758A-DB06-F077-DFC3-0474F5E40782}"/>
              </a:ext>
            </a:extLst>
          </p:cNvPr>
          <p:cNvGraphicFramePr>
            <a:graphicFrameLocks noGrp="1"/>
          </p:cNvGraphicFramePr>
          <p:nvPr>
            <p:extLst>
              <p:ext uri="{D42A27DB-BD31-4B8C-83A1-F6EECF244321}">
                <p14:modId xmlns:p14="http://schemas.microsoft.com/office/powerpoint/2010/main" val="2129738921"/>
              </p:ext>
            </p:extLst>
          </p:nvPr>
        </p:nvGraphicFramePr>
        <p:xfrm>
          <a:off x="5334000" y="1955800"/>
          <a:ext cx="6096000" cy="2667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06100593"/>
                    </a:ext>
                  </a:extLst>
                </a:gridCol>
                <a:gridCol w="2032000">
                  <a:extLst>
                    <a:ext uri="{9D8B030D-6E8A-4147-A177-3AD203B41FA5}">
                      <a16:colId xmlns:a16="http://schemas.microsoft.com/office/drawing/2014/main" val="2895302551"/>
                    </a:ext>
                  </a:extLst>
                </a:gridCol>
                <a:gridCol w="2032000">
                  <a:extLst>
                    <a:ext uri="{9D8B030D-6E8A-4147-A177-3AD203B41FA5}">
                      <a16:colId xmlns:a16="http://schemas.microsoft.com/office/drawing/2014/main" val="1028225536"/>
                    </a:ext>
                  </a:extLst>
                </a:gridCol>
              </a:tblGrid>
              <a:tr h="533400">
                <a:tc>
                  <a:txBody>
                    <a:bodyPr/>
                    <a:lstStyle/>
                    <a:p>
                      <a:pPr algn="ctr"/>
                      <a:r>
                        <a:rPr lang="es-SV" sz="1300" b="1">
                          <a:solidFill>
                            <a:srgbClr val="FFFFFF"/>
                          </a:solidFill>
                          <a:latin typeface="Arial" panose="020B0604020202020204" pitchFamily="34" charset="0"/>
                        </a:rPr>
                        <a:t>Parámetro</a:t>
                      </a:r>
                    </a:p>
                  </a:txBody>
                  <a:tcPr marL="76200" marR="76200" marT="38100" marB="38100">
                    <a:solidFill>
                      <a:srgbClr val="17365D"/>
                    </a:solidFill>
                  </a:tcPr>
                </a:tc>
                <a:tc>
                  <a:txBody>
                    <a:bodyPr/>
                    <a:lstStyle/>
                    <a:p>
                      <a:pPr algn="ctr"/>
                      <a:r>
                        <a:rPr lang="es-SV" sz="1300" b="1">
                          <a:solidFill>
                            <a:srgbClr val="FFFFFF"/>
                          </a:solidFill>
                          <a:latin typeface="Arial" panose="020B0604020202020204" pitchFamily="34" charset="0"/>
                        </a:rPr>
                        <a:t>Valores</a:t>
                      </a:r>
                    </a:p>
                  </a:txBody>
                  <a:tcPr marL="76200" marR="76200" marT="38100" marB="38100">
                    <a:solidFill>
                      <a:srgbClr val="17365D"/>
                    </a:solidFill>
                  </a:tcPr>
                </a:tc>
                <a:tc>
                  <a:txBody>
                    <a:bodyPr/>
                    <a:lstStyle/>
                    <a:p>
                      <a:pPr algn="ctr"/>
                      <a:r>
                        <a:rPr lang="es-SV" sz="1300" b="1">
                          <a:solidFill>
                            <a:srgbClr val="FFFFFF"/>
                          </a:solidFill>
                          <a:latin typeface="Arial" panose="020B0604020202020204" pitchFamily="34" charset="0"/>
                        </a:rPr>
                        <a:t>Elegido</a:t>
                      </a:r>
                    </a:p>
                  </a:txBody>
                  <a:tcPr marL="76200" marR="76200" marT="38100" marB="38100">
                    <a:solidFill>
                      <a:srgbClr val="17365D"/>
                    </a:solidFill>
                  </a:tcPr>
                </a:tc>
                <a:extLst>
                  <a:ext uri="{0D108BD9-81ED-4DB2-BD59-A6C34878D82A}">
                    <a16:rowId xmlns:a16="http://schemas.microsoft.com/office/drawing/2014/main" val="2272424833"/>
                  </a:ext>
                </a:extLst>
              </a:tr>
              <a:tr h="533400">
                <a:tc>
                  <a:txBody>
                    <a:bodyPr/>
                    <a:lstStyle/>
                    <a:p>
                      <a:pPr algn="l"/>
                      <a:r>
                        <a:rPr lang="es-SV" sz="1300" b="1">
                          <a:solidFill>
                            <a:srgbClr val="111111"/>
                          </a:solidFill>
                          <a:latin typeface="Arial" panose="020B0604020202020204" pitchFamily="34" charset="0"/>
                        </a:rPr>
                        <a:t>max_depth</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6, 10, 15</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15</a:t>
                      </a:r>
                    </a:p>
                  </a:txBody>
                  <a:tcPr marL="76200" marR="76200" marT="38100" marB="38100">
                    <a:solidFill>
                      <a:srgbClr val="FFFFFF"/>
                    </a:solidFill>
                  </a:tcPr>
                </a:tc>
                <a:extLst>
                  <a:ext uri="{0D108BD9-81ED-4DB2-BD59-A6C34878D82A}">
                    <a16:rowId xmlns:a16="http://schemas.microsoft.com/office/drawing/2014/main" val="3449449063"/>
                  </a:ext>
                </a:extLst>
              </a:tr>
              <a:tr h="533400">
                <a:tc>
                  <a:txBody>
                    <a:bodyPr/>
                    <a:lstStyle/>
                    <a:p>
                      <a:pPr algn="l"/>
                      <a:r>
                        <a:rPr lang="es-SV" sz="1300" b="1">
                          <a:solidFill>
                            <a:srgbClr val="111111"/>
                          </a:solidFill>
                          <a:latin typeface="Arial" panose="020B0604020202020204" pitchFamily="34" charset="0"/>
                        </a:rPr>
                        <a:t>min_samples_leaf</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50, 100, 250</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50</a:t>
                      </a:r>
                    </a:p>
                  </a:txBody>
                  <a:tcPr marL="76200" marR="76200" marT="38100" marB="38100">
                    <a:solidFill>
                      <a:srgbClr val="F2F4F6"/>
                    </a:solidFill>
                  </a:tcPr>
                </a:tc>
                <a:extLst>
                  <a:ext uri="{0D108BD9-81ED-4DB2-BD59-A6C34878D82A}">
                    <a16:rowId xmlns:a16="http://schemas.microsoft.com/office/drawing/2014/main" val="382562150"/>
                  </a:ext>
                </a:extLst>
              </a:tr>
              <a:tr h="533400">
                <a:tc>
                  <a:txBody>
                    <a:bodyPr/>
                    <a:lstStyle/>
                    <a:p>
                      <a:pPr algn="l"/>
                      <a:r>
                        <a:rPr lang="es-SV" sz="1300" b="1">
                          <a:solidFill>
                            <a:srgbClr val="111111"/>
                          </a:solidFill>
                          <a:latin typeface="Arial" panose="020B0604020202020204" pitchFamily="34" charset="0"/>
                        </a:rPr>
                        <a:t>class_weight</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None, balanced</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balanced</a:t>
                      </a:r>
                    </a:p>
                  </a:txBody>
                  <a:tcPr marL="76200" marR="76200" marT="38100" marB="38100">
                    <a:solidFill>
                      <a:srgbClr val="FFFFFF"/>
                    </a:solidFill>
                  </a:tcPr>
                </a:tc>
                <a:extLst>
                  <a:ext uri="{0D108BD9-81ED-4DB2-BD59-A6C34878D82A}">
                    <a16:rowId xmlns:a16="http://schemas.microsoft.com/office/drawing/2014/main" val="601093227"/>
                  </a:ext>
                </a:extLst>
              </a:tr>
              <a:tr h="533400">
                <a:tc>
                  <a:txBody>
                    <a:bodyPr/>
                    <a:lstStyle/>
                    <a:p>
                      <a:pPr algn="l"/>
                      <a:r>
                        <a:rPr lang="es-SV" sz="1300" b="1">
                          <a:solidFill>
                            <a:srgbClr val="111111"/>
                          </a:solidFill>
                          <a:latin typeface="Arial" panose="020B0604020202020204" pitchFamily="34" charset="0"/>
                        </a:rPr>
                        <a:t>scoring</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F1</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0.787 CV</a:t>
                      </a:r>
                    </a:p>
                  </a:txBody>
                  <a:tcPr marL="76200" marR="76200" marT="38100" marB="38100">
                    <a:solidFill>
                      <a:srgbClr val="F2F4F6"/>
                    </a:solidFill>
                  </a:tcPr>
                </a:tc>
                <a:extLst>
                  <a:ext uri="{0D108BD9-81ED-4DB2-BD59-A6C34878D82A}">
                    <a16:rowId xmlns:a16="http://schemas.microsoft.com/office/drawing/2014/main" val="3065672487"/>
                  </a:ext>
                </a:extLst>
              </a:tr>
            </a:tbl>
          </a:graphicData>
        </a:graphic>
      </p:graphicFrame>
      <p:sp>
        <p:nvSpPr>
          <p:cNvPr id="9" name="CuadroTexto 8">
            <a:extLst>
              <a:ext uri="{FF2B5EF4-FFF2-40B4-BE49-F238E27FC236}">
                <a16:creationId xmlns:a16="http://schemas.microsoft.com/office/drawing/2014/main" id="{6FD880C3-75C0-436A-7F41-A37AFC0DDA2D}"/>
              </a:ext>
            </a:extLst>
          </p:cNvPr>
          <p:cNvSpPr txBox="1"/>
          <p:nvPr/>
        </p:nvSpPr>
        <p:spPr>
          <a:xfrm>
            <a:off x="5334000" y="4902200"/>
            <a:ext cx="6096000" cy="276999"/>
          </a:xfrm>
          <a:prstGeom prst="rect">
            <a:avLst/>
          </a:prstGeom>
          <a:noFill/>
        </p:spPr>
        <p:txBody>
          <a:bodyPr vert="horz" wrap="square" lIns="0" tIns="0" rIns="0" bIns="0" rtlCol="0">
            <a:noAutofit/>
          </a:bodyPr>
          <a:lstStyle/>
          <a:p>
            <a:pPr algn="ctr"/>
            <a:r>
              <a:rPr lang="es-419" sz="2100" b="1">
                <a:solidFill>
                  <a:srgbClr val="D95F02"/>
                </a:solidFill>
                <a:latin typeface="Arial" panose="020B0604020202020204" pitchFamily="34" charset="0"/>
              </a:rPr>
              <a:t>18 combinaciones x 3 folds = 54 ajustes</a:t>
            </a:r>
            <a:endParaRPr lang="es-SV" sz="2100" b="1">
              <a:solidFill>
                <a:srgbClr val="D95F02"/>
              </a:solidFill>
              <a:latin typeface="Arial" panose="020B0604020202020204" pitchFamily="34" charset="0"/>
            </a:endParaRPr>
          </a:p>
        </p:txBody>
      </p:sp>
      <p:sp>
        <p:nvSpPr>
          <p:cNvPr id="10" name="CuadroTexto 9">
            <a:extLst>
              <a:ext uri="{FF2B5EF4-FFF2-40B4-BE49-F238E27FC236}">
                <a16:creationId xmlns:a16="http://schemas.microsoft.com/office/drawing/2014/main" id="{F4D05386-CDD7-391C-4872-3A8BAEAE2D69}"/>
              </a:ext>
            </a:extLst>
          </p:cNvPr>
          <p:cNvSpPr txBox="1"/>
          <p:nvPr/>
        </p:nvSpPr>
        <p:spPr>
          <a:xfrm>
            <a:off x="1143000" y="5689600"/>
            <a:ext cx="9906000" cy="276999"/>
          </a:xfrm>
          <a:prstGeom prst="rect">
            <a:avLst/>
          </a:prstGeom>
          <a:noFill/>
        </p:spPr>
        <p:txBody>
          <a:bodyPr vert="horz" wrap="square" lIns="0" tIns="0" rIns="0" bIns="0" rtlCol="0">
            <a:noAutofit/>
          </a:bodyPr>
          <a:lstStyle/>
          <a:p>
            <a:pPr algn="ctr"/>
            <a:r>
              <a:rPr lang="es-419" sz="1500" b="1">
                <a:solidFill>
                  <a:srgbClr val="17365D"/>
                </a:solidFill>
                <a:latin typeface="Arial" panose="020B0604020202020204" pitchFamily="34" charset="0"/>
              </a:rPr>
              <a:t>Control de fuga: minutos_resolucion, status, año e identificador quedan fuera del árbol.</a:t>
            </a:r>
            <a:endParaRPr lang="es-SV" sz="1500" b="1">
              <a:solidFill>
                <a:srgbClr val="17365D"/>
              </a:solidFill>
              <a:latin typeface="Arial" panose="020B0604020202020204" pitchFamily="34" charset="0"/>
            </a:endParaRPr>
          </a:p>
        </p:txBody>
      </p:sp>
      <p:sp>
        <p:nvSpPr>
          <p:cNvPr id="11" name="CuadroTexto 10">
            <a:extLst>
              <a:ext uri="{FF2B5EF4-FFF2-40B4-BE49-F238E27FC236}">
                <a16:creationId xmlns:a16="http://schemas.microsoft.com/office/drawing/2014/main" id="{D2B12FEA-AC1D-7EC6-99D1-17D3F4010DCD}"/>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2" name="CuadroTexto 11">
            <a:extLst>
              <a:ext uri="{FF2B5EF4-FFF2-40B4-BE49-F238E27FC236}">
                <a16:creationId xmlns:a16="http://schemas.microsoft.com/office/drawing/2014/main" id="{2C5E5595-C688-26E5-AEE5-DDD04432453E}"/>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4101983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69C6E37-189A-E032-3976-402C82521D25}"/>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El ajuste eleva el Recall a 95.15 por ciento</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F6435771-8189-7413-AA54-40B6C57E951B}"/>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D96CFDBE-34BC-48DF-E583-C4F2C205484A}"/>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08</a:t>
            </a:r>
          </a:p>
        </p:txBody>
      </p:sp>
      <p:sp>
        <p:nvSpPr>
          <p:cNvPr id="5" name="CuadroTexto 4">
            <a:extLst>
              <a:ext uri="{FF2B5EF4-FFF2-40B4-BE49-F238E27FC236}">
                <a16:creationId xmlns:a16="http://schemas.microsoft.com/office/drawing/2014/main" id="{690003C1-3536-81BD-7E82-AB2E1B7AF952}"/>
              </a:ext>
            </a:extLst>
          </p:cNvPr>
          <p:cNvSpPr txBox="1"/>
          <p:nvPr/>
        </p:nvSpPr>
        <p:spPr>
          <a:xfrm>
            <a:off x="685800" y="1549400"/>
            <a:ext cx="3429000" cy="276999"/>
          </a:xfrm>
          <a:prstGeom prst="rect">
            <a:avLst/>
          </a:prstGeom>
          <a:noFill/>
        </p:spPr>
        <p:txBody>
          <a:bodyPr vert="horz" wrap="square" lIns="0" tIns="0" rIns="0" bIns="0" rtlCol="0">
            <a:noAutofit/>
          </a:bodyPr>
          <a:lstStyle/>
          <a:p>
            <a:r>
              <a:rPr lang="es-SV" sz="4100" b="1">
                <a:solidFill>
                  <a:srgbClr val="D95F02"/>
                </a:solidFill>
                <a:latin typeface="Arial" panose="020B0604020202020204" pitchFamily="34" charset="0"/>
              </a:rPr>
              <a:t>95.15%</a:t>
            </a:r>
          </a:p>
        </p:txBody>
      </p:sp>
      <p:sp>
        <p:nvSpPr>
          <p:cNvPr id="6" name="CuadroTexto 5">
            <a:extLst>
              <a:ext uri="{FF2B5EF4-FFF2-40B4-BE49-F238E27FC236}">
                <a16:creationId xmlns:a16="http://schemas.microsoft.com/office/drawing/2014/main" id="{E9C0AA2A-79A3-AE02-CA42-11B5D4318D8E}"/>
              </a:ext>
            </a:extLst>
          </p:cNvPr>
          <p:cNvSpPr txBox="1"/>
          <p:nvPr/>
        </p:nvSpPr>
        <p:spPr>
          <a:xfrm>
            <a:off x="685800" y="2489200"/>
            <a:ext cx="3810000" cy="276999"/>
          </a:xfrm>
          <a:prstGeom prst="rect">
            <a:avLst/>
          </a:prstGeom>
          <a:noFill/>
        </p:spPr>
        <p:txBody>
          <a:bodyPr vert="horz" wrap="square" lIns="0" tIns="0" rIns="0" bIns="0" rtlCol="0">
            <a:noAutofit/>
          </a:bodyPr>
          <a:lstStyle/>
          <a:p>
            <a:r>
              <a:rPr lang="es-419">
                <a:solidFill>
                  <a:srgbClr val="111111"/>
                </a:solidFill>
                <a:latin typeface="Arial" panose="020B0604020202020204" pitchFamily="34" charset="0"/>
              </a:rPr>
              <a:t>de las demoras reales fueron detectadas por el modelo optimizado</a:t>
            </a:r>
            <a:endParaRPr lang="es-SV">
              <a:solidFill>
                <a:srgbClr val="111111"/>
              </a:solidFill>
              <a:latin typeface="Arial" panose="020B0604020202020204" pitchFamily="34" charset="0"/>
            </a:endParaRPr>
          </a:p>
        </p:txBody>
      </p:sp>
      <p:graphicFrame>
        <p:nvGraphicFramePr>
          <p:cNvPr id="7" name="Tabla 6">
            <a:extLst>
              <a:ext uri="{FF2B5EF4-FFF2-40B4-BE49-F238E27FC236}">
                <a16:creationId xmlns:a16="http://schemas.microsoft.com/office/drawing/2014/main" id="{76BC4CFB-57C1-9703-EE28-EC7195D67AFF}"/>
              </a:ext>
            </a:extLst>
          </p:cNvPr>
          <p:cNvGraphicFramePr>
            <a:graphicFrameLocks noGrp="1"/>
          </p:cNvGraphicFramePr>
          <p:nvPr>
            <p:extLst>
              <p:ext uri="{D42A27DB-BD31-4B8C-83A1-F6EECF244321}">
                <p14:modId xmlns:p14="http://schemas.microsoft.com/office/powerpoint/2010/main" val="390360448"/>
              </p:ext>
            </p:extLst>
          </p:nvPr>
        </p:nvGraphicFramePr>
        <p:xfrm>
          <a:off x="4953000" y="1600200"/>
          <a:ext cx="6477000" cy="20828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1207215853"/>
                    </a:ext>
                  </a:extLst>
                </a:gridCol>
                <a:gridCol w="1079500">
                  <a:extLst>
                    <a:ext uri="{9D8B030D-6E8A-4147-A177-3AD203B41FA5}">
                      <a16:colId xmlns:a16="http://schemas.microsoft.com/office/drawing/2014/main" val="1453964793"/>
                    </a:ext>
                  </a:extLst>
                </a:gridCol>
                <a:gridCol w="1079500">
                  <a:extLst>
                    <a:ext uri="{9D8B030D-6E8A-4147-A177-3AD203B41FA5}">
                      <a16:colId xmlns:a16="http://schemas.microsoft.com/office/drawing/2014/main" val="3129103416"/>
                    </a:ext>
                  </a:extLst>
                </a:gridCol>
                <a:gridCol w="1079500">
                  <a:extLst>
                    <a:ext uri="{9D8B030D-6E8A-4147-A177-3AD203B41FA5}">
                      <a16:colId xmlns:a16="http://schemas.microsoft.com/office/drawing/2014/main" val="742094097"/>
                    </a:ext>
                  </a:extLst>
                </a:gridCol>
                <a:gridCol w="1079500">
                  <a:extLst>
                    <a:ext uri="{9D8B030D-6E8A-4147-A177-3AD203B41FA5}">
                      <a16:colId xmlns:a16="http://schemas.microsoft.com/office/drawing/2014/main" val="1318006030"/>
                    </a:ext>
                  </a:extLst>
                </a:gridCol>
                <a:gridCol w="1079500">
                  <a:extLst>
                    <a:ext uri="{9D8B030D-6E8A-4147-A177-3AD203B41FA5}">
                      <a16:colId xmlns:a16="http://schemas.microsoft.com/office/drawing/2014/main" val="4171914968"/>
                    </a:ext>
                  </a:extLst>
                </a:gridCol>
              </a:tblGrid>
              <a:tr h="694267">
                <a:tc>
                  <a:txBody>
                    <a:bodyPr/>
                    <a:lstStyle/>
                    <a:p>
                      <a:pPr algn="ctr"/>
                      <a:r>
                        <a:rPr lang="es-SV" sz="1200" b="1">
                          <a:solidFill>
                            <a:srgbClr val="FFFFFF"/>
                          </a:solidFill>
                          <a:latin typeface="Arial" panose="020B0604020202020204" pitchFamily="34" charset="0"/>
                        </a:rPr>
                        <a:t>Modelo</a:t>
                      </a:r>
                    </a:p>
                  </a:txBody>
                  <a:tcPr marL="76200" marR="76200" marT="38100" marB="38100">
                    <a:solidFill>
                      <a:srgbClr val="17365D"/>
                    </a:solidFill>
                  </a:tcPr>
                </a:tc>
                <a:tc>
                  <a:txBody>
                    <a:bodyPr/>
                    <a:lstStyle/>
                    <a:p>
                      <a:pPr algn="ctr"/>
                      <a:r>
                        <a:rPr lang="es-SV" sz="1200" b="1">
                          <a:solidFill>
                            <a:srgbClr val="FFFFFF"/>
                          </a:solidFill>
                          <a:latin typeface="Arial" panose="020B0604020202020204" pitchFamily="34" charset="0"/>
                        </a:rPr>
                        <a:t>Exactitud</a:t>
                      </a:r>
                    </a:p>
                  </a:txBody>
                  <a:tcPr marL="76200" marR="76200" marT="38100" marB="38100">
                    <a:solidFill>
                      <a:srgbClr val="17365D"/>
                    </a:solidFill>
                  </a:tcPr>
                </a:tc>
                <a:tc>
                  <a:txBody>
                    <a:bodyPr/>
                    <a:lstStyle/>
                    <a:p>
                      <a:pPr algn="ctr"/>
                      <a:r>
                        <a:rPr lang="es-SV" sz="1200" b="1">
                          <a:solidFill>
                            <a:srgbClr val="FFFFFF"/>
                          </a:solidFill>
                          <a:latin typeface="Arial" panose="020B0604020202020204" pitchFamily="34" charset="0"/>
                        </a:rPr>
                        <a:t>Precisión</a:t>
                      </a:r>
                    </a:p>
                  </a:txBody>
                  <a:tcPr marL="76200" marR="76200" marT="38100" marB="38100">
                    <a:solidFill>
                      <a:srgbClr val="17365D"/>
                    </a:solidFill>
                  </a:tcPr>
                </a:tc>
                <a:tc>
                  <a:txBody>
                    <a:bodyPr/>
                    <a:lstStyle/>
                    <a:p>
                      <a:pPr algn="ctr"/>
                      <a:r>
                        <a:rPr lang="es-SV" sz="1200" b="1">
                          <a:solidFill>
                            <a:srgbClr val="FFFFFF"/>
                          </a:solidFill>
                          <a:latin typeface="Arial" panose="020B0604020202020204" pitchFamily="34" charset="0"/>
                        </a:rPr>
                        <a:t>Recall</a:t>
                      </a:r>
                    </a:p>
                  </a:txBody>
                  <a:tcPr marL="76200" marR="76200" marT="38100" marB="38100">
                    <a:solidFill>
                      <a:srgbClr val="17365D"/>
                    </a:solidFill>
                  </a:tcPr>
                </a:tc>
                <a:tc>
                  <a:txBody>
                    <a:bodyPr/>
                    <a:lstStyle/>
                    <a:p>
                      <a:pPr algn="ctr"/>
                      <a:r>
                        <a:rPr lang="es-SV" sz="1200" b="1">
                          <a:solidFill>
                            <a:srgbClr val="FFFFFF"/>
                          </a:solidFill>
                          <a:latin typeface="Arial" panose="020B0604020202020204" pitchFamily="34" charset="0"/>
                        </a:rPr>
                        <a:t>F1</a:t>
                      </a:r>
                    </a:p>
                  </a:txBody>
                  <a:tcPr marL="76200" marR="76200" marT="38100" marB="38100">
                    <a:solidFill>
                      <a:srgbClr val="17365D"/>
                    </a:solidFill>
                  </a:tcPr>
                </a:tc>
                <a:tc>
                  <a:txBody>
                    <a:bodyPr/>
                    <a:lstStyle/>
                    <a:p>
                      <a:pPr algn="ctr"/>
                      <a:r>
                        <a:rPr lang="es-SV" sz="1200" b="1">
                          <a:solidFill>
                            <a:srgbClr val="FFFFFF"/>
                          </a:solidFill>
                          <a:latin typeface="Arial" panose="020B0604020202020204" pitchFamily="34" charset="0"/>
                        </a:rPr>
                        <a:t>ROC AUC</a:t>
                      </a:r>
                    </a:p>
                  </a:txBody>
                  <a:tcPr marL="76200" marR="76200" marT="38100" marB="38100">
                    <a:solidFill>
                      <a:srgbClr val="17365D"/>
                    </a:solidFill>
                  </a:tcPr>
                </a:tc>
                <a:extLst>
                  <a:ext uri="{0D108BD9-81ED-4DB2-BD59-A6C34878D82A}">
                    <a16:rowId xmlns:a16="http://schemas.microsoft.com/office/drawing/2014/main" val="1112670231"/>
                  </a:ext>
                </a:extLst>
              </a:tr>
              <a:tr h="694267">
                <a:tc>
                  <a:txBody>
                    <a:bodyPr/>
                    <a:lstStyle/>
                    <a:p>
                      <a:pPr algn="l"/>
                      <a:r>
                        <a:rPr lang="es-SV" sz="1200" b="1">
                          <a:solidFill>
                            <a:srgbClr val="111111"/>
                          </a:solidFill>
                          <a:latin typeface="Arial" panose="020B0604020202020204" pitchFamily="34" charset="0"/>
                        </a:rPr>
                        <a:t>Base</a:t>
                      </a:r>
                    </a:p>
                  </a:txBody>
                  <a:tcPr marL="76200" marR="76200" marT="38100" marB="38100">
                    <a:solidFill>
                      <a:srgbClr val="FFFFFF"/>
                    </a:solidFill>
                  </a:tcPr>
                </a:tc>
                <a:tc>
                  <a:txBody>
                    <a:bodyPr/>
                    <a:lstStyle/>
                    <a:p>
                      <a:pPr algn="l"/>
                      <a:r>
                        <a:rPr lang="es-SV" sz="1200" b="0">
                          <a:solidFill>
                            <a:srgbClr val="111111"/>
                          </a:solidFill>
                          <a:latin typeface="Arial" panose="020B0604020202020204" pitchFamily="34" charset="0"/>
                        </a:rPr>
                        <a:t>86.98%</a:t>
                      </a:r>
                    </a:p>
                  </a:txBody>
                  <a:tcPr marL="76200" marR="76200" marT="38100" marB="38100">
                    <a:solidFill>
                      <a:srgbClr val="FFFFFF"/>
                    </a:solidFill>
                  </a:tcPr>
                </a:tc>
                <a:tc>
                  <a:txBody>
                    <a:bodyPr/>
                    <a:lstStyle/>
                    <a:p>
                      <a:pPr algn="l"/>
                      <a:r>
                        <a:rPr lang="es-SV" sz="1200" b="0">
                          <a:solidFill>
                            <a:srgbClr val="111111"/>
                          </a:solidFill>
                          <a:latin typeface="Arial" panose="020B0604020202020204" pitchFamily="34" charset="0"/>
                        </a:rPr>
                        <a:t>83.79%</a:t>
                      </a:r>
                    </a:p>
                  </a:txBody>
                  <a:tcPr marL="76200" marR="76200" marT="38100" marB="38100">
                    <a:solidFill>
                      <a:srgbClr val="FFFFFF"/>
                    </a:solidFill>
                  </a:tcPr>
                </a:tc>
                <a:tc>
                  <a:txBody>
                    <a:bodyPr/>
                    <a:lstStyle/>
                    <a:p>
                      <a:pPr algn="l"/>
                      <a:r>
                        <a:rPr lang="es-SV" sz="1200" b="0">
                          <a:solidFill>
                            <a:srgbClr val="111111"/>
                          </a:solidFill>
                          <a:latin typeface="Arial" panose="020B0604020202020204" pitchFamily="34" charset="0"/>
                        </a:rPr>
                        <a:t>59.41%</a:t>
                      </a:r>
                    </a:p>
                  </a:txBody>
                  <a:tcPr marL="76200" marR="76200" marT="38100" marB="38100">
                    <a:solidFill>
                      <a:srgbClr val="FFFFFF"/>
                    </a:solidFill>
                  </a:tcPr>
                </a:tc>
                <a:tc>
                  <a:txBody>
                    <a:bodyPr/>
                    <a:lstStyle/>
                    <a:p>
                      <a:pPr algn="l"/>
                      <a:r>
                        <a:rPr lang="es-SV" sz="1200" b="0">
                          <a:solidFill>
                            <a:srgbClr val="111111"/>
                          </a:solidFill>
                          <a:latin typeface="Arial" panose="020B0604020202020204" pitchFamily="34" charset="0"/>
                        </a:rPr>
                        <a:t>69.53%</a:t>
                      </a:r>
                    </a:p>
                  </a:txBody>
                  <a:tcPr marL="76200" marR="76200" marT="38100" marB="38100">
                    <a:solidFill>
                      <a:srgbClr val="FFFFFF"/>
                    </a:solidFill>
                  </a:tcPr>
                </a:tc>
                <a:tc>
                  <a:txBody>
                    <a:bodyPr/>
                    <a:lstStyle/>
                    <a:p>
                      <a:pPr algn="l"/>
                      <a:r>
                        <a:rPr lang="es-SV" sz="1200" b="0">
                          <a:solidFill>
                            <a:srgbClr val="111111"/>
                          </a:solidFill>
                          <a:latin typeface="Arial" panose="020B0604020202020204" pitchFamily="34" charset="0"/>
                        </a:rPr>
                        <a:t>0.922</a:t>
                      </a:r>
                    </a:p>
                  </a:txBody>
                  <a:tcPr marL="76200" marR="76200" marT="38100" marB="38100">
                    <a:solidFill>
                      <a:srgbClr val="FFFFFF"/>
                    </a:solidFill>
                  </a:tcPr>
                </a:tc>
                <a:extLst>
                  <a:ext uri="{0D108BD9-81ED-4DB2-BD59-A6C34878D82A}">
                    <a16:rowId xmlns:a16="http://schemas.microsoft.com/office/drawing/2014/main" val="1127812999"/>
                  </a:ext>
                </a:extLst>
              </a:tr>
              <a:tr h="694267">
                <a:tc>
                  <a:txBody>
                    <a:bodyPr/>
                    <a:lstStyle/>
                    <a:p>
                      <a:pPr algn="l"/>
                      <a:r>
                        <a:rPr lang="es-SV" sz="1200" b="1">
                          <a:solidFill>
                            <a:srgbClr val="111111"/>
                          </a:solidFill>
                          <a:latin typeface="Arial" panose="020B0604020202020204" pitchFamily="34" charset="0"/>
                        </a:rPr>
                        <a:t>Optimizado</a:t>
                      </a:r>
                    </a:p>
                  </a:txBody>
                  <a:tcPr marL="76200" marR="76200" marT="38100" marB="38100">
                    <a:solidFill>
                      <a:srgbClr val="F2F4F6"/>
                    </a:solidFill>
                  </a:tcPr>
                </a:tc>
                <a:tc>
                  <a:txBody>
                    <a:bodyPr/>
                    <a:lstStyle/>
                    <a:p>
                      <a:pPr algn="l"/>
                      <a:r>
                        <a:rPr lang="es-SV" sz="1200" b="0">
                          <a:solidFill>
                            <a:srgbClr val="111111"/>
                          </a:solidFill>
                          <a:latin typeface="Arial" panose="020B0604020202020204" pitchFamily="34" charset="0"/>
                        </a:rPr>
                        <a:t>86.87%</a:t>
                      </a:r>
                    </a:p>
                  </a:txBody>
                  <a:tcPr marL="76200" marR="76200" marT="38100" marB="38100">
                    <a:solidFill>
                      <a:srgbClr val="F2F4F6"/>
                    </a:solidFill>
                  </a:tcPr>
                </a:tc>
                <a:tc>
                  <a:txBody>
                    <a:bodyPr/>
                    <a:lstStyle/>
                    <a:p>
                      <a:pPr algn="l"/>
                      <a:r>
                        <a:rPr lang="es-SV" sz="1200" b="0">
                          <a:solidFill>
                            <a:srgbClr val="111111"/>
                          </a:solidFill>
                          <a:latin typeface="Arial" panose="020B0604020202020204" pitchFamily="34" charset="0"/>
                        </a:rPr>
                        <a:t>66.63%</a:t>
                      </a:r>
                    </a:p>
                  </a:txBody>
                  <a:tcPr marL="76200" marR="76200" marT="38100" marB="38100">
                    <a:solidFill>
                      <a:srgbClr val="F2F4F6"/>
                    </a:solidFill>
                  </a:tcPr>
                </a:tc>
                <a:tc>
                  <a:txBody>
                    <a:bodyPr/>
                    <a:lstStyle/>
                    <a:p>
                      <a:pPr algn="l"/>
                      <a:r>
                        <a:rPr lang="es-SV" sz="1200" b="0">
                          <a:solidFill>
                            <a:srgbClr val="111111"/>
                          </a:solidFill>
                          <a:latin typeface="Arial" panose="020B0604020202020204" pitchFamily="34" charset="0"/>
                        </a:rPr>
                        <a:t>95.15%</a:t>
                      </a:r>
                    </a:p>
                  </a:txBody>
                  <a:tcPr marL="76200" marR="76200" marT="38100" marB="38100">
                    <a:solidFill>
                      <a:srgbClr val="F2F4F6"/>
                    </a:solidFill>
                  </a:tcPr>
                </a:tc>
                <a:tc>
                  <a:txBody>
                    <a:bodyPr/>
                    <a:lstStyle/>
                    <a:p>
                      <a:pPr algn="l"/>
                      <a:r>
                        <a:rPr lang="es-SV" sz="1200" b="0">
                          <a:solidFill>
                            <a:srgbClr val="111111"/>
                          </a:solidFill>
                          <a:latin typeface="Arial" panose="020B0604020202020204" pitchFamily="34" charset="0"/>
                        </a:rPr>
                        <a:t>78.37%</a:t>
                      </a:r>
                    </a:p>
                  </a:txBody>
                  <a:tcPr marL="76200" marR="76200" marT="38100" marB="38100">
                    <a:solidFill>
                      <a:srgbClr val="F2F4F6"/>
                    </a:solidFill>
                  </a:tcPr>
                </a:tc>
                <a:tc>
                  <a:txBody>
                    <a:bodyPr/>
                    <a:lstStyle/>
                    <a:p>
                      <a:pPr algn="l"/>
                      <a:r>
                        <a:rPr lang="es-SV" sz="1200" b="0">
                          <a:solidFill>
                            <a:srgbClr val="111111"/>
                          </a:solidFill>
                          <a:latin typeface="Arial" panose="020B0604020202020204" pitchFamily="34" charset="0"/>
                        </a:rPr>
                        <a:t>0.952</a:t>
                      </a:r>
                    </a:p>
                  </a:txBody>
                  <a:tcPr marL="76200" marR="76200" marT="38100" marB="38100">
                    <a:solidFill>
                      <a:srgbClr val="F2F4F6"/>
                    </a:solidFill>
                  </a:tcPr>
                </a:tc>
                <a:extLst>
                  <a:ext uri="{0D108BD9-81ED-4DB2-BD59-A6C34878D82A}">
                    <a16:rowId xmlns:a16="http://schemas.microsoft.com/office/drawing/2014/main" val="545639682"/>
                  </a:ext>
                </a:extLst>
              </a:tr>
            </a:tbl>
          </a:graphicData>
        </a:graphic>
      </p:graphicFrame>
      <p:sp>
        <p:nvSpPr>
          <p:cNvPr id="8" name="CuadroTexto 7">
            <a:extLst>
              <a:ext uri="{FF2B5EF4-FFF2-40B4-BE49-F238E27FC236}">
                <a16:creationId xmlns:a16="http://schemas.microsoft.com/office/drawing/2014/main" id="{532E26AC-5DB6-80EF-7A16-39A11BECFB36}"/>
              </a:ext>
            </a:extLst>
          </p:cNvPr>
          <p:cNvSpPr txBox="1"/>
          <p:nvPr/>
        </p:nvSpPr>
        <p:spPr>
          <a:xfrm>
            <a:off x="4953000" y="4165600"/>
            <a:ext cx="2159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INTERPRETACIÓN</a:t>
            </a:r>
          </a:p>
        </p:txBody>
      </p:sp>
      <p:sp>
        <p:nvSpPr>
          <p:cNvPr id="9" name="CuadroTexto 8">
            <a:extLst>
              <a:ext uri="{FF2B5EF4-FFF2-40B4-BE49-F238E27FC236}">
                <a16:creationId xmlns:a16="http://schemas.microsoft.com/office/drawing/2014/main" id="{25A7653E-00CD-D6AB-F679-48149E184BA4}"/>
              </a:ext>
            </a:extLst>
          </p:cNvPr>
          <p:cNvSpPr txBox="1"/>
          <p:nvPr/>
        </p:nvSpPr>
        <p:spPr>
          <a:xfrm>
            <a:off x="4953000" y="4572000"/>
            <a:ext cx="6477000" cy="276999"/>
          </a:xfrm>
          <a:prstGeom prst="rect">
            <a:avLst/>
          </a:prstGeom>
          <a:noFill/>
        </p:spPr>
        <p:txBody>
          <a:bodyPr vert="horz" wrap="square" lIns="0" tIns="0" rIns="0" bIns="0" rtlCol="0">
            <a:noAutofit/>
          </a:bodyPr>
          <a:lstStyle/>
          <a:p>
            <a:r>
              <a:rPr lang="es-419">
                <a:solidFill>
                  <a:srgbClr val="111111"/>
                </a:solidFill>
                <a:latin typeface="Arial" panose="020B0604020202020204" pitchFamily="34" charset="0"/>
              </a:rPr>
              <a:t>Los pesos balanceados reducen falsos negativos. La precisión baja porque el modelo produce más alertas preventivas.</a:t>
            </a:r>
            <a:endParaRPr lang="es-SV">
              <a:solidFill>
                <a:srgbClr val="111111"/>
              </a:solidFill>
              <a:latin typeface="Arial" panose="020B0604020202020204" pitchFamily="34" charset="0"/>
            </a:endParaRPr>
          </a:p>
        </p:txBody>
      </p:sp>
      <p:sp>
        <p:nvSpPr>
          <p:cNvPr id="10" name="CuadroTexto 9">
            <a:extLst>
              <a:ext uri="{FF2B5EF4-FFF2-40B4-BE49-F238E27FC236}">
                <a16:creationId xmlns:a16="http://schemas.microsoft.com/office/drawing/2014/main" id="{7BE5CB9C-6771-F418-9249-4905A54ABD41}"/>
              </a:ext>
            </a:extLst>
          </p:cNvPr>
          <p:cNvSpPr txBox="1"/>
          <p:nvPr/>
        </p:nvSpPr>
        <p:spPr>
          <a:xfrm>
            <a:off x="685800" y="4216400"/>
            <a:ext cx="1651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USO</a:t>
            </a:r>
          </a:p>
        </p:txBody>
      </p:sp>
      <p:sp>
        <p:nvSpPr>
          <p:cNvPr id="11" name="CuadroTexto 10">
            <a:extLst>
              <a:ext uri="{FF2B5EF4-FFF2-40B4-BE49-F238E27FC236}">
                <a16:creationId xmlns:a16="http://schemas.microsoft.com/office/drawing/2014/main" id="{7FEBA662-4A7D-12CF-C608-991F14F18A79}"/>
              </a:ext>
            </a:extLst>
          </p:cNvPr>
          <p:cNvSpPr txBox="1"/>
          <p:nvPr/>
        </p:nvSpPr>
        <p:spPr>
          <a:xfrm>
            <a:off x="685800" y="4622800"/>
            <a:ext cx="3429000" cy="276999"/>
          </a:xfrm>
          <a:prstGeom prst="rect">
            <a:avLst/>
          </a:prstGeom>
          <a:noFill/>
        </p:spPr>
        <p:txBody>
          <a:bodyPr vert="horz" wrap="square" lIns="0" tIns="0" rIns="0" bIns="0" rtlCol="0">
            <a:noAutofit/>
          </a:bodyPr>
          <a:lstStyle/>
          <a:p>
            <a:r>
              <a:rPr lang="es-419">
                <a:solidFill>
                  <a:srgbClr val="111111"/>
                </a:solidFill>
                <a:latin typeface="Arial" panose="020B0604020202020204" pitchFamily="34" charset="0"/>
              </a:rPr>
              <a:t>Filtro de priorización con revisión humana.</a:t>
            </a:r>
            <a:endParaRPr lang="es-SV">
              <a:solidFill>
                <a:srgbClr val="111111"/>
              </a:solidFill>
              <a:latin typeface="Arial" panose="020B0604020202020204" pitchFamily="34" charset="0"/>
            </a:endParaRPr>
          </a:p>
        </p:txBody>
      </p:sp>
      <p:sp>
        <p:nvSpPr>
          <p:cNvPr id="12" name="CuadroTexto 11">
            <a:extLst>
              <a:ext uri="{FF2B5EF4-FFF2-40B4-BE49-F238E27FC236}">
                <a16:creationId xmlns:a16="http://schemas.microsoft.com/office/drawing/2014/main" id="{C0DD6EF5-F7D1-9D6B-D0DC-60B7215A555A}"/>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3" name="CuadroTexto 12">
            <a:extLst>
              <a:ext uri="{FF2B5EF4-FFF2-40B4-BE49-F238E27FC236}">
                <a16:creationId xmlns:a16="http://schemas.microsoft.com/office/drawing/2014/main" id="{92EBB078-72FD-8802-C7B2-E94F8BBCA984}"/>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383971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D29455A-B5BE-1D31-5CAA-E622CD96BC78}"/>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Errores y aciertos del árbol optimizado</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30E0E65B-9130-BAB0-9A07-D799FD305B0D}"/>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7392B793-3DAD-CBA3-7DB7-87049E9F8A46}"/>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09</a:t>
            </a:r>
          </a:p>
        </p:txBody>
      </p:sp>
      <p:pic>
        <p:nvPicPr>
          <p:cNvPr id="6" name="Imagen 5">
            <a:extLst>
              <a:ext uri="{FF2B5EF4-FFF2-40B4-BE49-F238E27FC236}">
                <a16:creationId xmlns:a16="http://schemas.microsoft.com/office/drawing/2014/main" id="{BBF23B1B-D889-E893-E1BB-0EA88F2878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397000"/>
            <a:ext cx="6350000" cy="4572000"/>
          </a:xfrm>
          <a:prstGeom prst="rect">
            <a:avLst/>
          </a:prstGeom>
        </p:spPr>
      </p:pic>
      <p:sp>
        <p:nvSpPr>
          <p:cNvPr id="7" name="CuadroTexto 6">
            <a:extLst>
              <a:ext uri="{FF2B5EF4-FFF2-40B4-BE49-F238E27FC236}">
                <a16:creationId xmlns:a16="http://schemas.microsoft.com/office/drawing/2014/main" id="{C07CE8A4-393D-7C61-A84F-26991898F1B8}"/>
              </a:ext>
            </a:extLst>
          </p:cNvPr>
          <p:cNvSpPr txBox="1"/>
          <p:nvPr/>
        </p:nvSpPr>
        <p:spPr>
          <a:xfrm>
            <a:off x="7620000" y="1600200"/>
            <a:ext cx="3175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DEMORAS REALES</a:t>
            </a:r>
          </a:p>
        </p:txBody>
      </p:sp>
      <p:sp>
        <p:nvSpPr>
          <p:cNvPr id="8" name="CuadroTexto 7">
            <a:extLst>
              <a:ext uri="{FF2B5EF4-FFF2-40B4-BE49-F238E27FC236}">
                <a16:creationId xmlns:a16="http://schemas.microsoft.com/office/drawing/2014/main" id="{8EA60568-8C3B-AE58-F829-A14C4AF09F70}"/>
              </a:ext>
            </a:extLst>
          </p:cNvPr>
          <p:cNvSpPr txBox="1"/>
          <p:nvPr/>
        </p:nvSpPr>
        <p:spPr>
          <a:xfrm>
            <a:off x="7620000" y="1981200"/>
            <a:ext cx="3302000" cy="276999"/>
          </a:xfrm>
          <a:prstGeom prst="rect">
            <a:avLst/>
          </a:prstGeom>
          <a:noFill/>
        </p:spPr>
        <p:txBody>
          <a:bodyPr vert="horz" wrap="square" lIns="0" tIns="0" rIns="0" bIns="0" rtlCol="0">
            <a:noAutofit/>
          </a:bodyPr>
          <a:lstStyle/>
          <a:p>
            <a:r>
              <a:rPr lang="es-SV" sz="3400" b="1">
                <a:solidFill>
                  <a:srgbClr val="4C956C"/>
                </a:solidFill>
                <a:latin typeface="Arial" panose="020B0604020202020204" pitchFamily="34" charset="0"/>
              </a:rPr>
              <a:t>58,549</a:t>
            </a:r>
          </a:p>
        </p:txBody>
      </p:sp>
      <p:sp>
        <p:nvSpPr>
          <p:cNvPr id="9" name="CuadroTexto 8">
            <a:extLst>
              <a:ext uri="{FF2B5EF4-FFF2-40B4-BE49-F238E27FC236}">
                <a16:creationId xmlns:a16="http://schemas.microsoft.com/office/drawing/2014/main" id="{88F32B0F-A11B-6029-46DC-C710CFF66B19}"/>
              </a:ext>
            </a:extLst>
          </p:cNvPr>
          <p:cNvSpPr txBox="1"/>
          <p:nvPr/>
        </p:nvSpPr>
        <p:spPr>
          <a:xfrm>
            <a:off x="7620000" y="2641600"/>
            <a:ext cx="3302000" cy="276999"/>
          </a:xfrm>
          <a:prstGeom prst="rect">
            <a:avLst/>
          </a:prstGeom>
          <a:noFill/>
        </p:spPr>
        <p:txBody>
          <a:bodyPr vert="horz" wrap="square" lIns="0" tIns="0" rIns="0" bIns="0" rtlCol="0">
            <a:noAutofit/>
          </a:bodyPr>
          <a:lstStyle/>
          <a:p>
            <a:r>
              <a:rPr lang="es-SV" sz="1600">
                <a:solidFill>
                  <a:srgbClr val="111111"/>
                </a:solidFill>
                <a:latin typeface="Arial" panose="020B0604020202020204" pitchFamily="34" charset="0"/>
              </a:rPr>
              <a:t>detectadas correctamente</a:t>
            </a:r>
          </a:p>
        </p:txBody>
      </p:sp>
      <p:sp>
        <p:nvSpPr>
          <p:cNvPr id="10" name="CuadroTexto 9">
            <a:extLst>
              <a:ext uri="{FF2B5EF4-FFF2-40B4-BE49-F238E27FC236}">
                <a16:creationId xmlns:a16="http://schemas.microsoft.com/office/drawing/2014/main" id="{26E751C4-A16C-5103-C393-21793AB66837}"/>
              </a:ext>
            </a:extLst>
          </p:cNvPr>
          <p:cNvSpPr txBox="1"/>
          <p:nvPr/>
        </p:nvSpPr>
        <p:spPr>
          <a:xfrm>
            <a:off x="7620000" y="3479800"/>
            <a:ext cx="3302000" cy="276999"/>
          </a:xfrm>
          <a:prstGeom prst="rect">
            <a:avLst/>
          </a:prstGeom>
          <a:noFill/>
        </p:spPr>
        <p:txBody>
          <a:bodyPr vert="horz" wrap="square" lIns="0" tIns="0" rIns="0" bIns="0" rtlCol="0">
            <a:noAutofit/>
          </a:bodyPr>
          <a:lstStyle/>
          <a:p>
            <a:r>
              <a:rPr lang="es-SV" sz="3200" b="1">
                <a:solidFill>
                  <a:srgbClr val="D95F02"/>
                </a:solidFill>
                <a:latin typeface="Arial" panose="020B0604020202020204" pitchFamily="34" charset="0"/>
              </a:rPr>
              <a:t>2,982</a:t>
            </a:r>
          </a:p>
        </p:txBody>
      </p:sp>
      <p:sp>
        <p:nvSpPr>
          <p:cNvPr id="11" name="CuadroTexto 10">
            <a:extLst>
              <a:ext uri="{FF2B5EF4-FFF2-40B4-BE49-F238E27FC236}">
                <a16:creationId xmlns:a16="http://schemas.microsoft.com/office/drawing/2014/main" id="{F8320381-940D-57F9-B140-EE12CC0D3497}"/>
              </a:ext>
            </a:extLst>
          </p:cNvPr>
          <p:cNvSpPr txBox="1"/>
          <p:nvPr/>
        </p:nvSpPr>
        <p:spPr>
          <a:xfrm>
            <a:off x="7620000" y="4114800"/>
            <a:ext cx="3302000" cy="276999"/>
          </a:xfrm>
          <a:prstGeom prst="rect">
            <a:avLst/>
          </a:prstGeom>
          <a:noFill/>
        </p:spPr>
        <p:txBody>
          <a:bodyPr vert="horz" wrap="square" lIns="0" tIns="0" rIns="0" bIns="0" rtlCol="0">
            <a:noAutofit/>
          </a:bodyPr>
          <a:lstStyle/>
          <a:p>
            <a:r>
              <a:rPr lang="es-SV" sz="1600">
                <a:solidFill>
                  <a:srgbClr val="111111"/>
                </a:solidFill>
                <a:latin typeface="Arial" panose="020B0604020202020204" pitchFamily="34" charset="0"/>
              </a:rPr>
              <a:t>demoras sin alerta</a:t>
            </a:r>
          </a:p>
        </p:txBody>
      </p:sp>
      <p:sp>
        <p:nvSpPr>
          <p:cNvPr id="12" name="CuadroTexto 11">
            <a:extLst>
              <a:ext uri="{FF2B5EF4-FFF2-40B4-BE49-F238E27FC236}">
                <a16:creationId xmlns:a16="http://schemas.microsoft.com/office/drawing/2014/main" id="{16201C7D-56CD-133E-30C7-F55D0176AA48}"/>
              </a:ext>
            </a:extLst>
          </p:cNvPr>
          <p:cNvSpPr txBox="1"/>
          <p:nvPr/>
        </p:nvSpPr>
        <p:spPr>
          <a:xfrm>
            <a:off x="7620000" y="4902200"/>
            <a:ext cx="3302000" cy="276999"/>
          </a:xfrm>
          <a:prstGeom prst="rect">
            <a:avLst/>
          </a:prstGeom>
          <a:noFill/>
        </p:spPr>
        <p:txBody>
          <a:bodyPr vert="horz" wrap="square" lIns="0" tIns="0" rIns="0" bIns="0" rtlCol="0">
            <a:noAutofit/>
          </a:bodyPr>
          <a:lstStyle/>
          <a:p>
            <a:r>
              <a:rPr lang="es-SV" sz="3000" b="1">
                <a:solidFill>
                  <a:srgbClr val="2F6F9F"/>
                </a:solidFill>
                <a:latin typeface="Arial" panose="020B0604020202020204" pitchFamily="34" charset="0"/>
              </a:rPr>
              <a:t>29,328</a:t>
            </a:r>
          </a:p>
        </p:txBody>
      </p:sp>
      <p:sp>
        <p:nvSpPr>
          <p:cNvPr id="13" name="CuadroTexto 12">
            <a:extLst>
              <a:ext uri="{FF2B5EF4-FFF2-40B4-BE49-F238E27FC236}">
                <a16:creationId xmlns:a16="http://schemas.microsoft.com/office/drawing/2014/main" id="{BE9AC0BE-1850-2CA3-C91D-3038C8C2634D}"/>
              </a:ext>
            </a:extLst>
          </p:cNvPr>
          <p:cNvSpPr txBox="1"/>
          <p:nvPr/>
        </p:nvSpPr>
        <p:spPr>
          <a:xfrm>
            <a:off x="7620000" y="5461000"/>
            <a:ext cx="3429000" cy="276999"/>
          </a:xfrm>
          <a:prstGeom prst="rect">
            <a:avLst/>
          </a:prstGeom>
          <a:noFill/>
        </p:spPr>
        <p:txBody>
          <a:bodyPr vert="horz" wrap="square" lIns="0" tIns="0" rIns="0" bIns="0" rtlCol="0">
            <a:noAutofit/>
          </a:bodyPr>
          <a:lstStyle/>
          <a:p>
            <a:r>
              <a:rPr lang="es-SV" sz="1600">
                <a:solidFill>
                  <a:srgbClr val="111111"/>
                </a:solidFill>
                <a:latin typeface="Arial" panose="020B0604020202020204" pitchFamily="34" charset="0"/>
              </a:rPr>
              <a:t>falsos positivos para revisión</a:t>
            </a:r>
          </a:p>
        </p:txBody>
      </p:sp>
      <p:sp>
        <p:nvSpPr>
          <p:cNvPr id="14" name="CuadroTexto 13">
            <a:extLst>
              <a:ext uri="{FF2B5EF4-FFF2-40B4-BE49-F238E27FC236}">
                <a16:creationId xmlns:a16="http://schemas.microsoft.com/office/drawing/2014/main" id="{86CC3D0F-BB96-B839-5FD2-EBD52BEBCEFD}"/>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5" name="CuadroTexto 14">
            <a:extLst>
              <a:ext uri="{FF2B5EF4-FFF2-40B4-BE49-F238E27FC236}">
                <a16:creationId xmlns:a16="http://schemas.microsoft.com/office/drawing/2014/main" id="{B33F2D53-8448-018A-EE34-6F14FA55ACBC}"/>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168977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B27E354-D5CB-66AA-B09E-3C0B25F4B783}"/>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Agencia y tipo de reclamo dominan la predicción</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D9C972F8-603A-7D3B-FB53-FD9D01A58033}"/>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930F68B4-1CE1-3892-4BED-0E4867868024}"/>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10</a:t>
            </a:r>
          </a:p>
        </p:txBody>
      </p:sp>
      <p:pic>
        <p:nvPicPr>
          <p:cNvPr id="6" name="Imagen 5">
            <a:extLst>
              <a:ext uri="{FF2B5EF4-FFF2-40B4-BE49-F238E27FC236}">
                <a16:creationId xmlns:a16="http://schemas.microsoft.com/office/drawing/2014/main" id="{8723F049-C24D-D14F-575E-7159A537153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1473200"/>
            <a:ext cx="7112000" cy="4318000"/>
          </a:xfrm>
          <a:prstGeom prst="rect">
            <a:avLst/>
          </a:prstGeom>
        </p:spPr>
      </p:pic>
      <p:sp>
        <p:nvSpPr>
          <p:cNvPr id="7" name="CuadroTexto 6">
            <a:extLst>
              <a:ext uri="{FF2B5EF4-FFF2-40B4-BE49-F238E27FC236}">
                <a16:creationId xmlns:a16="http://schemas.microsoft.com/office/drawing/2014/main" id="{573E41C9-D01B-8C11-63EC-E11696082077}"/>
              </a:ext>
            </a:extLst>
          </p:cNvPr>
          <p:cNvSpPr txBox="1"/>
          <p:nvPr/>
        </p:nvSpPr>
        <p:spPr>
          <a:xfrm>
            <a:off x="8305800" y="1778000"/>
            <a:ext cx="2794000" cy="276999"/>
          </a:xfrm>
          <a:prstGeom prst="rect">
            <a:avLst/>
          </a:prstGeom>
          <a:noFill/>
        </p:spPr>
        <p:txBody>
          <a:bodyPr vert="horz" wrap="square" lIns="0" tIns="0" rIns="0" bIns="0" rtlCol="0">
            <a:noAutofit/>
          </a:bodyPr>
          <a:lstStyle/>
          <a:p>
            <a:r>
              <a:rPr lang="es-SV" sz="3400" b="1">
                <a:solidFill>
                  <a:srgbClr val="17365D"/>
                </a:solidFill>
                <a:latin typeface="Arial" panose="020B0604020202020204" pitchFamily="34" charset="0"/>
              </a:rPr>
              <a:t>79.95%</a:t>
            </a:r>
          </a:p>
        </p:txBody>
      </p:sp>
      <p:sp>
        <p:nvSpPr>
          <p:cNvPr id="8" name="CuadroTexto 7">
            <a:extLst>
              <a:ext uri="{FF2B5EF4-FFF2-40B4-BE49-F238E27FC236}">
                <a16:creationId xmlns:a16="http://schemas.microsoft.com/office/drawing/2014/main" id="{792750A7-13AF-DC69-21C2-651A45CD714E}"/>
              </a:ext>
            </a:extLst>
          </p:cNvPr>
          <p:cNvSpPr txBox="1"/>
          <p:nvPr/>
        </p:nvSpPr>
        <p:spPr>
          <a:xfrm>
            <a:off x="8305800" y="2463800"/>
            <a:ext cx="2794000" cy="276999"/>
          </a:xfrm>
          <a:prstGeom prst="rect">
            <a:avLst/>
          </a:prstGeom>
          <a:noFill/>
        </p:spPr>
        <p:txBody>
          <a:bodyPr vert="horz" wrap="square" lIns="0" tIns="0" rIns="0" bIns="0" rtlCol="0">
            <a:noAutofit/>
          </a:bodyPr>
          <a:lstStyle/>
          <a:p>
            <a:r>
              <a:rPr lang="es-SV" sz="1600">
                <a:solidFill>
                  <a:srgbClr val="111111"/>
                </a:solidFill>
                <a:latin typeface="Arial" panose="020B0604020202020204" pitchFamily="34" charset="0"/>
              </a:rPr>
              <a:t>importancia agregada de agency</a:t>
            </a:r>
          </a:p>
        </p:txBody>
      </p:sp>
      <p:sp>
        <p:nvSpPr>
          <p:cNvPr id="9" name="CuadroTexto 8">
            <a:extLst>
              <a:ext uri="{FF2B5EF4-FFF2-40B4-BE49-F238E27FC236}">
                <a16:creationId xmlns:a16="http://schemas.microsoft.com/office/drawing/2014/main" id="{8A9F34E7-C67E-0F40-CA8A-FBC11B712563}"/>
              </a:ext>
            </a:extLst>
          </p:cNvPr>
          <p:cNvSpPr txBox="1"/>
          <p:nvPr/>
        </p:nvSpPr>
        <p:spPr>
          <a:xfrm>
            <a:off x="8305800" y="3632200"/>
            <a:ext cx="2794000" cy="276999"/>
          </a:xfrm>
          <a:prstGeom prst="rect">
            <a:avLst/>
          </a:prstGeom>
          <a:noFill/>
        </p:spPr>
        <p:txBody>
          <a:bodyPr vert="horz" wrap="square" lIns="0" tIns="0" rIns="0" bIns="0" rtlCol="0">
            <a:noAutofit/>
          </a:bodyPr>
          <a:lstStyle/>
          <a:p>
            <a:r>
              <a:rPr lang="es-SV" sz="3400" b="1">
                <a:solidFill>
                  <a:srgbClr val="2F6F9F"/>
                </a:solidFill>
                <a:latin typeface="Arial" panose="020B0604020202020204" pitchFamily="34" charset="0"/>
              </a:rPr>
              <a:t>16.27%</a:t>
            </a:r>
          </a:p>
        </p:txBody>
      </p:sp>
      <p:sp>
        <p:nvSpPr>
          <p:cNvPr id="10" name="CuadroTexto 9">
            <a:extLst>
              <a:ext uri="{FF2B5EF4-FFF2-40B4-BE49-F238E27FC236}">
                <a16:creationId xmlns:a16="http://schemas.microsoft.com/office/drawing/2014/main" id="{0DDDA459-359E-DECF-B8FB-1F2BFC2ACF52}"/>
              </a:ext>
            </a:extLst>
          </p:cNvPr>
          <p:cNvSpPr txBox="1"/>
          <p:nvPr/>
        </p:nvSpPr>
        <p:spPr>
          <a:xfrm>
            <a:off x="8305800" y="4318000"/>
            <a:ext cx="2921000" cy="276999"/>
          </a:xfrm>
          <a:prstGeom prst="rect">
            <a:avLst/>
          </a:prstGeom>
          <a:noFill/>
        </p:spPr>
        <p:txBody>
          <a:bodyPr vert="horz" wrap="square" lIns="0" tIns="0" rIns="0" bIns="0" rtlCol="0">
            <a:noAutofit/>
          </a:bodyPr>
          <a:lstStyle/>
          <a:p>
            <a:r>
              <a:rPr lang="es-SV" sz="1600">
                <a:solidFill>
                  <a:srgbClr val="111111"/>
                </a:solidFill>
                <a:latin typeface="Arial" panose="020B0604020202020204" pitchFamily="34" charset="0"/>
              </a:rPr>
              <a:t>importancia agregada de complaint_type</a:t>
            </a:r>
          </a:p>
        </p:txBody>
      </p:sp>
      <p:sp>
        <p:nvSpPr>
          <p:cNvPr id="11" name="CuadroTexto 10">
            <a:extLst>
              <a:ext uri="{FF2B5EF4-FFF2-40B4-BE49-F238E27FC236}">
                <a16:creationId xmlns:a16="http://schemas.microsoft.com/office/drawing/2014/main" id="{E13A7FC1-980A-55FD-C5E8-E77C92B3F854}"/>
              </a:ext>
            </a:extLst>
          </p:cNvPr>
          <p:cNvSpPr txBox="1"/>
          <p:nvPr/>
        </p:nvSpPr>
        <p:spPr>
          <a:xfrm>
            <a:off x="8305800" y="5359400"/>
            <a:ext cx="3022600" cy="276999"/>
          </a:xfrm>
          <a:prstGeom prst="rect">
            <a:avLst/>
          </a:prstGeom>
          <a:noFill/>
        </p:spPr>
        <p:txBody>
          <a:bodyPr vert="horz" wrap="square" lIns="0" tIns="0" rIns="0" bIns="0" rtlCol="0">
            <a:noAutofit/>
          </a:bodyPr>
          <a:lstStyle/>
          <a:p>
            <a:r>
              <a:rPr lang="es-419" sz="1400" b="1">
                <a:solidFill>
                  <a:srgbClr val="D95F02"/>
                </a:solidFill>
                <a:latin typeface="Arial" panose="020B0604020202020204" pitchFamily="34" charset="0"/>
              </a:rPr>
              <a:t>La importancia es predictiva. No demuestra causalidad.</a:t>
            </a:r>
            <a:endParaRPr lang="es-SV" sz="1400" b="1">
              <a:solidFill>
                <a:srgbClr val="D95F02"/>
              </a:solidFill>
              <a:latin typeface="Arial" panose="020B0604020202020204" pitchFamily="34" charset="0"/>
            </a:endParaRPr>
          </a:p>
        </p:txBody>
      </p:sp>
      <p:sp>
        <p:nvSpPr>
          <p:cNvPr id="12" name="CuadroTexto 11">
            <a:extLst>
              <a:ext uri="{FF2B5EF4-FFF2-40B4-BE49-F238E27FC236}">
                <a16:creationId xmlns:a16="http://schemas.microsoft.com/office/drawing/2014/main" id="{73172A0D-A5F4-5DEA-BD2D-D1ADBE0E7DEA}"/>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3" name="CuadroTexto 12">
            <a:extLst>
              <a:ext uri="{FF2B5EF4-FFF2-40B4-BE49-F238E27FC236}">
                <a16:creationId xmlns:a16="http://schemas.microsoft.com/office/drawing/2014/main" id="{30D68A9F-7F6E-0935-E3B6-02924A4ABC4F}"/>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4207103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6A4A2BE-78C3-EBB2-40BC-4E226AEDE322}"/>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Construcción de perfiles para K-Means</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3092146D-23EE-8B65-D8D4-C23F5F0F799A}"/>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CC9D7B5F-56DB-D9D2-A4DB-542FCF437897}"/>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11</a:t>
            </a:r>
          </a:p>
        </p:txBody>
      </p:sp>
      <p:sp>
        <p:nvSpPr>
          <p:cNvPr id="5" name="CuadroTexto 4">
            <a:extLst>
              <a:ext uri="{FF2B5EF4-FFF2-40B4-BE49-F238E27FC236}">
                <a16:creationId xmlns:a16="http://schemas.microsoft.com/office/drawing/2014/main" id="{0B2DE49B-9E75-F194-A043-403FE9D2A8F3}"/>
              </a:ext>
            </a:extLst>
          </p:cNvPr>
          <p:cNvSpPr txBox="1"/>
          <p:nvPr/>
        </p:nvSpPr>
        <p:spPr>
          <a:xfrm>
            <a:off x="685800" y="1524000"/>
            <a:ext cx="3810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MUCHAS SOLICITUDES</a:t>
            </a:r>
          </a:p>
        </p:txBody>
      </p:sp>
      <p:graphicFrame>
        <p:nvGraphicFramePr>
          <p:cNvPr id="6" name="Tabla 5">
            <a:extLst>
              <a:ext uri="{FF2B5EF4-FFF2-40B4-BE49-F238E27FC236}">
                <a16:creationId xmlns:a16="http://schemas.microsoft.com/office/drawing/2014/main" id="{2929C49C-B12E-B211-F4A2-9FBA0526D714}"/>
              </a:ext>
            </a:extLst>
          </p:cNvPr>
          <p:cNvGraphicFramePr>
            <a:graphicFrameLocks noGrp="1"/>
          </p:cNvGraphicFramePr>
          <p:nvPr>
            <p:extLst>
              <p:ext uri="{D42A27DB-BD31-4B8C-83A1-F6EECF244321}">
                <p14:modId xmlns:p14="http://schemas.microsoft.com/office/powerpoint/2010/main" val="2198131899"/>
              </p:ext>
            </p:extLst>
          </p:nvPr>
        </p:nvGraphicFramePr>
        <p:xfrm>
          <a:off x="685800" y="1955800"/>
          <a:ext cx="5461000" cy="2667000"/>
        </p:xfrm>
        <a:graphic>
          <a:graphicData uri="http://schemas.openxmlformats.org/drawingml/2006/table">
            <a:tbl>
              <a:tblPr firstRow="1" bandRow="1">
                <a:tableStyleId>{5C22544A-7EE6-4342-B048-85BDC9FD1C3A}</a:tableStyleId>
              </a:tblPr>
              <a:tblGrid>
                <a:gridCol w="1820333">
                  <a:extLst>
                    <a:ext uri="{9D8B030D-6E8A-4147-A177-3AD203B41FA5}">
                      <a16:colId xmlns:a16="http://schemas.microsoft.com/office/drawing/2014/main" val="2188862370"/>
                    </a:ext>
                  </a:extLst>
                </a:gridCol>
                <a:gridCol w="1820333">
                  <a:extLst>
                    <a:ext uri="{9D8B030D-6E8A-4147-A177-3AD203B41FA5}">
                      <a16:colId xmlns:a16="http://schemas.microsoft.com/office/drawing/2014/main" val="3837613039"/>
                    </a:ext>
                  </a:extLst>
                </a:gridCol>
                <a:gridCol w="1820333">
                  <a:extLst>
                    <a:ext uri="{9D8B030D-6E8A-4147-A177-3AD203B41FA5}">
                      <a16:colId xmlns:a16="http://schemas.microsoft.com/office/drawing/2014/main" val="3701431895"/>
                    </a:ext>
                  </a:extLst>
                </a:gridCol>
              </a:tblGrid>
              <a:tr h="533400">
                <a:tc>
                  <a:txBody>
                    <a:bodyPr/>
                    <a:lstStyle/>
                    <a:p>
                      <a:pPr algn="ctr"/>
                      <a:r>
                        <a:rPr lang="es-SV" sz="1300" b="1">
                          <a:solidFill>
                            <a:srgbClr val="FFFFFF"/>
                          </a:solidFill>
                          <a:latin typeface="Arial" panose="020B0604020202020204" pitchFamily="34" charset="0"/>
                        </a:rPr>
                        <a:t>agency</a:t>
                      </a:r>
                    </a:p>
                  </a:txBody>
                  <a:tcPr marL="76200" marR="76200" marT="38100" marB="38100">
                    <a:solidFill>
                      <a:srgbClr val="17365D"/>
                    </a:solidFill>
                  </a:tcPr>
                </a:tc>
                <a:tc>
                  <a:txBody>
                    <a:bodyPr/>
                    <a:lstStyle/>
                    <a:p>
                      <a:pPr algn="ctr"/>
                      <a:r>
                        <a:rPr lang="es-SV" sz="1300" b="1">
                          <a:solidFill>
                            <a:srgbClr val="FFFFFF"/>
                          </a:solidFill>
                          <a:latin typeface="Arial" panose="020B0604020202020204" pitchFamily="34" charset="0"/>
                        </a:rPr>
                        <a:t>complaint_type</a:t>
                      </a:r>
                    </a:p>
                  </a:txBody>
                  <a:tcPr marL="76200" marR="76200" marT="38100" marB="38100">
                    <a:solidFill>
                      <a:srgbClr val="17365D"/>
                    </a:solidFill>
                  </a:tcPr>
                </a:tc>
                <a:tc>
                  <a:txBody>
                    <a:bodyPr/>
                    <a:lstStyle/>
                    <a:p>
                      <a:pPr algn="ctr"/>
                      <a:r>
                        <a:rPr lang="es-SV" sz="1300" b="1">
                          <a:solidFill>
                            <a:srgbClr val="FFFFFF"/>
                          </a:solidFill>
                          <a:latin typeface="Arial" panose="020B0604020202020204" pitchFamily="34" charset="0"/>
                        </a:rPr>
                        <a:t>borough</a:t>
                      </a:r>
                    </a:p>
                  </a:txBody>
                  <a:tcPr marL="76200" marR="76200" marT="38100" marB="38100">
                    <a:solidFill>
                      <a:srgbClr val="17365D"/>
                    </a:solidFill>
                  </a:tcPr>
                </a:tc>
                <a:extLst>
                  <a:ext uri="{0D108BD9-81ED-4DB2-BD59-A6C34878D82A}">
                    <a16:rowId xmlns:a16="http://schemas.microsoft.com/office/drawing/2014/main" val="2356962319"/>
                  </a:ext>
                </a:extLst>
              </a:tr>
              <a:tr h="533400">
                <a:tc>
                  <a:txBody>
                    <a:bodyPr/>
                    <a:lstStyle/>
                    <a:p>
                      <a:pPr algn="l"/>
                      <a:r>
                        <a:rPr lang="es-SV" sz="1300" b="1">
                          <a:solidFill>
                            <a:srgbClr val="111111"/>
                          </a:solidFill>
                          <a:latin typeface="Arial" panose="020B0604020202020204" pitchFamily="34" charset="0"/>
                        </a:rPr>
                        <a:t>HPD</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UNSANITARY CONDITION</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BRONX</a:t>
                      </a:r>
                    </a:p>
                  </a:txBody>
                  <a:tcPr marL="76200" marR="76200" marT="38100" marB="38100">
                    <a:solidFill>
                      <a:srgbClr val="FFFFFF"/>
                    </a:solidFill>
                  </a:tcPr>
                </a:tc>
                <a:extLst>
                  <a:ext uri="{0D108BD9-81ED-4DB2-BD59-A6C34878D82A}">
                    <a16:rowId xmlns:a16="http://schemas.microsoft.com/office/drawing/2014/main" val="2028833324"/>
                  </a:ext>
                </a:extLst>
              </a:tr>
              <a:tr h="533400">
                <a:tc>
                  <a:txBody>
                    <a:bodyPr/>
                    <a:lstStyle/>
                    <a:p>
                      <a:pPr algn="l"/>
                      <a:r>
                        <a:rPr lang="es-SV" sz="1300" b="1">
                          <a:solidFill>
                            <a:srgbClr val="111111"/>
                          </a:solidFill>
                          <a:latin typeface="Arial" panose="020B0604020202020204" pitchFamily="34" charset="0"/>
                        </a:rPr>
                        <a:t>HPD</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UNSANITARY CONDITION</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BRONX</a:t>
                      </a:r>
                    </a:p>
                  </a:txBody>
                  <a:tcPr marL="76200" marR="76200" marT="38100" marB="38100">
                    <a:solidFill>
                      <a:srgbClr val="F2F4F6"/>
                    </a:solidFill>
                  </a:tcPr>
                </a:tc>
                <a:extLst>
                  <a:ext uri="{0D108BD9-81ED-4DB2-BD59-A6C34878D82A}">
                    <a16:rowId xmlns:a16="http://schemas.microsoft.com/office/drawing/2014/main" val="3967009223"/>
                  </a:ext>
                </a:extLst>
              </a:tr>
              <a:tr h="533400">
                <a:tc>
                  <a:txBody>
                    <a:bodyPr/>
                    <a:lstStyle/>
                    <a:p>
                      <a:pPr algn="l"/>
                      <a:r>
                        <a:rPr lang="es-SV" sz="1300" b="1">
                          <a:solidFill>
                            <a:srgbClr val="111111"/>
                          </a:solidFill>
                          <a:latin typeface="Arial" panose="020B0604020202020204" pitchFamily="34" charset="0"/>
                        </a:rPr>
                        <a:t>HPD</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UNSANITARY CONDITION</a:t>
                      </a:r>
                    </a:p>
                  </a:txBody>
                  <a:tcPr marL="76200" marR="76200" marT="38100" marB="38100">
                    <a:solidFill>
                      <a:srgbClr val="FFFFFF"/>
                    </a:solidFill>
                  </a:tcPr>
                </a:tc>
                <a:tc>
                  <a:txBody>
                    <a:bodyPr/>
                    <a:lstStyle/>
                    <a:p>
                      <a:pPr algn="l"/>
                      <a:r>
                        <a:rPr lang="es-SV" sz="1300" b="0">
                          <a:solidFill>
                            <a:srgbClr val="111111"/>
                          </a:solidFill>
                          <a:latin typeface="Arial" panose="020B0604020202020204" pitchFamily="34" charset="0"/>
                        </a:rPr>
                        <a:t>BRONX</a:t>
                      </a:r>
                    </a:p>
                  </a:txBody>
                  <a:tcPr marL="76200" marR="76200" marT="38100" marB="38100">
                    <a:solidFill>
                      <a:srgbClr val="FFFFFF"/>
                    </a:solidFill>
                  </a:tcPr>
                </a:tc>
                <a:extLst>
                  <a:ext uri="{0D108BD9-81ED-4DB2-BD59-A6C34878D82A}">
                    <a16:rowId xmlns:a16="http://schemas.microsoft.com/office/drawing/2014/main" val="108097880"/>
                  </a:ext>
                </a:extLst>
              </a:tr>
              <a:tr h="533400">
                <a:tc>
                  <a:txBody>
                    <a:bodyPr/>
                    <a:lstStyle/>
                    <a:p>
                      <a:pPr algn="l"/>
                      <a:r>
                        <a:rPr lang="es-SV" sz="1300" b="1">
                          <a:solidFill>
                            <a:srgbClr val="111111"/>
                          </a:solidFill>
                          <a:latin typeface="Arial" panose="020B0604020202020204" pitchFamily="34" charset="0"/>
                        </a:rPr>
                        <a:t>...</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a:t>
                      </a:r>
                    </a:p>
                  </a:txBody>
                  <a:tcPr marL="76200" marR="76200" marT="38100" marB="38100">
                    <a:solidFill>
                      <a:srgbClr val="F2F4F6"/>
                    </a:solidFill>
                  </a:tcPr>
                </a:tc>
                <a:tc>
                  <a:txBody>
                    <a:bodyPr/>
                    <a:lstStyle/>
                    <a:p>
                      <a:pPr algn="l"/>
                      <a:r>
                        <a:rPr lang="es-SV" sz="1300" b="0">
                          <a:solidFill>
                            <a:srgbClr val="111111"/>
                          </a:solidFill>
                          <a:latin typeface="Arial" panose="020B0604020202020204" pitchFamily="34" charset="0"/>
                        </a:rPr>
                        <a:t>...</a:t>
                      </a:r>
                    </a:p>
                  </a:txBody>
                  <a:tcPr marL="76200" marR="76200" marT="38100" marB="38100">
                    <a:solidFill>
                      <a:srgbClr val="F2F4F6"/>
                    </a:solidFill>
                  </a:tcPr>
                </a:tc>
                <a:extLst>
                  <a:ext uri="{0D108BD9-81ED-4DB2-BD59-A6C34878D82A}">
                    <a16:rowId xmlns:a16="http://schemas.microsoft.com/office/drawing/2014/main" val="2547976444"/>
                  </a:ext>
                </a:extLst>
              </a:tr>
            </a:tbl>
          </a:graphicData>
        </a:graphic>
      </p:graphicFrame>
      <p:cxnSp>
        <p:nvCxnSpPr>
          <p:cNvPr id="7" name="Conector recto de flecha 6">
            <a:extLst>
              <a:ext uri="{FF2B5EF4-FFF2-40B4-BE49-F238E27FC236}">
                <a16:creationId xmlns:a16="http://schemas.microsoft.com/office/drawing/2014/main" id="{A87F3D61-B62C-7270-0D22-EBBF82C8B7C6}"/>
              </a:ext>
            </a:extLst>
          </p:cNvPr>
          <p:cNvCxnSpPr/>
          <p:nvPr/>
        </p:nvCxnSpPr>
        <p:spPr>
          <a:xfrm>
            <a:off x="6350000" y="3289300"/>
            <a:ext cx="635000" cy="0"/>
          </a:xfrm>
          <a:prstGeom prst="straightConnector1">
            <a:avLst/>
          </a:prstGeom>
          <a:ln w="19050">
            <a:solidFill>
              <a:srgbClr val="2F6F9F"/>
            </a:solidFill>
            <a:tailEnd type="arrow"/>
          </a:ln>
        </p:spPr>
        <p:style>
          <a:lnRef idx="2">
            <a:schemeClr val="accent1"/>
          </a:lnRef>
          <a:fillRef idx="0">
            <a:schemeClr val="accent1"/>
          </a:fillRef>
          <a:effectRef idx="1">
            <a:schemeClr val="accent1"/>
          </a:effectRef>
          <a:fontRef idx="minor">
            <a:schemeClr val="tx1"/>
          </a:fontRef>
        </p:style>
      </p:cxnSp>
      <p:sp>
        <p:nvSpPr>
          <p:cNvPr id="8" name="CuadroTexto 7">
            <a:extLst>
              <a:ext uri="{FF2B5EF4-FFF2-40B4-BE49-F238E27FC236}">
                <a16:creationId xmlns:a16="http://schemas.microsoft.com/office/drawing/2014/main" id="{FC66AEC9-F6AC-9A62-CF26-3D86854174E3}"/>
              </a:ext>
            </a:extLst>
          </p:cNvPr>
          <p:cNvSpPr txBox="1"/>
          <p:nvPr/>
        </p:nvSpPr>
        <p:spPr>
          <a:xfrm>
            <a:off x="7289800" y="1524000"/>
            <a:ext cx="3810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UN PERFIL AGREGADO</a:t>
            </a:r>
          </a:p>
        </p:txBody>
      </p:sp>
      <p:sp>
        <p:nvSpPr>
          <p:cNvPr id="9" name="CuadroTexto 8">
            <a:extLst>
              <a:ext uri="{FF2B5EF4-FFF2-40B4-BE49-F238E27FC236}">
                <a16:creationId xmlns:a16="http://schemas.microsoft.com/office/drawing/2014/main" id="{55AAE860-7E95-9E3D-6614-94441F456952}"/>
              </a:ext>
            </a:extLst>
          </p:cNvPr>
          <p:cNvSpPr txBox="1"/>
          <p:nvPr/>
        </p:nvSpPr>
        <p:spPr>
          <a:xfrm>
            <a:off x="7289800" y="2006600"/>
            <a:ext cx="4064000" cy="276999"/>
          </a:xfrm>
          <a:prstGeom prst="rect">
            <a:avLst/>
          </a:prstGeom>
          <a:noFill/>
        </p:spPr>
        <p:txBody>
          <a:bodyPr vert="horz" wrap="square" lIns="0" tIns="0" rIns="0" bIns="0" rtlCol="0">
            <a:noAutofit/>
          </a:bodyPr>
          <a:lstStyle/>
          <a:p>
            <a:r>
              <a:rPr lang="es-SV" b="1">
                <a:solidFill>
                  <a:srgbClr val="17365D"/>
                </a:solidFill>
                <a:latin typeface="Arial" panose="020B0604020202020204" pitchFamily="34" charset="0"/>
              </a:rPr>
              <a:t>HPD + UNSANITARY CONDITION + BRONX</a:t>
            </a:r>
          </a:p>
          <a:p>
            <a:endParaRPr lang="es-SV" b="1">
              <a:solidFill>
                <a:srgbClr val="17365D"/>
              </a:solidFill>
              <a:latin typeface="Arial" panose="020B0604020202020204" pitchFamily="34" charset="0"/>
            </a:endParaRPr>
          </a:p>
          <a:p>
            <a:r>
              <a:rPr lang="es-SV" b="1">
                <a:solidFill>
                  <a:srgbClr val="17365D"/>
                </a:solidFill>
                <a:latin typeface="Arial" panose="020B0604020202020204" pitchFamily="34" charset="0"/>
              </a:rPr>
              <a:t>14,286 solicitudes</a:t>
            </a:r>
          </a:p>
          <a:p>
            <a:r>
              <a:rPr lang="es-SV" b="1">
                <a:solidFill>
                  <a:srgbClr val="17365D"/>
                </a:solidFill>
                <a:latin typeface="Arial" panose="020B0604020202020204" pitchFamily="34" charset="0"/>
              </a:rPr>
              <a:t>mediana 13,285 min</a:t>
            </a:r>
          </a:p>
          <a:p>
            <a:r>
              <a:rPr lang="es-SV" b="1">
                <a:solidFill>
                  <a:srgbClr val="17365D"/>
                </a:solidFill>
                <a:latin typeface="Arial" panose="020B0604020202020204" pitchFamily="34" charset="0"/>
              </a:rPr>
              <a:t>89.46% con demora</a:t>
            </a:r>
          </a:p>
        </p:txBody>
      </p:sp>
      <p:sp>
        <p:nvSpPr>
          <p:cNvPr id="10" name="CuadroTexto 9">
            <a:extLst>
              <a:ext uri="{FF2B5EF4-FFF2-40B4-BE49-F238E27FC236}">
                <a16:creationId xmlns:a16="http://schemas.microsoft.com/office/drawing/2014/main" id="{1D81A175-8B7D-DDC6-94F7-F0A5F2956D01}"/>
              </a:ext>
            </a:extLst>
          </p:cNvPr>
          <p:cNvSpPr txBox="1"/>
          <p:nvPr/>
        </p:nvSpPr>
        <p:spPr>
          <a:xfrm>
            <a:off x="7289800" y="4368800"/>
            <a:ext cx="4064000" cy="276999"/>
          </a:xfrm>
          <a:prstGeom prst="rect">
            <a:avLst/>
          </a:prstGeom>
          <a:noFill/>
        </p:spPr>
        <p:txBody>
          <a:bodyPr vert="horz" wrap="square" lIns="0" tIns="0" rIns="0" bIns="0" rtlCol="0">
            <a:noAutofit/>
          </a:bodyPr>
          <a:lstStyle/>
          <a:p>
            <a:r>
              <a:rPr lang="es-419" sz="1600">
                <a:solidFill>
                  <a:srgbClr val="111111"/>
                </a:solidFill>
                <a:latin typeface="Arial" panose="020B0604020202020204" pitchFamily="34" charset="0"/>
              </a:rPr>
              <a:t>Cada combinación de agencia, tipo de reclamo y borough aporta un registro a K-Means.</a:t>
            </a:r>
            <a:endParaRPr lang="es-SV" sz="1600">
              <a:solidFill>
                <a:srgbClr val="111111"/>
              </a:solidFill>
              <a:latin typeface="Arial" panose="020B0604020202020204" pitchFamily="34" charset="0"/>
            </a:endParaRPr>
          </a:p>
        </p:txBody>
      </p:sp>
      <p:sp>
        <p:nvSpPr>
          <p:cNvPr id="11" name="CuadroTexto 10">
            <a:extLst>
              <a:ext uri="{FF2B5EF4-FFF2-40B4-BE49-F238E27FC236}">
                <a16:creationId xmlns:a16="http://schemas.microsoft.com/office/drawing/2014/main" id="{82C6D9CE-7A19-0CDD-5A36-703345165DBC}"/>
              </a:ext>
            </a:extLst>
          </p:cNvPr>
          <p:cNvSpPr txBox="1"/>
          <p:nvPr/>
        </p:nvSpPr>
        <p:spPr>
          <a:xfrm>
            <a:off x="889000" y="5664200"/>
            <a:ext cx="10414000" cy="276999"/>
          </a:xfrm>
          <a:prstGeom prst="rect">
            <a:avLst/>
          </a:prstGeom>
          <a:noFill/>
        </p:spPr>
        <p:txBody>
          <a:bodyPr vert="horz" wrap="square" lIns="0" tIns="0" rIns="0" bIns="0" rtlCol="0">
            <a:noAutofit/>
          </a:bodyPr>
          <a:lstStyle/>
          <a:p>
            <a:pPr algn="ctr"/>
            <a:r>
              <a:rPr lang="es-419" sz="1900" b="1">
                <a:solidFill>
                  <a:srgbClr val="D95F02"/>
                </a:solidFill>
                <a:latin typeface="Arial" panose="020B0604020202020204" pitchFamily="34" charset="0"/>
              </a:rPr>
              <a:t>912 perfiles originales   487 con al menos 100 solicitudes   480 perfiles finales</a:t>
            </a:r>
            <a:endParaRPr lang="es-SV" sz="1900" b="1">
              <a:solidFill>
                <a:srgbClr val="D95F02"/>
              </a:solidFill>
              <a:latin typeface="Arial" panose="020B0604020202020204" pitchFamily="34" charset="0"/>
            </a:endParaRPr>
          </a:p>
        </p:txBody>
      </p:sp>
      <p:sp>
        <p:nvSpPr>
          <p:cNvPr id="12" name="CuadroTexto 11">
            <a:extLst>
              <a:ext uri="{FF2B5EF4-FFF2-40B4-BE49-F238E27FC236}">
                <a16:creationId xmlns:a16="http://schemas.microsoft.com/office/drawing/2014/main" id="{C9083EED-CB5D-639F-C04C-CD176179D00D}"/>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3" name="CuadroTexto 12">
            <a:extLst>
              <a:ext uri="{FF2B5EF4-FFF2-40B4-BE49-F238E27FC236}">
                <a16:creationId xmlns:a16="http://schemas.microsoft.com/office/drawing/2014/main" id="{109FD01B-DAD9-763C-800E-3E5524F93E4F}"/>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1091141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8249A6-E53D-65E5-CF67-7DD9C79E221B}"/>
              </a:ext>
            </a:extLst>
          </p:cNvPr>
          <p:cNvSpPr txBox="1"/>
          <p:nvPr/>
        </p:nvSpPr>
        <p:spPr>
          <a:xfrm>
            <a:off x="685800" y="355600"/>
            <a:ext cx="10668000" cy="276999"/>
          </a:xfrm>
          <a:prstGeom prst="rect">
            <a:avLst/>
          </a:prstGeom>
          <a:noFill/>
        </p:spPr>
        <p:txBody>
          <a:bodyPr vert="horz" wrap="square" lIns="0" tIns="0" rIns="0" bIns="0" rtlCol="0">
            <a:noAutofit/>
          </a:bodyPr>
          <a:lstStyle/>
          <a:p>
            <a:r>
              <a:rPr lang="es-419" sz="2600" b="1">
                <a:solidFill>
                  <a:srgbClr val="17365D"/>
                </a:solidFill>
                <a:latin typeface="Arial" panose="020B0604020202020204" pitchFamily="34" charset="0"/>
              </a:rPr>
              <a:t>K igual a 3 ofrece la mejor separación evaluada</a:t>
            </a:r>
            <a:endParaRPr lang="es-SV" sz="2600" b="1">
              <a:solidFill>
                <a:srgbClr val="17365D"/>
              </a:solidFill>
              <a:latin typeface="Arial" panose="020B0604020202020204" pitchFamily="34" charset="0"/>
            </a:endParaRPr>
          </a:p>
        </p:txBody>
      </p:sp>
      <p:sp>
        <p:nvSpPr>
          <p:cNvPr id="3" name="Rectángulo 2">
            <a:extLst>
              <a:ext uri="{FF2B5EF4-FFF2-40B4-BE49-F238E27FC236}">
                <a16:creationId xmlns:a16="http://schemas.microsoft.com/office/drawing/2014/main" id="{2E1BF0B8-2C7A-3FF8-744F-D4D112D915E8}"/>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8DBBA954-F59E-8277-6A36-05A03DF8B1E5}"/>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12</a:t>
            </a:r>
          </a:p>
        </p:txBody>
      </p:sp>
      <p:pic>
        <p:nvPicPr>
          <p:cNvPr id="6" name="Imagen 5">
            <a:extLst>
              <a:ext uri="{FF2B5EF4-FFF2-40B4-BE49-F238E27FC236}">
                <a16:creationId xmlns:a16="http://schemas.microsoft.com/office/drawing/2014/main" id="{E0DB0763-B093-3BDB-7FB0-D07E73409D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549400"/>
            <a:ext cx="7620000" cy="4038600"/>
          </a:xfrm>
          <a:prstGeom prst="rect">
            <a:avLst/>
          </a:prstGeom>
        </p:spPr>
      </p:pic>
      <p:sp>
        <p:nvSpPr>
          <p:cNvPr id="7" name="CuadroTexto 6">
            <a:extLst>
              <a:ext uri="{FF2B5EF4-FFF2-40B4-BE49-F238E27FC236}">
                <a16:creationId xmlns:a16="http://schemas.microsoft.com/office/drawing/2014/main" id="{F91AB309-ED1F-2780-9B19-948C5B7AB76C}"/>
              </a:ext>
            </a:extLst>
          </p:cNvPr>
          <p:cNvSpPr txBox="1"/>
          <p:nvPr/>
        </p:nvSpPr>
        <p:spPr>
          <a:xfrm>
            <a:off x="8890000" y="1854200"/>
            <a:ext cx="2286000" cy="276999"/>
          </a:xfrm>
          <a:prstGeom prst="rect">
            <a:avLst/>
          </a:prstGeom>
          <a:noFill/>
        </p:spPr>
        <p:txBody>
          <a:bodyPr vert="horz" wrap="square" lIns="0" tIns="0" rIns="0" bIns="0" rtlCol="0">
            <a:noAutofit/>
          </a:bodyPr>
          <a:lstStyle/>
          <a:p>
            <a:r>
              <a:rPr lang="es-SV" sz="3600" b="1">
                <a:solidFill>
                  <a:srgbClr val="D95F02"/>
                </a:solidFill>
                <a:latin typeface="Arial" panose="020B0604020202020204" pitchFamily="34" charset="0"/>
              </a:rPr>
              <a:t>0.421</a:t>
            </a:r>
          </a:p>
        </p:txBody>
      </p:sp>
      <p:sp>
        <p:nvSpPr>
          <p:cNvPr id="8" name="CuadroTexto 7">
            <a:extLst>
              <a:ext uri="{FF2B5EF4-FFF2-40B4-BE49-F238E27FC236}">
                <a16:creationId xmlns:a16="http://schemas.microsoft.com/office/drawing/2014/main" id="{20DBCB42-C55D-08B8-18E5-D316646FAEC8}"/>
              </a:ext>
            </a:extLst>
          </p:cNvPr>
          <p:cNvSpPr txBox="1"/>
          <p:nvPr/>
        </p:nvSpPr>
        <p:spPr>
          <a:xfrm>
            <a:off x="8890000" y="2641600"/>
            <a:ext cx="2413000" cy="276999"/>
          </a:xfrm>
          <a:prstGeom prst="rect">
            <a:avLst/>
          </a:prstGeom>
          <a:noFill/>
        </p:spPr>
        <p:txBody>
          <a:bodyPr vert="horz" wrap="square" lIns="0" tIns="0" rIns="0" bIns="0" rtlCol="0">
            <a:noAutofit/>
          </a:bodyPr>
          <a:lstStyle/>
          <a:p>
            <a:r>
              <a:rPr lang="pt-BR" sz="1600">
                <a:solidFill>
                  <a:srgbClr val="111111"/>
                </a:solidFill>
                <a:latin typeface="Arial" panose="020B0604020202020204" pitchFamily="34" charset="0"/>
              </a:rPr>
              <a:t>Silhouette para K igual a 3</a:t>
            </a:r>
            <a:endParaRPr lang="es-SV" sz="1600">
              <a:solidFill>
                <a:srgbClr val="111111"/>
              </a:solidFill>
              <a:latin typeface="Arial" panose="020B0604020202020204" pitchFamily="34" charset="0"/>
            </a:endParaRPr>
          </a:p>
        </p:txBody>
      </p:sp>
      <p:sp>
        <p:nvSpPr>
          <p:cNvPr id="9" name="CuadroTexto 8">
            <a:extLst>
              <a:ext uri="{FF2B5EF4-FFF2-40B4-BE49-F238E27FC236}">
                <a16:creationId xmlns:a16="http://schemas.microsoft.com/office/drawing/2014/main" id="{FD0A9C24-69E9-3B97-0894-ABDC5D7F62EC}"/>
              </a:ext>
            </a:extLst>
          </p:cNvPr>
          <p:cNvSpPr txBox="1"/>
          <p:nvPr/>
        </p:nvSpPr>
        <p:spPr>
          <a:xfrm>
            <a:off x="8890000" y="3886200"/>
            <a:ext cx="1778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LECTURA</a:t>
            </a:r>
          </a:p>
        </p:txBody>
      </p:sp>
      <p:sp>
        <p:nvSpPr>
          <p:cNvPr id="10" name="CuadroTexto 9">
            <a:extLst>
              <a:ext uri="{FF2B5EF4-FFF2-40B4-BE49-F238E27FC236}">
                <a16:creationId xmlns:a16="http://schemas.microsoft.com/office/drawing/2014/main" id="{E85B0C7C-2E4D-3831-8DBC-4E593FD4273F}"/>
              </a:ext>
            </a:extLst>
          </p:cNvPr>
          <p:cNvSpPr txBox="1"/>
          <p:nvPr/>
        </p:nvSpPr>
        <p:spPr>
          <a:xfrm>
            <a:off x="8890000" y="4292600"/>
            <a:ext cx="2413000" cy="276999"/>
          </a:xfrm>
          <a:prstGeom prst="rect">
            <a:avLst/>
          </a:prstGeom>
          <a:noFill/>
        </p:spPr>
        <p:txBody>
          <a:bodyPr vert="horz" wrap="square" lIns="0" tIns="0" rIns="0" bIns="0" rtlCol="0">
            <a:noAutofit/>
          </a:bodyPr>
          <a:lstStyle/>
          <a:p>
            <a:r>
              <a:rPr lang="es-419" sz="1700">
                <a:solidFill>
                  <a:srgbClr val="111111"/>
                </a:solidFill>
                <a:latin typeface="Arial" panose="020B0604020202020204" pitchFamily="34" charset="0"/>
              </a:rPr>
              <a:t>La separación es moderada. Los grupos permiten explorar prioridades y conservan cierto solapamiento.</a:t>
            </a:r>
            <a:endParaRPr lang="es-SV" sz="1700">
              <a:solidFill>
                <a:srgbClr val="111111"/>
              </a:solidFill>
              <a:latin typeface="Arial" panose="020B0604020202020204" pitchFamily="34" charset="0"/>
            </a:endParaRPr>
          </a:p>
        </p:txBody>
      </p:sp>
      <p:sp>
        <p:nvSpPr>
          <p:cNvPr id="11" name="CuadroTexto 10">
            <a:extLst>
              <a:ext uri="{FF2B5EF4-FFF2-40B4-BE49-F238E27FC236}">
                <a16:creationId xmlns:a16="http://schemas.microsoft.com/office/drawing/2014/main" id="{782E7631-DAE6-05B7-8164-7F491EC342BC}"/>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2" name="CuadroTexto 11">
            <a:extLst>
              <a:ext uri="{FF2B5EF4-FFF2-40B4-BE49-F238E27FC236}">
                <a16:creationId xmlns:a16="http://schemas.microsoft.com/office/drawing/2014/main" id="{3F01EAC4-4B0E-FBC5-AB06-0BBDF55EA9F3}"/>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249855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9F25005-C8FB-42CB-A78E-8B3A2AD2937E}"/>
              </a:ext>
            </a:extLst>
          </p:cNvPr>
          <p:cNvSpPr txBox="1"/>
          <p:nvPr/>
        </p:nvSpPr>
        <p:spPr>
          <a:xfrm>
            <a:off x="685800" y="355600"/>
            <a:ext cx="10668000" cy="276999"/>
          </a:xfrm>
          <a:prstGeom prst="rect">
            <a:avLst/>
          </a:prstGeom>
          <a:noFill/>
        </p:spPr>
        <p:txBody>
          <a:bodyPr vert="horz" wrap="square" lIns="0" tIns="0" rIns="0" bIns="0" rtlCol="0">
            <a:noAutofit/>
          </a:bodyPr>
          <a:lstStyle/>
          <a:p>
            <a:r>
              <a:rPr lang="es-SV" sz="2600" b="1">
                <a:solidFill>
                  <a:srgbClr val="17365D"/>
                </a:solidFill>
                <a:latin typeface="Arial" panose="020B0604020202020204" pitchFamily="34" charset="0"/>
              </a:rPr>
              <a:t>Tres perfiles operativos</a:t>
            </a:r>
          </a:p>
        </p:txBody>
      </p:sp>
      <p:sp>
        <p:nvSpPr>
          <p:cNvPr id="3" name="Rectángulo 2">
            <a:extLst>
              <a:ext uri="{FF2B5EF4-FFF2-40B4-BE49-F238E27FC236}">
                <a16:creationId xmlns:a16="http://schemas.microsoft.com/office/drawing/2014/main" id="{79C7B09D-6897-7F61-21E5-FCF043701BC9}"/>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B5A907D4-650A-5A52-C518-DCE02536C5D6}"/>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13</a:t>
            </a:r>
          </a:p>
        </p:txBody>
      </p:sp>
      <p:pic>
        <p:nvPicPr>
          <p:cNvPr id="6" name="Imagen 5">
            <a:extLst>
              <a:ext uri="{FF2B5EF4-FFF2-40B4-BE49-F238E27FC236}">
                <a16:creationId xmlns:a16="http://schemas.microsoft.com/office/drawing/2014/main" id="{270FBA17-CB0A-1801-F95D-07483E1DA3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7200" y="1422400"/>
            <a:ext cx="7429500" cy="4521200"/>
          </a:xfrm>
          <a:prstGeom prst="rect">
            <a:avLst/>
          </a:prstGeom>
        </p:spPr>
      </p:pic>
      <p:sp>
        <p:nvSpPr>
          <p:cNvPr id="7" name="CuadroTexto 6">
            <a:extLst>
              <a:ext uri="{FF2B5EF4-FFF2-40B4-BE49-F238E27FC236}">
                <a16:creationId xmlns:a16="http://schemas.microsoft.com/office/drawing/2014/main" id="{20D3EA8F-E1E3-5A07-8D5F-D7AF896A528B}"/>
              </a:ext>
            </a:extLst>
          </p:cNvPr>
          <p:cNvSpPr txBox="1"/>
          <p:nvPr/>
        </p:nvSpPr>
        <p:spPr>
          <a:xfrm>
            <a:off x="8382000" y="1498600"/>
            <a:ext cx="3302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RESOLUCIÓN RÁPIDA</a:t>
            </a:r>
          </a:p>
        </p:txBody>
      </p:sp>
      <p:sp>
        <p:nvSpPr>
          <p:cNvPr id="8" name="CuadroTexto 7">
            <a:extLst>
              <a:ext uri="{FF2B5EF4-FFF2-40B4-BE49-F238E27FC236}">
                <a16:creationId xmlns:a16="http://schemas.microsoft.com/office/drawing/2014/main" id="{A61389FF-3838-739A-02F2-67D88D1A94DE}"/>
              </a:ext>
            </a:extLst>
          </p:cNvPr>
          <p:cNvSpPr txBox="1"/>
          <p:nvPr/>
        </p:nvSpPr>
        <p:spPr>
          <a:xfrm>
            <a:off x="8382000" y="1854200"/>
            <a:ext cx="3302000" cy="276999"/>
          </a:xfrm>
          <a:prstGeom prst="rect">
            <a:avLst/>
          </a:prstGeom>
          <a:noFill/>
        </p:spPr>
        <p:txBody>
          <a:bodyPr vert="horz" wrap="square" lIns="0" tIns="0" rIns="0" bIns="0" rtlCol="0">
            <a:noAutofit/>
          </a:bodyPr>
          <a:lstStyle/>
          <a:p>
            <a:r>
              <a:rPr lang="es-419" sz="1600">
                <a:solidFill>
                  <a:srgbClr val="111111"/>
                </a:solidFill>
                <a:latin typeface="Arial" panose="020B0604020202020204" pitchFamily="34" charset="0"/>
              </a:rPr>
              <a:t>899,050 solicitudes</a:t>
            </a:r>
          </a:p>
          <a:p>
            <a:r>
              <a:rPr lang="es-419" sz="1600">
                <a:solidFill>
                  <a:srgbClr val="111111"/>
                </a:solidFill>
                <a:latin typeface="Arial" panose="020B0604020202020204" pitchFamily="34" charset="0"/>
              </a:rPr>
              <a:t>143 min de mediana</a:t>
            </a:r>
          </a:p>
          <a:p>
            <a:r>
              <a:rPr lang="es-419" sz="1600">
                <a:solidFill>
                  <a:srgbClr val="111111"/>
                </a:solidFill>
                <a:latin typeface="Arial" panose="020B0604020202020204" pitchFamily="34" charset="0"/>
              </a:rPr>
              <a:t>8.94% con demora</a:t>
            </a:r>
            <a:endParaRPr lang="es-SV" sz="1600">
              <a:solidFill>
                <a:srgbClr val="111111"/>
              </a:solidFill>
              <a:latin typeface="Arial" panose="020B0604020202020204" pitchFamily="34" charset="0"/>
            </a:endParaRPr>
          </a:p>
        </p:txBody>
      </p:sp>
      <p:sp>
        <p:nvSpPr>
          <p:cNvPr id="9" name="CuadroTexto 8">
            <a:extLst>
              <a:ext uri="{FF2B5EF4-FFF2-40B4-BE49-F238E27FC236}">
                <a16:creationId xmlns:a16="http://schemas.microsoft.com/office/drawing/2014/main" id="{5EC0E258-B0DA-D7B0-3251-1C5A0D028243}"/>
              </a:ext>
            </a:extLst>
          </p:cNvPr>
          <p:cNvSpPr txBox="1"/>
          <p:nvPr/>
        </p:nvSpPr>
        <p:spPr>
          <a:xfrm>
            <a:off x="8382000" y="3124200"/>
            <a:ext cx="3429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RESOLUCIÓN PROLONGADA</a:t>
            </a:r>
          </a:p>
        </p:txBody>
      </p:sp>
      <p:sp>
        <p:nvSpPr>
          <p:cNvPr id="10" name="CuadroTexto 9">
            <a:extLst>
              <a:ext uri="{FF2B5EF4-FFF2-40B4-BE49-F238E27FC236}">
                <a16:creationId xmlns:a16="http://schemas.microsoft.com/office/drawing/2014/main" id="{AED1E2C8-AB79-47EE-9674-106165995E99}"/>
              </a:ext>
            </a:extLst>
          </p:cNvPr>
          <p:cNvSpPr txBox="1"/>
          <p:nvPr/>
        </p:nvSpPr>
        <p:spPr>
          <a:xfrm>
            <a:off x="8382000" y="3479800"/>
            <a:ext cx="3302000" cy="276999"/>
          </a:xfrm>
          <a:prstGeom prst="rect">
            <a:avLst/>
          </a:prstGeom>
          <a:noFill/>
        </p:spPr>
        <p:txBody>
          <a:bodyPr vert="horz" wrap="square" lIns="0" tIns="0" rIns="0" bIns="0" rtlCol="0">
            <a:noAutofit/>
          </a:bodyPr>
          <a:lstStyle/>
          <a:p>
            <a:r>
              <a:rPr lang="es-419" sz="1600">
                <a:solidFill>
                  <a:srgbClr val="111111"/>
                </a:solidFill>
                <a:latin typeface="Arial" panose="020B0604020202020204" pitchFamily="34" charset="0"/>
              </a:rPr>
              <a:t>351,275 solicitudes</a:t>
            </a:r>
          </a:p>
          <a:p>
            <a:r>
              <a:rPr lang="es-419" sz="1600">
                <a:solidFill>
                  <a:srgbClr val="111111"/>
                </a:solidFill>
                <a:latin typeface="Arial" panose="020B0604020202020204" pitchFamily="34" charset="0"/>
              </a:rPr>
              <a:t>11,376 min de mediana</a:t>
            </a:r>
          </a:p>
          <a:p>
            <a:r>
              <a:rPr lang="es-419" sz="1600">
                <a:solidFill>
                  <a:srgbClr val="111111"/>
                </a:solidFill>
                <a:latin typeface="Arial" panose="020B0604020202020204" pitchFamily="34" charset="0"/>
              </a:rPr>
              <a:t>71.09% con demora</a:t>
            </a:r>
            <a:endParaRPr lang="es-SV" sz="1600">
              <a:solidFill>
                <a:srgbClr val="111111"/>
              </a:solidFill>
              <a:latin typeface="Arial" panose="020B0604020202020204" pitchFamily="34" charset="0"/>
            </a:endParaRPr>
          </a:p>
        </p:txBody>
      </p:sp>
      <p:sp>
        <p:nvSpPr>
          <p:cNvPr id="11" name="CuadroTexto 10">
            <a:extLst>
              <a:ext uri="{FF2B5EF4-FFF2-40B4-BE49-F238E27FC236}">
                <a16:creationId xmlns:a16="http://schemas.microsoft.com/office/drawing/2014/main" id="{CCA2EA62-EFE6-52A0-8942-81F081929F52}"/>
              </a:ext>
            </a:extLst>
          </p:cNvPr>
          <p:cNvSpPr txBox="1"/>
          <p:nvPr/>
        </p:nvSpPr>
        <p:spPr>
          <a:xfrm>
            <a:off x="8382000" y="4749800"/>
            <a:ext cx="3048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REZAGO CRÍTICO</a:t>
            </a:r>
          </a:p>
        </p:txBody>
      </p:sp>
      <p:sp>
        <p:nvSpPr>
          <p:cNvPr id="12" name="CuadroTexto 11">
            <a:extLst>
              <a:ext uri="{FF2B5EF4-FFF2-40B4-BE49-F238E27FC236}">
                <a16:creationId xmlns:a16="http://schemas.microsoft.com/office/drawing/2014/main" id="{3D072778-80AD-E39D-CC2B-0A8AAE44956F}"/>
              </a:ext>
            </a:extLst>
          </p:cNvPr>
          <p:cNvSpPr txBox="1"/>
          <p:nvPr/>
        </p:nvSpPr>
        <p:spPr>
          <a:xfrm>
            <a:off x="8382000" y="5105400"/>
            <a:ext cx="3175000" cy="276999"/>
          </a:xfrm>
          <a:prstGeom prst="rect">
            <a:avLst/>
          </a:prstGeom>
          <a:noFill/>
        </p:spPr>
        <p:txBody>
          <a:bodyPr vert="horz" wrap="square" lIns="0" tIns="0" rIns="0" bIns="0" rtlCol="0">
            <a:noAutofit/>
          </a:bodyPr>
          <a:lstStyle/>
          <a:p>
            <a:r>
              <a:rPr lang="es-419" sz="1600">
                <a:solidFill>
                  <a:srgbClr val="111111"/>
                </a:solidFill>
                <a:latin typeface="Arial" panose="020B0604020202020204" pitchFamily="34" charset="0"/>
              </a:rPr>
              <a:t>29,467 solicitudes</a:t>
            </a:r>
          </a:p>
          <a:p>
            <a:r>
              <a:rPr lang="es-419" sz="1600">
                <a:solidFill>
                  <a:srgbClr val="111111"/>
                </a:solidFill>
                <a:latin typeface="Arial" panose="020B0604020202020204" pitchFamily="34" charset="0"/>
              </a:rPr>
              <a:t>82.72% sin resolución</a:t>
            </a:r>
            <a:endParaRPr lang="es-SV" sz="1600">
              <a:solidFill>
                <a:srgbClr val="111111"/>
              </a:solidFill>
              <a:latin typeface="Arial" panose="020B0604020202020204" pitchFamily="34" charset="0"/>
            </a:endParaRPr>
          </a:p>
        </p:txBody>
      </p:sp>
      <p:sp>
        <p:nvSpPr>
          <p:cNvPr id="13" name="CuadroTexto 12">
            <a:extLst>
              <a:ext uri="{FF2B5EF4-FFF2-40B4-BE49-F238E27FC236}">
                <a16:creationId xmlns:a16="http://schemas.microsoft.com/office/drawing/2014/main" id="{F1125A00-3583-D3BE-56DE-469A631EB7AD}"/>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4" name="CuadroTexto 13">
            <a:extLst>
              <a:ext uri="{FF2B5EF4-FFF2-40B4-BE49-F238E27FC236}">
                <a16:creationId xmlns:a16="http://schemas.microsoft.com/office/drawing/2014/main" id="{97DAAEB3-4556-AAF5-8DE4-D2E729FA27F6}"/>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3033185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2F40D31-872A-7AFC-F10D-2C37836A07A3}"/>
              </a:ext>
            </a:extLst>
          </p:cNvPr>
          <p:cNvSpPr txBox="1"/>
          <p:nvPr/>
        </p:nvSpPr>
        <p:spPr>
          <a:xfrm>
            <a:off x="685800" y="355600"/>
            <a:ext cx="10668000" cy="276999"/>
          </a:xfrm>
          <a:prstGeom prst="rect">
            <a:avLst/>
          </a:prstGeom>
          <a:noFill/>
        </p:spPr>
        <p:txBody>
          <a:bodyPr vert="horz" wrap="square" lIns="0" tIns="0" rIns="0" bIns="0" rtlCol="0">
            <a:noAutofit/>
          </a:bodyPr>
          <a:lstStyle/>
          <a:p>
            <a:r>
              <a:rPr lang="es-SV" sz="2600" b="1">
                <a:solidFill>
                  <a:srgbClr val="17365D"/>
                </a:solidFill>
                <a:latin typeface="Arial" panose="020B0604020202020204" pitchFamily="34" charset="0"/>
              </a:rPr>
              <a:t>Conocimiento, uso y límites</a:t>
            </a:r>
          </a:p>
        </p:txBody>
      </p:sp>
      <p:sp>
        <p:nvSpPr>
          <p:cNvPr id="3" name="Rectángulo 2">
            <a:extLst>
              <a:ext uri="{FF2B5EF4-FFF2-40B4-BE49-F238E27FC236}">
                <a16:creationId xmlns:a16="http://schemas.microsoft.com/office/drawing/2014/main" id="{1DA458D2-03B0-DA62-4E2D-A6E2B4ECB569}"/>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B8C19633-ABCD-DC1A-D983-43924AE8590A}"/>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14</a:t>
            </a:r>
          </a:p>
        </p:txBody>
      </p:sp>
      <p:sp>
        <p:nvSpPr>
          <p:cNvPr id="5" name="CuadroTexto 4">
            <a:extLst>
              <a:ext uri="{FF2B5EF4-FFF2-40B4-BE49-F238E27FC236}">
                <a16:creationId xmlns:a16="http://schemas.microsoft.com/office/drawing/2014/main" id="{154EA603-D474-F433-8819-EE6C4EF037AE}"/>
              </a:ext>
            </a:extLst>
          </p:cNvPr>
          <p:cNvSpPr txBox="1"/>
          <p:nvPr/>
        </p:nvSpPr>
        <p:spPr>
          <a:xfrm>
            <a:off x="685800" y="1574800"/>
            <a:ext cx="3302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USO PROPUESTO</a:t>
            </a:r>
          </a:p>
        </p:txBody>
      </p:sp>
      <p:sp>
        <p:nvSpPr>
          <p:cNvPr id="6" name="CuadroTexto 5">
            <a:extLst>
              <a:ext uri="{FF2B5EF4-FFF2-40B4-BE49-F238E27FC236}">
                <a16:creationId xmlns:a16="http://schemas.microsoft.com/office/drawing/2014/main" id="{4D0CFED7-7A26-6CED-4530-2A65DD000EF3}"/>
              </a:ext>
            </a:extLst>
          </p:cNvPr>
          <p:cNvSpPr txBox="1"/>
          <p:nvPr/>
        </p:nvSpPr>
        <p:spPr>
          <a:xfrm>
            <a:off x="685800" y="2032000"/>
            <a:ext cx="4953000" cy="276999"/>
          </a:xfrm>
          <a:prstGeom prst="rect">
            <a:avLst/>
          </a:prstGeom>
          <a:noFill/>
        </p:spPr>
        <p:txBody>
          <a:bodyPr vert="horz" wrap="square" lIns="0" tIns="0" rIns="0" bIns="0" rtlCol="0">
            <a:noAutofit/>
          </a:bodyPr>
          <a:lstStyle/>
          <a:p>
            <a:r>
              <a:rPr lang="es-419">
                <a:solidFill>
                  <a:srgbClr val="111111"/>
                </a:solidFill>
                <a:latin typeface="Arial" panose="020B0604020202020204" pitchFamily="34" charset="0"/>
              </a:rPr>
              <a:t>1   Árbol como filtro con revisión humana</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2   Perfiles de alto volumen en resolución prolongada</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3   Auditoría de estados en el rezago crítico</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4   Recálculo del P75 al incorporar meses</a:t>
            </a:r>
            <a:endParaRPr lang="es-SV">
              <a:solidFill>
                <a:srgbClr val="111111"/>
              </a:solidFill>
              <a:latin typeface="Arial" panose="020B0604020202020204" pitchFamily="34" charset="0"/>
            </a:endParaRPr>
          </a:p>
        </p:txBody>
      </p:sp>
      <p:sp>
        <p:nvSpPr>
          <p:cNvPr id="7" name="CuadroTexto 6">
            <a:extLst>
              <a:ext uri="{FF2B5EF4-FFF2-40B4-BE49-F238E27FC236}">
                <a16:creationId xmlns:a16="http://schemas.microsoft.com/office/drawing/2014/main" id="{087D269D-77A5-C96F-05F8-F00CDE6D0E40}"/>
              </a:ext>
            </a:extLst>
          </p:cNvPr>
          <p:cNvSpPr txBox="1"/>
          <p:nvPr/>
        </p:nvSpPr>
        <p:spPr>
          <a:xfrm>
            <a:off x="6604000" y="1574800"/>
            <a:ext cx="3810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LÍMITES DE LA EVIDENCIA</a:t>
            </a:r>
          </a:p>
        </p:txBody>
      </p:sp>
      <p:sp>
        <p:nvSpPr>
          <p:cNvPr id="8" name="CuadroTexto 7">
            <a:extLst>
              <a:ext uri="{FF2B5EF4-FFF2-40B4-BE49-F238E27FC236}">
                <a16:creationId xmlns:a16="http://schemas.microsoft.com/office/drawing/2014/main" id="{6D46A136-5A18-02E9-92BD-C5FA578F9A4C}"/>
              </a:ext>
            </a:extLst>
          </p:cNvPr>
          <p:cNvSpPr txBox="1"/>
          <p:nvPr/>
        </p:nvSpPr>
        <p:spPr>
          <a:xfrm>
            <a:off x="6604000" y="2032000"/>
            <a:ext cx="4318000" cy="276999"/>
          </a:xfrm>
          <a:prstGeom prst="rect">
            <a:avLst/>
          </a:prstGeom>
          <a:noFill/>
        </p:spPr>
        <p:txBody>
          <a:bodyPr vert="horz" wrap="square" lIns="0" tIns="0" rIns="0" bIns="0" rtlCol="0">
            <a:noAutofit/>
          </a:bodyPr>
          <a:lstStyle/>
          <a:p>
            <a:r>
              <a:rPr lang="es-419">
                <a:solidFill>
                  <a:srgbClr val="111111"/>
                </a:solidFill>
                <a:latin typeface="Arial" panose="020B0604020202020204" pitchFamily="34" charset="0"/>
              </a:rPr>
              <a:t>Periodo de abril a julio de 2026</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Clase dependiente del P75 observado</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Importancia predictiva sin causalidad</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Silhouette 0.421 con solapamiento</a:t>
            </a:r>
          </a:p>
          <a:p>
            <a:endParaRPr lang="es-419">
              <a:solidFill>
                <a:srgbClr val="111111"/>
              </a:solidFill>
              <a:latin typeface="Arial" panose="020B0604020202020204" pitchFamily="34" charset="0"/>
            </a:endParaRPr>
          </a:p>
          <a:p>
            <a:r>
              <a:rPr lang="es-419">
                <a:solidFill>
                  <a:srgbClr val="111111"/>
                </a:solidFill>
                <a:latin typeface="Arial" panose="020B0604020202020204" pitchFamily="34" charset="0"/>
              </a:rPr>
              <a:t>Casos abiertos sin tiempo final</a:t>
            </a:r>
            <a:endParaRPr lang="es-SV">
              <a:solidFill>
                <a:srgbClr val="111111"/>
              </a:solidFill>
              <a:latin typeface="Arial" panose="020B0604020202020204" pitchFamily="34" charset="0"/>
            </a:endParaRPr>
          </a:p>
        </p:txBody>
      </p:sp>
      <p:sp>
        <p:nvSpPr>
          <p:cNvPr id="9" name="CuadroTexto 8">
            <a:extLst>
              <a:ext uri="{FF2B5EF4-FFF2-40B4-BE49-F238E27FC236}">
                <a16:creationId xmlns:a16="http://schemas.microsoft.com/office/drawing/2014/main" id="{597D9AC3-90A1-6550-911D-2492CEBD9CFE}"/>
              </a:ext>
            </a:extLst>
          </p:cNvPr>
          <p:cNvSpPr txBox="1"/>
          <p:nvPr/>
        </p:nvSpPr>
        <p:spPr>
          <a:xfrm>
            <a:off x="1270000" y="5689600"/>
            <a:ext cx="9652000" cy="276999"/>
          </a:xfrm>
          <a:prstGeom prst="rect">
            <a:avLst/>
          </a:prstGeom>
          <a:noFill/>
        </p:spPr>
        <p:txBody>
          <a:bodyPr vert="horz" wrap="square" lIns="0" tIns="0" rIns="0" bIns="0" rtlCol="0">
            <a:noAutofit/>
          </a:bodyPr>
          <a:lstStyle/>
          <a:p>
            <a:pPr algn="ctr"/>
            <a:r>
              <a:rPr lang="es-419" sz="2000" b="1">
                <a:solidFill>
                  <a:srgbClr val="17365D"/>
                </a:solidFill>
                <a:latin typeface="Arial" panose="020B0604020202020204" pitchFamily="34" charset="0"/>
              </a:rPr>
              <a:t>El análisis ayuda a decidir qué revisar primero y conserva la revisión humana.</a:t>
            </a:r>
            <a:endParaRPr lang="es-SV" sz="2000" b="1">
              <a:solidFill>
                <a:srgbClr val="17365D"/>
              </a:solidFill>
              <a:latin typeface="Arial" panose="020B0604020202020204" pitchFamily="34" charset="0"/>
            </a:endParaRPr>
          </a:p>
        </p:txBody>
      </p:sp>
      <p:sp>
        <p:nvSpPr>
          <p:cNvPr id="10" name="CuadroTexto 9">
            <a:extLst>
              <a:ext uri="{FF2B5EF4-FFF2-40B4-BE49-F238E27FC236}">
                <a16:creationId xmlns:a16="http://schemas.microsoft.com/office/drawing/2014/main" id="{48EA22F9-8585-4975-CFC1-93F0FC72916E}"/>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1" name="CuadroTexto 10">
            <a:extLst>
              <a:ext uri="{FF2B5EF4-FFF2-40B4-BE49-F238E27FC236}">
                <a16:creationId xmlns:a16="http://schemas.microsoft.com/office/drawing/2014/main" id="{B59125F8-FED6-0E5C-AF8A-5A3BE4B8CE35}"/>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Elaboración propia con el notebook ejecutado</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3257400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9F0E2B3-1A3C-9829-F222-95D568A15A22}"/>
              </a:ext>
            </a:extLst>
          </p:cNvPr>
          <p:cNvSpPr txBox="1"/>
          <p:nvPr/>
        </p:nvSpPr>
        <p:spPr>
          <a:xfrm>
            <a:off x="685800" y="355600"/>
            <a:ext cx="10668000" cy="276999"/>
          </a:xfrm>
          <a:prstGeom prst="rect">
            <a:avLst/>
          </a:prstGeom>
          <a:noFill/>
        </p:spPr>
        <p:txBody>
          <a:bodyPr vert="horz" wrap="square" lIns="0" tIns="0" rIns="0" bIns="0" rtlCol="0">
            <a:noAutofit/>
          </a:bodyPr>
          <a:lstStyle/>
          <a:p>
            <a:r>
              <a:rPr lang="es-SV" sz="2600" b="1">
                <a:solidFill>
                  <a:srgbClr val="17365D"/>
                </a:solidFill>
                <a:latin typeface="Arial" panose="020B0604020202020204" pitchFamily="34" charset="0"/>
              </a:rPr>
              <a:t>Evidencia reproducible y referencias</a:t>
            </a:r>
          </a:p>
        </p:txBody>
      </p:sp>
      <p:sp>
        <p:nvSpPr>
          <p:cNvPr id="3" name="Rectángulo 2">
            <a:extLst>
              <a:ext uri="{FF2B5EF4-FFF2-40B4-BE49-F238E27FC236}">
                <a16:creationId xmlns:a16="http://schemas.microsoft.com/office/drawing/2014/main" id="{3BD06BF0-C38B-A9DC-F7A2-871B300DCE82}"/>
              </a:ext>
            </a:extLst>
          </p:cNvPr>
          <p:cNvSpPr/>
          <p:nvPr/>
        </p:nvSpPr>
        <p:spPr>
          <a:xfrm>
            <a:off x="685800" y="1054100"/>
            <a:ext cx="1117600" cy="63500"/>
          </a:xfrm>
          <a:prstGeom prst="rect">
            <a:avLst/>
          </a:prstGeom>
          <a:solidFill>
            <a:srgbClr val="F2C81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4" name="CuadroTexto 3">
            <a:extLst>
              <a:ext uri="{FF2B5EF4-FFF2-40B4-BE49-F238E27FC236}">
                <a16:creationId xmlns:a16="http://schemas.microsoft.com/office/drawing/2014/main" id="{96BE68D0-FDCF-343F-85FA-4B9F973644BD}"/>
              </a:ext>
            </a:extLst>
          </p:cNvPr>
          <p:cNvSpPr txBox="1"/>
          <p:nvPr/>
        </p:nvSpPr>
        <p:spPr>
          <a:xfrm>
            <a:off x="11430000" y="381000"/>
            <a:ext cx="406400" cy="276999"/>
          </a:xfrm>
          <a:prstGeom prst="rect">
            <a:avLst/>
          </a:prstGeom>
          <a:noFill/>
        </p:spPr>
        <p:txBody>
          <a:bodyPr vert="horz" wrap="square" lIns="0" tIns="0" rIns="0" bIns="0" rtlCol="0">
            <a:noAutofit/>
          </a:bodyPr>
          <a:lstStyle/>
          <a:p>
            <a:pPr algn="r"/>
            <a:r>
              <a:rPr lang="es-SV" sz="1000" b="1">
                <a:solidFill>
                  <a:srgbClr val="5C6770"/>
                </a:solidFill>
                <a:latin typeface="Arial" panose="020B0604020202020204" pitchFamily="34" charset="0"/>
              </a:rPr>
              <a:t>15</a:t>
            </a:r>
          </a:p>
        </p:txBody>
      </p:sp>
      <p:sp>
        <p:nvSpPr>
          <p:cNvPr id="5" name="CuadroTexto 4">
            <a:extLst>
              <a:ext uri="{FF2B5EF4-FFF2-40B4-BE49-F238E27FC236}">
                <a16:creationId xmlns:a16="http://schemas.microsoft.com/office/drawing/2014/main" id="{9B73559A-FAE4-EBA3-603C-20E58AD59C22}"/>
              </a:ext>
            </a:extLst>
          </p:cNvPr>
          <p:cNvSpPr txBox="1"/>
          <p:nvPr/>
        </p:nvSpPr>
        <p:spPr>
          <a:xfrm>
            <a:off x="685800" y="1498600"/>
            <a:ext cx="3556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ARCHIVOS EVALUADOS</a:t>
            </a:r>
          </a:p>
        </p:txBody>
      </p:sp>
      <p:sp>
        <p:nvSpPr>
          <p:cNvPr id="6" name="CuadroTexto 5">
            <a:extLst>
              <a:ext uri="{FF2B5EF4-FFF2-40B4-BE49-F238E27FC236}">
                <a16:creationId xmlns:a16="http://schemas.microsoft.com/office/drawing/2014/main" id="{C945DCBC-5F25-C73D-D272-BADE38B2B93B}"/>
              </a:ext>
            </a:extLst>
          </p:cNvPr>
          <p:cNvSpPr txBox="1"/>
          <p:nvPr/>
        </p:nvSpPr>
        <p:spPr>
          <a:xfrm>
            <a:off x="685800" y="1905000"/>
            <a:ext cx="5588000" cy="276999"/>
          </a:xfrm>
          <a:prstGeom prst="rect">
            <a:avLst/>
          </a:prstGeom>
          <a:noFill/>
        </p:spPr>
        <p:txBody>
          <a:bodyPr vert="horz" wrap="square" lIns="0" tIns="0" rIns="0" bIns="0" rtlCol="0">
            <a:noAutofit/>
          </a:bodyPr>
          <a:lstStyle/>
          <a:p>
            <a:r>
              <a:rPr lang="es-SV" sz="1600">
                <a:solidFill>
                  <a:srgbClr val="111111"/>
                </a:solidFill>
                <a:latin typeface="Consolas" panose="020B0609020204030204" pitchFamily="49" charset="0"/>
              </a:rPr>
              <a:t>Notebook</a:t>
            </a:r>
          </a:p>
          <a:p>
            <a:r>
              <a:rPr lang="es-SV" sz="1600">
                <a:solidFill>
                  <a:srgbClr val="111111"/>
                </a:solidFill>
                <a:latin typeface="Consolas" panose="020B0609020204030204" pitchFamily="49" charset="0"/>
              </a:rPr>
              <a:t>notebooks/fase2_dmd_nyc311.ipynb</a:t>
            </a:r>
          </a:p>
          <a:p>
            <a:endParaRPr lang="es-SV" sz="1600">
              <a:solidFill>
                <a:srgbClr val="111111"/>
              </a:solidFill>
              <a:latin typeface="Consolas" panose="020B0609020204030204" pitchFamily="49" charset="0"/>
            </a:endParaRPr>
          </a:p>
          <a:p>
            <a:r>
              <a:rPr lang="es-SV" sz="1600">
                <a:solidFill>
                  <a:srgbClr val="111111"/>
                </a:solidFill>
                <a:latin typeface="Consolas" panose="020B0609020204030204" pitchFamily="49" charset="0"/>
              </a:rPr>
              <a:t>Notebook ejecutado</a:t>
            </a:r>
          </a:p>
          <a:p>
            <a:r>
              <a:rPr lang="es-SV" sz="1600">
                <a:solidFill>
                  <a:srgbClr val="111111"/>
                </a:solidFill>
                <a:latin typeface="Consolas" panose="020B0609020204030204" pitchFamily="49" charset="0"/>
              </a:rPr>
              <a:t>notebooks/fase2_dmd_nyc311_ejecutado.ipynb</a:t>
            </a:r>
          </a:p>
          <a:p>
            <a:endParaRPr lang="es-SV" sz="1600">
              <a:solidFill>
                <a:srgbClr val="111111"/>
              </a:solidFill>
              <a:latin typeface="Consolas" panose="020B0609020204030204" pitchFamily="49" charset="0"/>
            </a:endParaRPr>
          </a:p>
          <a:p>
            <a:r>
              <a:rPr lang="es-SV" sz="1600">
                <a:solidFill>
                  <a:srgbClr val="111111"/>
                </a:solidFill>
                <a:latin typeface="Consolas" panose="020B0609020204030204" pitchFamily="49" charset="0"/>
              </a:rPr>
              <a:t>Dataset</a:t>
            </a:r>
          </a:p>
          <a:p>
            <a:r>
              <a:rPr lang="es-SV" sz="1600">
                <a:solidFill>
                  <a:srgbClr val="111111"/>
                </a:solidFill>
                <a:latin typeface="Consolas" panose="020B0609020204030204" pitchFamily="49" charset="0"/>
              </a:rPr>
              <a:t>tmp/data/resultados.csv</a:t>
            </a:r>
          </a:p>
          <a:p>
            <a:endParaRPr lang="es-SV" sz="1600">
              <a:solidFill>
                <a:srgbClr val="111111"/>
              </a:solidFill>
              <a:latin typeface="Consolas" panose="020B0609020204030204" pitchFamily="49" charset="0"/>
            </a:endParaRPr>
          </a:p>
          <a:p>
            <a:r>
              <a:rPr lang="es-SV" sz="1600">
                <a:solidFill>
                  <a:srgbClr val="111111"/>
                </a:solidFill>
                <a:latin typeface="Consolas" panose="020B0609020204030204" pitchFamily="49" charset="0"/>
              </a:rPr>
              <a:t>Vista SQL</a:t>
            </a:r>
          </a:p>
          <a:p>
            <a:r>
              <a:rPr lang="es-SV" sz="1600">
                <a:solidFill>
                  <a:srgbClr val="111111"/>
                </a:solidFill>
                <a:latin typeface="Consolas" panose="020B0609020204030204" pitchFamily="49" charset="0"/>
              </a:rPr>
              <a:t>tmp/codigo/sql/mining_view_fase2.sql</a:t>
            </a:r>
          </a:p>
        </p:txBody>
      </p:sp>
      <p:sp>
        <p:nvSpPr>
          <p:cNvPr id="7" name="CuadroTexto 6">
            <a:extLst>
              <a:ext uri="{FF2B5EF4-FFF2-40B4-BE49-F238E27FC236}">
                <a16:creationId xmlns:a16="http://schemas.microsoft.com/office/drawing/2014/main" id="{028FD477-B5CF-20A5-2F32-FB6600FA5ECA}"/>
              </a:ext>
            </a:extLst>
          </p:cNvPr>
          <p:cNvSpPr txBox="1"/>
          <p:nvPr/>
        </p:nvSpPr>
        <p:spPr>
          <a:xfrm>
            <a:off x="685800" y="5410200"/>
            <a:ext cx="5588000" cy="276999"/>
          </a:xfrm>
          <a:prstGeom prst="rect">
            <a:avLst/>
          </a:prstGeom>
          <a:noFill/>
        </p:spPr>
        <p:txBody>
          <a:bodyPr vert="horz" wrap="square" lIns="0" tIns="0" rIns="0" bIns="0" rtlCol="0">
            <a:noAutofit/>
          </a:bodyPr>
          <a:lstStyle/>
          <a:p>
            <a:r>
              <a:rPr lang="en-US" sz="1300">
                <a:solidFill>
                  <a:srgbClr val="5C6770"/>
                </a:solidFill>
                <a:latin typeface="Consolas" panose="020B0609020204030204" pitchFamily="49" charset="0"/>
              </a:rPr>
              <a:t>SHA-256 notebook   AD1D37D9CAD7</a:t>
            </a:r>
          </a:p>
          <a:p>
            <a:r>
              <a:rPr lang="en-US" sz="1300">
                <a:solidFill>
                  <a:srgbClr val="5C6770"/>
                </a:solidFill>
                <a:latin typeface="Consolas" panose="020B0609020204030204" pitchFamily="49" charset="0"/>
              </a:rPr>
              <a:t>SHA-256 CSV             E43B66DD3693</a:t>
            </a:r>
            <a:endParaRPr lang="es-SV" sz="1300">
              <a:solidFill>
                <a:srgbClr val="5C6770"/>
              </a:solidFill>
              <a:latin typeface="Consolas" panose="020B0609020204030204" pitchFamily="49" charset="0"/>
            </a:endParaRPr>
          </a:p>
        </p:txBody>
      </p:sp>
      <p:sp>
        <p:nvSpPr>
          <p:cNvPr id="8" name="CuadroTexto 7">
            <a:extLst>
              <a:ext uri="{FF2B5EF4-FFF2-40B4-BE49-F238E27FC236}">
                <a16:creationId xmlns:a16="http://schemas.microsoft.com/office/drawing/2014/main" id="{3A727E06-F568-04DD-6689-222E6A2DD0C4}"/>
              </a:ext>
            </a:extLst>
          </p:cNvPr>
          <p:cNvSpPr txBox="1"/>
          <p:nvPr/>
        </p:nvSpPr>
        <p:spPr>
          <a:xfrm>
            <a:off x="6985000" y="1498600"/>
            <a:ext cx="3048000" cy="276999"/>
          </a:xfrm>
          <a:prstGeom prst="rect">
            <a:avLst/>
          </a:prstGeom>
          <a:noFill/>
        </p:spPr>
        <p:txBody>
          <a:bodyPr vert="horz" wrap="square" lIns="0" tIns="0" rIns="0" bIns="0" rtlCol="0">
            <a:noAutofit/>
          </a:bodyPr>
          <a:lstStyle/>
          <a:p>
            <a:r>
              <a:rPr lang="es-SV" sz="1100" b="1">
                <a:solidFill>
                  <a:srgbClr val="2F6F9F"/>
                </a:solidFill>
                <a:latin typeface="Arial" panose="020B0604020202020204" pitchFamily="34" charset="0"/>
              </a:rPr>
              <a:t>REFERENCIAS</a:t>
            </a:r>
          </a:p>
        </p:txBody>
      </p:sp>
      <p:sp>
        <p:nvSpPr>
          <p:cNvPr id="9" name="CuadroTexto 8">
            <a:extLst>
              <a:ext uri="{FF2B5EF4-FFF2-40B4-BE49-F238E27FC236}">
                <a16:creationId xmlns:a16="http://schemas.microsoft.com/office/drawing/2014/main" id="{ACA35BC8-82E8-6710-8B0C-964AA81BEE5A}"/>
              </a:ext>
            </a:extLst>
          </p:cNvPr>
          <p:cNvSpPr txBox="1"/>
          <p:nvPr/>
        </p:nvSpPr>
        <p:spPr>
          <a:xfrm>
            <a:off x="6985000" y="1905000"/>
            <a:ext cx="4445000" cy="276999"/>
          </a:xfrm>
          <a:prstGeom prst="rect">
            <a:avLst/>
          </a:prstGeom>
          <a:noFill/>
        </p:spPr>
        <p:txBody>
          <a:bodyPr vert="horz" wrap="square" lIns="0" tIns="0" rIns="0" bIns="0" rtlCol="0">
            <a:noAutofit/>
          </a:bodyPr>
          <a:lstStyle/>
          <a:p>
            <a:r>
              <a:rPr lang="es-SV" sz="1600">
                <a:solidFill>
                  <a:srgbClr val="111111"/>
                </a:solidFill>
                <a:latin typeface="Arial" panose="020B0604020202020204" pitchFamily="34" charset="0"/>
              </a:rPr>
              <a:t>[1] NYC Open Data</a:t>
            </a:r>
          </a:p>
          <a:p>
            <a:r>
              <a:rPr lang="es-SV" sz="1600">
                <a:solidFill>
                  <a:srgbClr val="111111"/>
                </a:solidFill>
                <a:latin typeface="Arial" panose="020B0604020202020204" pitchFamily="34" charset="0"/>
              </a:rPr>
              <a:t>311 Service Requests from 2020 to Present</a:t>
            </a:r>
          </a:p>
          <a:p>
            <a:r>
              <a:rPr lang="es-SV" sz="1600">
                <a:solidFill>
                  <a:srgbClr val="111111"/>
                </a:solidFill>
                <a:latin typeface="Arial" panose="020B0604020202020204" pitchFamily="34" charset="0"/>
              </a:rPr>
              <a:t>dataset erm2-nwe9</a:t>
            </a:r>
          </a:p>
          <a:p>
            <a:endParaRPr lang="es-SV" sz="1600">
              <a:solidFill>
                <a:srgbClr val="111111"/>
              </a:solidFill>
              <a:latin typeface="Arial" panose="020B0604020202020204" pitchFamily="34" charset="0"/>
            </a:endParaRPr>
          </a:p>
          <a:p>
            <a:r>
              <a:rPr lang="es-SV" sz="1600">
                <a:solidFill>
                  <a:srgbClr val="111111"/>
                </a:solidFill>
                <a:latin typeface="Arial" panose="020B0604020202020204" pitchFamily="34" charset="0"/>
              </a:rPr>
              <a:t>[2] scikit-learn</a:t>
            </a:r>
          </a:p>
          <a:p>
            <a:r>
              <a:rPr lang="es-SV" sz="1600">
                <a:solidFill>
                  <a:srgbClr val="111111"/>
                </a:solidFill>
                <a:latin typeface="Arial" panose="020B0604020202020204" pitchFamily="34" charset="0"/>
              </a:rPr>
              <a:t>OneHotEncoder y GridSearchCV</a:t>
            </a:r>
          </a:p>
          <a:p>
            <a:endParaRPr lang="es-SV" sz="1600">
              <a:solidFill>
                <a:srgbClr val="111111"/>
              </a:solidFill>
              <a:latin typeface="Arial" panose="020B0604020202020204" pitchFamily="34" charset="0"/>
            </a:endParaRPr>
          </a:p>
          <a:p>
            <a:r>
              <a:rPr lang="es-SV" sz="1600">
                <a:solidFill>
                  <a:srgbClr val="111111"/>
                </a:solidFill>
                <a:latin typeface="Arial" panose="020B0604020202020204" pitchFamily="34" charset="0"/>
              </a:rPr>
              <a:t>[3] scikit-learn</a:t>
            </a:r>
          </a:p>
          <a:p>
            <a:r>
              <a:rPr lang="es-SV" sz="1600">
                <a:solidFill>
                  <a:srgbClr val="111111"/>
                </a:solidFill>
                <a:latin typeface="Arial" panose="020B0604020202020204" pitchFamily="34" charset="0"/>
              </a:rPr>
              <a:t>K-Means, StandardScaler y Silhouette</a:t>
            </a:r>
          </a:p>
        </p:txBody>
      </p:sp>
      <p:sp>
        <p:nvSpPr>
          <p:cNvPr id="10" name="CuadroTexto 9">
            <a:extLst>
              <a:ext uri="{FF2B5EF4-FFF2-40B4-BE49-F238E27FC236}">
                <a16:creationId xmlns:a16="http://schemas.microsoft.com/office/drawing/2014/main" id="{13F138C0-753D-FFC4-6E62-C8BE25E9D593}"/>
              </a:ext>
            </a:extLst>
          </p:cNvPr>
          <p:cNvSpPr txBox="1"/>
          <p:nvPr/>
        </p:nvSpPr>
        <p:spPr>
          <a:xfrm>
            <a:off x="6985000" y="5207000"/>
            <a:ext cx="4318000" cy="276999"/>
          </a:xfrm>
          <a:prstGeom prst="rect">
            <a:avLst/>
          </a:prstGeom>
          <a:noFill/>
        </p:spPr>
        <p:txBody>
          <a:bodyPr vert="horz" wrap="square" lIns="0" tIns="0" rIns="0" bIns="0" rtlCol="0">
            <a:noAutofit/>
          </a:bodyPr>
          <a:lstStyle/>
          <a:p>
            <a:r>
              <a:rPr lang="es-419" sz="1500" b="1">
                <a:solidFill>
                  <a:srgbClr val="17365D"/>
                </a:solidFill>
                <a:latin typeface="Arial" panose="020B0604020202020204" pitchFamily="34" charset="0"/>
              </a:rPr>
              <a:t>Tablas y gráficas: elaboración propia con resultados del notebook ejecutado.</a:t>
            </a:r>
            <a:endParaRPr lang="es-SV" sz="1500" b="1">
              <a:solidFill>
                <a:srgbClr val="17365D"/>
              </a:solidFill>
              <a:latin typeface="Arial" panose="020B0604020202020204" pitchFamily="34" charset="0"/>
            </a:endParaRPr>
          </a:p>
        </p:txBody>
      </p:sp>
      <p:sp>
        <p:nvSpPr>
          <p:cNvPr id="11" name="CuadroTexto 10">
            <a:extLst>
              <a:ext uri="{FF2B5EF4-FFF2-40B4-BE49-F238E27FC236}">
                <a16:creationId xmlns:a16="http://schemas.microsoft.com/office/drawing/2014/main" id="{F52587AF-4D1F-E584-F68D-1275FF19CBB8}"/>
              </a:ext>
            </a:extLst>
          </p:cNvPr>
          <p:cNvSpPr txBox="1"/>
          <p:nvPr/>
        </p:nvSpPr>
        <p:spPr>
          <a:xfrm>
            <a:off x="685800" y="6553200"/>
            <a:ext cx="3810000" cy="276999"/>
          </a:xfrm>
          <a:prstGeom prst="rect">
            <a:avLst/>
          </a:prstGeom>
          <a:noFill/>
        </p:spPr>
        <p:txBody>
          <a:bodyPr vert="horz" wrap="square" lIns="0" tIns="0" rIns="0" bIns="0" rtlCol="0">
            <a:noAutofit/>
          </a:bodyPr>
          <a:lstStyle/>
          <a:p>
            <a:r>
              <a:rPr lang="es-SV" sz="800">
                <a:solidFill>
                  <a:srgbClr val="5C6770"/>
                </a:solidFill>
                <a:latin typeface="Arial" panose="020B0604020202020204" pitchFamily="34" charset="0"/>
              </a:rPr>
              <a:t>DMD104   Fase 2   NYC311</a:t>
            </a:r>
          </a:p>
        </p:txBody>
      </p:sp>
      <p:sp>
        <p:nvSpPr>
          <p:cNvPr id="12" name="CuadroTexto 11">
            <a:extLst>
              <a:ext uri="{FF2B5EF4-FFF2-40B4-BE49-F238E27FC236}">
                <a16:creationId xmlns:a16="http://schemas.microsoft.com/office/drawing/2014/main" id="{C0044BDC-4BBA-6B42-BA85-41E8BEA35369}"/>
              </a:ext>
            </a:extLst>
          </p:cNvPr>
          <p:cNvSpPr txBox="1"/>
          <p:nvPr/>
        </p:nvSpPr>
        <p:spPr>
          <a:xfrm>
            <a:off x="6350000" y="6553200"/>
            <a:ext cx="5207000" cy="276999"/>
          </a:xfrm>
          <a:prstGeom prst="rect">
            <a:avLst/>
          </a:prstGeom>
          <a:noFill/>
        </p:spPr>
        <p:txBody>
          <a:bodyPr vert="horz" wrap="square" lIns="0" tIns="0" rIns="0" bIns="0" rtlCol="0">
            <a:noAutofit/>
          </a:bodyPr>
          <a:lstStyle/>
          <a:p>
            <a:pPr algn="r"/>
            <a:r>
              <a:rPr lang="es-419" sz="800">
                <a:solidFill>
                  <a:srgbClr val="5C6770"/>
                </a:solidFill>
                <a:latin typeface="Arial" panose="020B0604020202020204" pitchFamily="34" charset="0"/>
              </a:rPr>
              <a:t>Fuentes completas disponibles en las notas y en el informe</a:t>
            </a:r>
            <a:endParaRPr lang="es-SV" sz="800">
              <a:solidFill>
                <a:srgbClr val="5C6770"/>
              </a:solidFill>
              <a:latin typeface="Arial" panose="020B0604020202020204" pitchFamily="34" charset="0"/>
            </a:endParaRPr>
          </a:p>
        </p:txBody>
      </p:sp>
    </p:spTree>
    <p:extLst>
      <p:ext uri="{BB962C8B-B14F-4D97-AF65-F5344CB8AC3E}">
        <p14:creationId xmlns:p14="http://schemas.microsoft.com/office/powerpoint/2010/main" val="33116289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2178</Words>
  <Application>Microsoft Office PowerPoint</Application>
  <PresentationFormat>Personalizado</PresentationFormat>
  <Paragraphs>328</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vt:lpstr>
      <vt:lpstr>Aptos Display</vt:lpstr>
      <vt:lpstr>Arial</vt:lpstr>
      <vt:lpstr>Consolas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Gerardo Rafael Bonilla Saz</dc:creator>
  <cp:lastModifiedBy>Gerardo Rafael Bonilla Saz</cp:lastModifiedBy>
  <cp:revision>1</cp:revision>
  <dcterms:created xsi:type="dcterms:W3CDTF">2026-09-14T13:11:37Z</dcterms:created>
  <dcterms:modified xsi:type="dcterms:W3CDTF">2026-09-14T13:11:37Z</dcterms:modified>
</cp:coreProperties>
</file>