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slides/charts/chart1.xml" ContentType="application/vnd.openxmlformats-officedocument.drawingml.chart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slides/charts/chart2.xml" ContentType="application/vnd.openxmlformats-officedocument.drawingml.chart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slides/charts/chart3.xml" ContentType="application/vnd.openxmlformats-officedocument.drawingml.chart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slides/charts/chart4.xml" ContentType="application/vnd.openxmlformats-officedocument.drawingml.chart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slides/charts/chart5.xml" ContentType="application/vnd.openxmlformats-officedocument.drawingml.chart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slides/charts/chart6.xml" ContentType="application/vnd.openxmlformats-officedocument.drawingml.chart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slides/charts/chart7.xml" ContentType="application/vnd.openxmlformats-officedocument.drawingml.chart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Default Extension="xlsx" ContentType="application/vnd.openxmlformats-officedocument.spreadsheetml.sheet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5789ee245f554a28" /><Relationship Type="http://schemas.openxmlformats.org/officeDocument/2006/relationships/extended-properties" Target="/docProps/app.xml" Id="Re47330ae62fc47ce" /><Relationship Type="http://schemas.openxmlformats.org/officeDocument/2006/relationships/officeDocument" Target="/ppt/presentation.xml" Id="R9c2e7278bee94c59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c5b00f96de5c41ca"/>
  </p:sldMasterIdLst>
  <p:notesMasterIdLst>
    <p:notesMasterId xmlns:r="http://schemas.openxmlformats.org/officeDocument/2006/relationships" r:id="R6ffaae36de4f47df"/>
  </p:notesMasterIdLst>
  <p:sldIdLst>
    <p:sldId xmlns:r="http://schemas.openxmlformats.org/officeDocument/2006/relationships" id="256" r:id="Rf6d1d80a45e3484b"/>
    <p:sldId xmlns:r="http://schemas.openxmlformats.org/officeDocument/2006/relationships" id="257" r:id="Re0fd2353d930492e"/>
    <p:sldId xmlns:r="http://schemas.openxmlformats.org/officeDocument/2006/relationships" id="258" r:id="R05e76f67dcb54382"/>
    <p:sldId xmlns:r="http://schemas.openxmlformats.org/officeDocument/2006/relationships" id="259" r:id="Ra27c293f757641d5"/>
    <p:sldId xmlns:r="http://schemas.openxmlformats.org/officeDocument/2006/relationships" id="260" r:id="R89e939058a8d4a35"/>
    <p:sldId xmlns:r="http://schemas.openxmlformats.org/officeDocument/2006/relationships" id="261" r:id="Rca7b94f6219f4da8"/>
    <p:sldId xmlns:r="http://schemas.openxmlformats.org/officeDocument/2006/relationships" id="262" r:id="R970515e3055a4fe6"/>
    <p:sldId xmlns:r="http://schemas.openxmlformats.org/officeDocument/2006/relationships" id="263" r:id="R2455f611f7654a46"/>
    <p:sldId xmlns:r="http://schemas.openxmlformats.org/officeDocument/2006/relationships" id="264" r:id="Rce9de2582d2b40bd"/>
    <p:sldId xmlns:r="http://schemas.openxmlformats.org/officeDocument/2006/relationships" id="265" r:id="R918f0a2eee164719"/>
    <p:sldId xmlns:r="http://schemas.openxmlformats.org/officeDocument/2006/relationships" id="266" r:id="Rc6d0e72e96f7430a"/>
    <p:sldId xmlns:r="http://schemas.openxmlformats.org/officeDocument/2006/relationships" id="267" r:id="R4b08cd6cdd4c4e75"/>
    <p:sldId xmlns:r="http://schemas.openxmlformats.org/officeDocument/2006/relationships" id="268" r:id="Rcca50f6b3ba3445c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7b27d496a02c4afb" /><Relationship Type="http://schemas.openxmlformats.org/officeDocument/2006/relationships/slideMaster" Target="/ppt/slideMasters/slideMaster1.xml" Id="Rc5b00f96de5c41ca" /><Relationship Type="http://schemas.openxmlformats.org/officeDocument/2006/relationships/notesMaster" Target="/ppt/notesMasters/notesMaster1.xml" Id="R6ffaae36de4f47df" /><Relationship Type="http://schemas.openxmlformats.org/officeDocument/2006/relationships/presProps" Target="/ppt/presProps.xml" Id="R412e43cc4a6043e4" /><Relationship Type="http://schemas.openxmlformats.org/officeDocument/2006/relationships/tableStyles" Target="/ppt/tableStyles.xml" Id="R907355f6d4e24e54" /><Relationship Type="http://schemas.openxmlformats.org/officeDocument/2006/relationships/slide" Target="/ppt/slides/slide1.xml" Id="Rf6d1d80a45e3484b" /><Relationship Type="http://schemas.openxmlformats.org/officeDocument/2006/relationships/slide" Target="/ppt/slides/slide2.xml" Id="Re0fd2353d930492e" /><Relationship Type="http://schemas.openxmlformats.org/officeDocument/2006/relationships/slide" Target="/ppt/slides/slide3.xml" Id="R05e76f67dcb54382" /><Relationship Type="http://schemas.openxmlformats.org/officeDocument/2006/relationships/slide" Target="/ppt/slides/slide4.xml" Id="Ra27c293f757641d5" /><Relationship Type="http://schemas.openxmlformats.org/officeDocument/2006/relationships/slide" Target="/ppt/slides/slide5.xml" Id="R89e939058a8d4a35" /><Relationship Type="http://schemas.openxmlformats.org/officeDocument/2006/relationships/slide" Target="/ppt/slides/slide6.xml" Id="Rca7b94f6219f4da8" /><Relationship Type="http://schemas.openxmlformats.org/officeDocument/2006/relationships/slide" Target="/ppt/slides/slide7.xml" Id="R970515e3055a4fe6" /><Relationship Type="http://schemas.openxmlformats.org/officeDocument/2006/relationships/slide" Target="/ppt/slides/slide8.xml" Id="R2455f611f7654a46" /><Relationship Type="http://schemas.openxmlformats.org/officeDocument/2006/relationships/slide" Target="/ppt/slides/slide9.xml" Id="Rce9de2582d2b40bd" /><Relationship Type="http://schemas.openxmlformats.org/officeDocument/2006/relationships/slide" Target="/ppt/slides/slide10.xml" Id="R918f0a2eee164719" /><Relationship Type="http://schemas.openxmlformats.org/officeDocument/2006/relationships/slide" Target="/ppt/slides/slide11.xml" Id="Rc6d0e72e96f7430a" /><Relationship Type="http://schemas.openxmlformats.org/officeDocument/2006/relationships/slide" Target="/ppt/slides/slide12.xml" Id="R4b08cd6cdd4c4e75" /><Relationship Type="http://schemas.openxmlformats.org/officeDocument/2006/relationships/slide" Target="/ppt/slides/slide13.xml" Id="Rcca50f6b3ba3445c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8b801d97700047fc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8460029380344455" /><Relationship Type="http://schemas.openxmlformats.org/officeDocument/2006/relationships/notesMaster" Target="/ppt/notesMasters/notesMaster1.xml" Id="R7ac2b227387842ec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abe03af4d39d43d8" /><Relationship Type="http://schemas.openxmlformats.org/officeDocument/2006/relationships/notesMaster" Target="/ppt/notesMasters/notesMaster1.xml" Id="R8a30e7a30f6c49a7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27c07bbbbb944e65" /><Relationship Type="http://schemas.openxmlformats.org/officeDocument/2006/relationships/notesMaster" Target="/ppt/notesMasters/notesMaster1.xml" Id="Rb67dbd5b28394955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de0a007168d8461f" /><Relationship Type="http://schemas.openxmlformats.org/officeDocument/2006/relationships/notesMaster" Target="/ppt/notesMasters/notesMaster1.xml" Id="R6b60627b0de0445c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bacad1c57f2340eb" /><Relationship Type="http://schemas.openxmlformats.org/officeDocument/2006/relationships/notesMaster" Target="/ppt/notesMasters/notesMaster1.xml" Id="Rba22a26c3c9946d2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8b9045aa2a6d429c" /><Relationship Type="http://schemas.openxmlformats.org/officeDocument/2006/relationships/notesMaster" Target="/ppt/notesMasters/notesMaster1.xml" Id="Reeb3f4b1039c4e4c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cf9622642eb34aa9" /><Relationship Type="http://schemas.openxmlformats.org/officeDocument/2006/relationships/notesMaster" Target="/ppt/notesMasters/notesMaster1.xml" Id="R718c4c05691b4988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788fd12c644947db" /><Relationship Type="http://schemas.openxmlformats.org/officeDocument/2006/relationships/notesMaster" Target="/ppt/notesMasters/notesMaster1.xml" Id="R66c20e6c2df34efc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2ade63d1aacf4323" /><Relationship Type="http://schemas.openxmlformats.org/officeDocument/2006/relationships/notesMaster" Target="/ppt/notesMasters/notesMaster1.xml" Id="R9513fbfa1a534a13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215400a95e764f01" /><Relationship Type="http://schemas.openxmlformats.org/officeDocument/2006/relationships/notesMaster" Target="/ppt/notesMasters/notesMaster1.xml" Id="R06cf6a13886f487a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726da7b37e2f4e44" /><Relationship Type="http://schemas.openxmlformats.org/officeDocument/2006/relationships/notesMaster" Target="/ppt/notesMasters/notesMaster1.xml" Id="R307c62ad6f1e4f8a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19881dc0a7464400" /><Relationship Type="http://schemas.openxmlformats.org/officeDocument/2006/relationships/notesMaster" Target="/ppt/notesMasters/notesMaster1.xml" Id="Rd251fe38fb494aa8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173d9371b4254c96" /><Relationship Type="http://schemas.openxmlformats.org/officeDocument/2006/relationships/notesMaster" Target="/ppt/notesMasters/notesMaster1.xml" Id="R9ec1fa3e76ed4a3c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Fuente interna: Fuentes de Fase 2 y validación del modelo BI (comprobación: 26 de octubre de 2026).</a:t>
            </a:r>
          </a:p>
          <a:p xmlns:a="http://schemas.openxmlformats.org/drawingml/2006/main">
            <a:r>
              <a:t>Portada académica. La cifra grande corresponde al universo validado en SQL Server y Power BI.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Fuente interna: Informe de Fase 2 y validación del modelo BI.</a:t>
            </a:r>
          </a:p>
          <a:p xmlns:a="http://schemas.openxmlformats.org/drawingml/2006/main">
            <a:r>
              <a:t>La duración NULL no es demora normal. El P75 es la regla histórica usada para demora_alta y no representa un compromiso de servicio.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Fuente interna: Validación del modelo BI, sección de medidas DAX.</a:t>
            </a:r>
          </a:p>
          <a:p xmlns:a="http://schemas.openxmlformats.org/drawingml/2006/main">
            <a:r>
              <a:t>La tasa de demora alta usa como denominador las 1,230,737 solicitudes con duración observada.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Fuente interna: DDL y paquete SSIS de Fase 1; guía de integración y ficha del modelo BI.</a:t>
            </a:r>
          </a:p>
          <a:p xmlns:a="http://schemas.openxmlformats.org/drawingml/2006/main">
            <a:r>
              <a:t>El diagrama conserva únicamente objetos y relaciones documentados. La ejecución histórica del SSIS se presenta como evidencia de Fase 1, no como una ejecución repetida en esta sesión.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Fuente interna: Informe de Fase 2, guía de defensa y ficha de hechos comprobados.</a:t>
            </a:r>
          </a:p>
          <a:p xmlns:a="http://schemas.openxmlformats.org/drawingml/2006/main">
            <a:r>
              <a:t>El P75 se calculó sobre las duraciones observadas de abril–julio 2026. La etiqueta no se asigna a solicitudes sin duración.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Fuente interna: Informe de Fase 2, ficha de hechos comprobados y validación del modelo BI.</a:t>
            </a:r>
          </a:p>
          <a:p xmlns:a="http://schemas.openxmlformats.org/drawingml/2006/main">
            <a:r>
              <a:t>Los valores de volumen corresponden a la vista BI validada. Sin perfil K-Means no es un cuarto clúster y se conserva como categoría de auditoría.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Fuente interna: Informe de Fase 2, guía de defensa y especificación del dashboard.</a:t>
            </a:r>
          </a:p>
          <a:p xmlns:a="http://schemas.openxmlformats.org/drawingml/2006/main">
            <a:r>
              <a:t>La cifra de 2,982 corresponde a falsos negativos reportados en prueba. No se presenta como una cantidad operativa actual.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Fuente interna: La diapositiva resume las medidas del PBIX final: solicitudes distintas, mediana observada y cobertura de duración.</a:t>
            </a:r>
          </a:p>
          <a:p xmlns:a="http://schemas.openxmlformats.org/drawingml/2006/main">
            <a:r>
              <a:t>Las cifras distinguen casos observados de casos sin duración; no se imputan demoras.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Fuente interna: La diapositiva usa medidas y el filtro de Bronx validados contra el modelo tabular del PBIX final.</a:t>
            </a:r>
          </a:p>
          <a:p xmlns:a="http://schemas.openxmlformats.org/drawingml/2006/main">
            <a:r>
              <a:t>La mediana solo describe cierres observados; el tablero sirve para orientar capacidad y priorizar revisión, no para atribuir causas.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Fuente interna: Informe de Fase 2, guía de integración y validación del modelo BI.</a:t>
            </a:r>
          </a:p>
          <a:p xmlns:a="http://schemas.openxmlformats.org/drawingml/2006/main">
            <a:r>
              <a:t>La segmentación no asigna un clúster a cada ticket por inferencia individual. La vista BI expone los casos fuera de perfil para auditoría.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Fuente interna: Documento Fase 3, sección de costos y viabilidad; guía de costos y ficha del modelo BI.</a:t>
            </a:r>
          </a:p>
          <a:p xmlns:a="http://schemas.openxmlformats.org/drawingml/2006/main">
            <a:r>
              <a:t>El CAPEX, OPEX, TCO y ROI son supuestos de escenario para defender viabilidad. No representan un retorno observado por NYC311.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Fuente interna: Validación del modelo BI, guion de defensa y guía de defensa.</a:t>
            </a:r>
          </a:p>
          <a:p xmlns:a="http://schemas.openxmlformats.org/drawingml/2006/main">
            <a:r>
              <a:t>Las tres interacciones de demo están documentadas como consultas DAX parametrizadas. La revisión humana final debe abrir el PBIX en Power BI Desktop.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Fuente interna: Fuentes teóricas y normativas del proyecto consolidado.</a:t>
            </a:r>
          </a:p>
          <a:p xmlns:a="http://schemas.openxmlformats.org/drawingml/2006/main">
            <a:r>
              <a:t>Sustenta la base conceptual de modelado dimensional, procesos ETL, KDD, formulación de costos CAPEX/OPEX, evaluación financiera y gobernanza ética de datos.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61c49425f61484e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59db6000ece4a71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4b15e7907874f29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fcf049a11694f94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f1c04428d95469a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683f58735e94b73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4E2B25F2-ED05-4504-AA6C-F9245FDCC3D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590800"/>
            <a:ext cx="97536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E2CF14F1-2BEF-44CC-BC9D-C641B1674B01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800" y="3771900"/>
            <a:ext cx="8534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4C170632-2308-499C-A764-75909558FFD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857500"/>
            <a:ext cx="9753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10B0344D-5EA5-4EC6-84EF-0CB3DA56BE3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AE81F66B-C8B6-4F67-B823-1A8C9B905339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108204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39F5F372-CB87-4076-8EE3-F72783143BB4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99AD59D5-BDE7-4611-B33B-145FF8242F76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F1299DF9-DDAC-4FBD-9754-171D216A797D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4770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14CAF3AC-7B1B-44CB-AE93-B50548A1BE0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2503151D-21CD-4049-9792-05244BD3663E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ed16c7ca7abd4dbf" /><Relationship Type="http://schemas.openxmlformats.org/officeDocument/2006/relationships/slideLayout" Target="/ppt/slideLayouts/slideLayout1.xml" Id="R92298408a5804159" /><Relationship Type="http://schemas.openxmlformats.org/officeDocument/2006/relationships/slideLayout" Target="/ppt/slideLayouts/slideLayout2.xml" Id="Ra04d7f46e781409d" /><Relationship Type="http://schemas.openxmlformats.org/officeDocument/2006/relationships/slideLayout" Target="/ppt/slideLayouts/slideLayout3.xml" Id="R4e3014b9d5c54a84" /><Relationship Type="http://schemas.openxmlformats.org/officeDocument/2006/relationships/slideLayout" Target="/ppt/slideLayouts/slideLayout4.xml" Id="Re607d1a1bb9a409d" /><Relationship Type="http://schemas.openxmlformats.org/officeDocument/2006/relationships/slideLayout" Target="/ppt/slideLayouts/slideLayout5.xml" Id="R34f07e3ea8e84b43" /><Relationship Type="http://schemas.openxmlformats.org/officeDocument/2006/relationships/slideLayout" Target="/ppt/slideLayouts/slideLayout6.xml" Id="R509ebb2acd1a45d0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92298408a5804159"/>
    <p:sldLayoutId xmlns:r="http://schemas.openxmlformats.org/officeDocument/2006/relationships" id="2147483650" r:id="Ra04d7f46e781409d"/>
    <p:sldLayoutId xmlns:r="http://schemas.openxmlformats.org/officeDocument/2006/relationships" id="2147483651" r:id="R4e3014b9d5c54a84"/>
    <p:sldLayoutId xmlns:r="http://schemas.openxmlformats.org/officeDocument/2006/relationships" id="2147483652" r:id="Re607d1a1bb9a409d"/>
    <p:sldLayoutId xmlns:r="http://schemas.openxmlformats.org/officeDocument/2006/relationships" id="2147483653" r:id="R34f07e3ea8e84b43"/>
    <p:sldLayoutId xmlns:r="http://schemas.openxmlformats.org/officeDocument/2006/relationships" id="2147483654" r:id="R509ebb2acd1a45d0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6b71d7e4b65443ea" /><Relationship Type="http://schemas.openxmlformats.org/officeDocument/2006/relationships/notesSlide" Target="/ppt/notesSlides/notesSlide1.xml" Id="Rb71f10eab3124851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16b426868e0c4907" /><Relationship Type="http://schemas.openxmlformats.org/officeDocument/2006/relationships/chart" Target="/ppt/slides/charts/chart1.xml" Id="Rc83d5032f8a4491a" /><Relationship Type="http://schemas.openxmlformats.org/officeDocument/2006/relationships/notesSlide" Target="/ppt/notesSlides/notesSlide2.xml" Id="Rd826313d7252484b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a1db22fb6d644802" /><Relationship Type="http://schemas.openxmlformats.org/officeDocument/2006/relationships/chart" Target="/ppt/slides/charts/chart2.xml" Id="R61f366feb57b44ac" /><Relationship Type="http://schemas.openxmlformats.org/officeDocument/2006/relationships/notesSlide" Target="/ppt/notesSlides/notesSlide3.xml" Id="Ra47fbbce55414246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695b76480d5e463a" /><Relationship Type="http://schemas.openxmlformats.org/officeDocument/2006/relationships/notesSlide" Target="/ppt/notesSlides/notesSlide4.xml" Id="R774da9a633cb4f4d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cfbcef04e56c44e4" /><Relationship Type="http://schemas.openxmlformats.org/officeDocument/2006/relationships/chart" Target="/ppt/slides/charts/chart3.xml" Id="R22e0cb640e364f41" /><Relationship Type="http://schemas.openxmlformats.org/officeDocument/2006/relationships/notesSlide" Target="/ppt/notesSlides/notesSlide5.xml" Id="Rc7970f7f916f4f53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de8512d9644a4df3" /><Relationship Type="http://schemas.openxmlformats.org/officeDocument/2006/relationships/chart" Target="/ppt/slides/charts/chart4.xml" Id="R7d07097fc4e948e3" /><Relationship Type="http://schemas.openxmlformats.org/officeDocument/2006/relationships/notesSlide" Target="/ppt/notesSlides/notesSlide6.xml" Id="R5b819b5073bb4ab1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cae251f0df85486c" /><Relationship Type="http://schemas.openxmlformats.org/officeDocument/2006/relationships/chart" Target="/ppt/slides/charts/chart5.xml" Id="R6ef4859ffa154c7f" /><Relationship Type="http://schemas.openxmlformats.org/officeDocument/2006/relationships/notesSlide" Target="/ppt/notesSlides/notesSlide7.xml" Id="R3f94fefffc5d4806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bd617ee2b96a4d32" /><Relationship Type="http://schemas.openxmlformats.org/officeDocument/2006/relationships/chart" Target="/ppt/slides/charts/chart6.xml" Id="Ree32305d393b4d8e" /><Relationship Type="http://schemas.openxmlformats.org/officeDocument/2006/relationships/notesSlide" Target="/ppt/notesSlides/notesSlide8.xml" Id="R5fb3caf17d994e39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4c4a80fa37494be9" /><Relationship Type="http://schemas.openxmlformats.org/officeDocument/2006/relationships/notesSlide" Target="/ppt/notesSlides/notesSlide9.xml" Id="R06ca79b0723043cd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4eae2a7c0c0e4798" /><Relationship Type="http://schemas.openxmlformats.org/officeDocument/2006/relationships/chart" Target="/ppt/slides/charts/chart7.xml" Id="Refccc1a1268c42c2" /><Relationship Type="http://schemas.openxmlformats.org/officeDocument/2006/relationships/notesSlide" Target="/ppt/notesSlides/notesSlide10.xml" Id="R20092508c0e341dc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63ba7d0ac0894543" /><Relationship Type="http://schemas.openxmlformats.org/officeDocument/2006/relationships/notesSlide" Target="/ppt/notesSlides/notesSlide11.xml" Id="R6079444c4c004d53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1ae64b8187e84102" /><Relationship Type="http://schemas.openxmlformats.org/officeDocument/2006/relationships/notesSlide" Target="/ppt/notesSlides/notesSlide12.xml" Id="Ree6c839b49914c09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694259f5062a47ee" /><Relationship Type="http://schemas.openxmlformats.org/officeDocument/2006/relationships/notesSlide" Target="/ppt/notesSlides/notesSlide13.xml" Id="R744300023da74df5" /></Relationships>
</file>

<file path=ppt/slides/charts/_rels/chart1.xml.rels><Relationships xmlns="http://schemas.openxmlformats.org/package/2006/relationships"><Relationship Id="rIdChartSnapshot1" Type="http://schemas.openxmlformats.org/officeDocument/2006/relationships/package" Target="../../embeddings/chart-data-snapshot-001.xlsx"/></Relationships>
</file>

<file path=ppt/slides/charts/_rels/chart2.xml.rels><Relationships xmlns="http://schemas.openxmlformats.org/package/2006/relationships"><Relationship Id="rIdChartSnapshot1" Type="http://schemas.openxmlformats.org/officeDocument/2006/relationships/package" Target="../../embeddings/chart-data-snapshot-002.xlsx"/></Relationships>
</file>

<file path=ppt/slides/charts/_rels/chart3.xml.rels><Relationships xmlns="http://schemas.openxmlformats.org/package/2006/relationships"><Relationship Id="rIdChartSnapshot1" Type="http://schemas.openxmlformats.org/officeDocument/2006/relationships/package" Target="../../embeddings/chart-data-snapshot-003.xlsx"/></Relationships>
</file>

<file path=ppt/slides/charts/_rels/chart4.xml.rels><Relationships xmlns="http://schemas.openxmlformats.org/package/2006/relationships"><Relationship Id="rIdChartSnapshot1" Type="http://schemas.openxmlformats.org/officeDocument/2006/relationships/package" Target="../../embeddings/chart-data-snapshot-004.xlsx"/></Relationships>
</file>

<file path=ppt/slides/charts/_rels/chart5.xml.rels><Relationships xmlns="http://schemas.openxmlformats.org/package/2006/relationships"><Relationship Id="rIdChartSnapshot1" Type="http://schemas.openxmlformats.org/officeDocument/2006/relationships/package" Target="../../embeddings/chart-data-snapshot-005.xlsx"/></Relationships>
</file>

<file path=ppt/slides/charts/_rels/chart6.xml.rels><Relationships xmlns="http://schemas.openxmlformats.org/package/2006/relationships"><Relationship Id="rIdChartSnapshot1" Type="http://schemas.openxmlformats.org/officeDocument/2006/relationships/package" Target="../../embeddings/chart-data-snapshot-006.xlsx"/></Relationships>
</file>

<file path=ppt/slides/charts/_rels/chart7.xml.rels><Relationships xmlns="http://schemas.openxmlformats.org/package/2006/relationships"><Relationship Id="rIdChartSnapshot1" Type="http://schemas.openxmlformats.org/officeDocument/2006/relationships/package" Target="../../embeddings/chart-data-snapshot-007.xlsx"/></Relationships>
</file>

<file path=ppt/slides/charts/chart1.xml><?xml version="1.0" encoding="utf-8"?>
<c:chartSpace xmlns:c="http://schemas.openxmlformats.org/drawingml/2006/chart" xmlns:r="http://schemas.openxmlformats.org/officeDocument/2006/relationships">
  <c:lang val="en-US"/>
  <c:chart>
    <c:title>
      <c:tx>
        <c:rich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sz="1425" b="1">
                <a:solidFill>
                  <a:srgbClr val="14243D"/>
                </a:solidFill>
                <a:latin typeface="Arial"/>
                <a:ea typeface="Arial"/>
                <a:cs typeface="Arial"/>
              </a:rPr>
              <a:t>Minutos de resolución</a:t>
            </a:r>
          </a:p>
        </c:rich>
      </c:tx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1425" b="1">
              <a:solidFill>
                <a:srgbClr val="14243D"/>
              </a:solidFill>
              <a:latin typeface="Arial"/>
              <a:ea typeface="Arial"/>
              <a:cs typeface="Arial"/>
            </a:defRPr>
          </a:pPr>
        </a:p>
      </c:txPr>
    </c:title>
    <c:plotArea>
      <c:barChart>
        <c:barDir val="bar"/>
        <c:grouping val="clustered"/>
        <c:varyColors val="0"/>
        <c:ser>
          <c:idx val="0"/>
          <c:order val="0"/>
          <c:tx>
            <c:v>Minutos</c:v>
          </c:tx>
          <c:spPr>
            <a:solidFill xmlns:a="http://schemas.openxmlformats.org/drawingml/2006/main">
              <a:srgbClr val="2463EB"/>
            </a:solidFill>
          </c:spPr>
          <c:invertIfNegative val="0"/>
          <c:cat>
            <c:strRef>
              <c:f>'Chart Data'!$A$2:$A$3</c:f>
              <c:strCache>
                <c:ptCount val="2"/>
                <c:pt idx="0">
                  <c:v>Mediana observada</c:v>
                </c:pt>
                <c:pt idx="1">
                  <c:v>P75 histórico</c:v>
                </c:pt>
              </c:strCache>
            </c:strRef>
          </c:cat>
          <c:val>
            <c:numRef>
              <c:f>'Chart Data'!$B$2:$B$3</c:f>
              <c:numCache>
                <c:formatCode>General</c:formatCode>
                <c:ptCount val="2"/>
                <c:pt idx="0">
                  <c:v>330</c:v>
                </c:pt>
                <c:pt idx="1">
                  <c:v>4329</c:v>
                </c:pt>
              </c:numCache>
            </c:numRef>
          </c:val>
        </c:ser>
        <c:dLbls>
          <c:numFmt formatCode="#,##0" sourceLinked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125" b="1">
                  <a:solidFill>
                    <a:srgbClr val="14243D"/>
                  </a:solidFill>
                  <a:latin typeface="Arial"/>
                  <a:ea typeface="Arial"/>
                  <a:cs typeface="Arial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8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majorGridlines>
          <c:spPr>
            <a:ln xmlns:a="http://schemas.openxmlformats.org/drawingml/2006/main" w="9525">
              <a:solidFill>
                <a:srgbClr val="EEF1F6"/>
              </a:solidFill>
              <a:prstDash val="solid"/>
            </a:ln>
          </c:spPr>
        </c:majorGridlines>
        <c:numFmt formatCode="#,##0"/>
        <c:majorTickMark val="none"/>
        <c:minorTickMark val="none"/>
        <c:spPr>
          <a:ln xmlns:a="http://schemas.openxmlformats.org/drawingml/2006/main" w="9525">
            <a:solidFill>
              <a:srgbClr val="D9DEE8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05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</a:p>
        </c:txPr>
        <c:crossAx val="48672768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9DEE8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14243D"/>
                </a:solidFill>
                <a:latin typeface="Arial"/>
                <a:ea typeface="Arial"/>
                <a:cs typeface="Arial"/>
              </a:defRPr>
            </a:pPr>
          </a:p>
        </c:txPr>
        <c:crossAx val="48650112"/>
        <c:crossBetween val="between"/>
      </c:valAx>
      <c:spPr>
        <a:solidFill xmlns:a="http://schemas.openxmlformats.org/drawingml/2006/main">
          <a:srgbClr val="FFFFFF"/>
        </a:solidFill>
      </c:spPr>
    </c:plotArea>
    <c:plotVisOnly val="1"/>
  </c:chart>
  <c:spPr>
    <a:solidFill xmlns:a="http://schemas.openxmlformats.org/drawingml/2006/main">
      <a:srgbClr val="FFFFFF"/>
    </a:solidFill>
    <a:ln xmlns:a="http://schemas.openxmlformats.org/drawingml/2006/main" w="9525">
      <a:solidFill>
        <a:srgbClr val="D9DEE8"/>
      </a:solidFill>
      <a:prstDash val="solid"/>
    </a:ln>
  </c:spPr>
  <c:externalData r:id="rIdChartSnapshot1">
    <c:autoUpdate val="0"/>
  </c:externalData>
</c:chartSpace>
</file>

<file path=ppt/slides/charts/chart2.xml><?xml version="1.0" encoding="utf-8"?>
<c:chartSpace xmlns:c="http://schemas.openxmlformats.org/drawingml/2006/chart" xmlns:r="http://schemas.openxmlformats.org/officeDocument/2006/relationships">
  <c:lang val="en-US"/>
  <c:chart>
    <c:title>
      <c:tx>
        <c:rich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sz="1425" b="1">
                <a:solidFill>
                  <a:srgbClr val="14243D"/>
                </a:solidFill>
                <a:latin typeface="Arial"/>
                <a:ea typeface="Arial"/>
                <a:cs typeface="Arial"/>
              </a:rPr>
              <a:t>Cobertura de duración observada</a:t>
            </a:r>
          </a:p>
        </c:rich>
      </c:tx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1425" b="1">
              <a:solidFill>
                <a:srgbClr val="14243D"/>
              </a:solidFill>
              <a:latin typeface="Arial"/>
              <a:ea typeface="Arial"/>
              <a:cs typeface="Arial"/>
            </a:defRPr>
          </a:pPr>
        </a:p>
      </c:txPr>
    </c:title>
    <c:plotArea>
      <c:barChart>
        <c:barDir val="bar"/>
        <c:grouping val="clustered"/>
        <c:varyColors val="0"/>
        <c:ser>
          <c:idx val="0"/>
          <c:order val="0"/>
          <c:tx>
            <c:v>Solicitudes</c:v>
          </c:tx>
          <c:spPr>
            <a:solidFill xmlns:a="http://schemas.openxmlformats.org/drawingml/2006/main">
              <a:srgbClr val="2463EB"/>
            </a:solidFill>
          </c:spPr>
          <c:invertIfNegative val="0"/>
          <c:cat>
            <c:strRef>
              <c:f>'Chart Data'!$A$2:$A$3</c:f>
              <c:strCache>
                <c:ptCount val="2"/>
                <c:pt idx="0">
                  <c:v>Con duración</c:v>
                </c:pt>
                <c:pt idx="1">
                  <c:v>Sin duración</c:v>
                </c:pt>
              </c:strCache>
            </c:strRef>
          </c:cat>
          <c:val>
            <c:numRef>
              <c:f>'Chart Data'!$B$2:$B$3</c:f>
              <c:numCache>
                <c:formatCode>General</c:formatCode>
                <c:ptCount val="2"/>
                <c:pt idx="0">
                  <c:v>1248998</c:v>
                </c:pt>
                <c:pt idx="1">
                  <c:v>63467</c:v>
                </c:pt>
              </c:numCache>
            </c:numRef>
          </c:val>
        </c:ser>
        <c:dLbls>
          <c:numFmt formatCode="#,##0" sourceLinked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125" b="1">
                  <a:solidFill>
                    <a:srgbClr val="14243D"/>
                  </a:solidFill>
                  <a:latin typeface="Arial"/>
                  <a:ea typeface="Arial"/>
                  <a:cs typeface="Arial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majorGridlines>
          <c:spPr>
            <a:ln xmlns:a="http://schemas.openxmlformats.org/drawingml/2006/main" w="9525">
              <a:solidFill>
                <a:srgbClr val="EEF1F6"/>
              </a:solidFill>
              <a:prstDash val="solid"/>
            </a:ln>
          </c:spPr>
        </c:majorGridlines>
        <c:numFmt formatCode="#,##0"/>
        <c:majorTickMark val="none"/>
        <c:minorTickMark val="none"/>
        <c:spPr>
          <a:ln xmlns:a="http://schemas.openxmlformats.org/drawingml/2006/main" w="9525">
            <a:solidFill>
              <a:srgbClr val="D9DEE8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05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</a:p>
        </c:txPr>
        <c:crossAx val="48672768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9DEE8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14243D"/>
                </a:solidFill>
                <a:latin typeface="Arial"/>
                <a:ea typeface="Arial"/>
                <a:cs typeface="Arial"/>
              </a:defRPr>
            </a:pPr>
          </a:p>
        </c:txPr>
        <c:crossAx val="48650112"/>
        <c:crossBetween val="between"/>
      </c:valAx>
      <c:spPr>
        <a:solidFill xmlns:a="http://schemas.openxmlformats.org/drawingml/2006/main">
          <a:srgbClr val="FFFFFF"/>
        </a:solidFill>
      </c:spPr>
    </c:plotArea>
    <c:plotVisOnly val="1"/>
  </c:chart>
  <c:spPr>
    <a:solidFill xmlns:a="http://schemas.openxmlformats.org/drawingml/2006/main">
      <a:srgbClr val="FFFFFF"/>
    </a:solidFill>
    <a:ln xmlns:a="http://schemas.openxmlformats.org/drawingml/2006/main" w="9525">
      <a:solidFill>
        <a:srgbClr val="D9DEE8"/>
      </a:solidFill>
      <a:prstDash val="solid"/>
    </a:ln>
  </c:spPr>
  <c:externalData r:id="rIdChartSnapshot1">
    <c:autoUpdate val="0"/>
  </c:externalData>
</c:chartSpace>
</file>

<file path=ppt/slides/charts/chart3.xml><?xml version="1.0" encoding="utf-8"?>
<c:chartSpace xmlns:c="http://schemas.openxmlformats.org/drawingml/2006/chart" xmlns:r="http://schemas.openxmlformats.org/officeDocument/2006/relationships">
  <c:lang val="en-US"/>
  <c:chart>
    <c:title>
      <c:tx>
        <c:rich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sz="1425" b="1">
                <a:solidFill>
                  <a:srgbClr val="14243D"/>
                </a:solidFill>
                <a:latin typeface="Arial"/>
                <a:ea typeface="Arial"/>
                <a:cs typeface="Arial"/>
              </a:rPr>
              <a:t>Métricas del árbol en prueba</a:t>
            </a:r>
          </a:p>
        </c:rich>
      </c:tx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1425" b="1">
              <a:solidFill>
                <a:srgbClr val="14243D"/>
              </a:solidFill>
              <a:latin typeface="Arial"/>
              <a:ea typeface="Arial"/>
              <a:cs typeface="Arial"/>
            </a:defRPr>
          </a:pPr>
        </a:p>
      </c:txPr>
    </c:title>
    <c:plotArea>
      <c:barChart>
        <c:barDir val="bar"/>
        <c:grouping val="clustered"/>
        <c:varyColors val="0"/>
        <c:ser>
          <c:idx val="0"/>
          <c:order val="0"/>
          <c:tx>
            <c:v>Valor</c:v>
          </c:tx>
          <c:spPr>
            <a:solidFill xmlns:a="http://schemas.openxmlformats.org/drawingml/2006/main">
              <a:srgbClr val="2463EB"/>
            </a:solidFill>
          </c:spPr>
          <c:invertIfNegative val="0"/>
          <c:cat>
            <c:strRef>
              <c:f>'Chart Data'!$A$2:$A$4</c:f>
              <c:strCache>
                <c:ptCount val="3"/>
                <c:pt idx="0">
                  <c:v>Recall</c:v>
                </c:pt>
                <c:pt idx="1">
                  <c:v>F1</c:v>
                </c:pt>
                <c:pt idx="2">
                  <c:v>ROC-AUC</c:v>
                </c:pt>
              </c:strCache>
            </c:strRef>
          </c:cat>
          <c:val>
            <c:numRef>
              <c:f>'Chart Data'!$B$2:$B$4</c:f>
              <c:numCache>
                <c:formatCode>General</c:formatCode>
                <c:ptCount val="3"/>
                <c:pt idx="0">
                  <c:v>0.9515</c:v>
                </c:pt>
                <c:pt idx="1">
                  <c:v>0.7837</c:v>
                </c:pt>
                <c:pt idx="2">
                  <c:v>0.952</c:v>
                </c:pt>
              </c:numCache>
            </c:numRef>
          </c:val>
        </c:ser>
        <c:dLbls>
          <c:numFmt formatCode="0%" sourceLinked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125" b="1">
                  <a:solidFill>
                    <a:srgbClr val="14243D"/>
                  </a:solidFill>
                  <a:latin typeface="Arial"/>
                  <a:ea typeface="Arial"/>
                  <a:cs typeface="Arial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2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majorGridlines>
          <c:spPr>
            <a:ln xmlns:a="http://schemas.openxmlformats.org/drawingml/2006/main" w="9525">
              <a:solidFill>
                <a:srgbClr val="EEF1F6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xmlns:a="http://schemas.openxmlformats.org/drawingml/2006/main" w="9525">
            <a:solidFill>
              <a:srgbClr val="D9DEE8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05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</a:p>
        </c:txPr>
        <c:crossAx val="48672768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9DEE8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14243D"/>
                </a:solidFill>
                <a:latin typeface="Arial"/>
                <a:ea typeface="Arial"/>
                <a:cs typeface="Arial"/>
              </a:defRPr>
            </a:pPr>
          </a:p>
        </c:txPr>
        <c:crossAx val="48650112"/>
        <c:crossBetween val="between"/>
      </c:valAx>
      <c:spPr>
        <a:solidFill xmlns:a="http://schemas.openxmlformats.org/drawingml/2006/main">
          <a:srgbClr val="FFFFFF"/>
        </a:solidFill>
      </c:spPr>
    </c:plotArea>
    <c:plotVisOnly val="1"/>
  </c:chart>
  <c:spPr>
    <a:solidFill xmlns:a="http://schemas.openxmlformats.org/drawingml/2006/main">
      <a:srgbClr val="FFFFFF"/>
    </a:solidFill>
    <a:ln xmlns:a="http://schemas.openxmlformats.org/drawingml/2006/main" w="9525">
      <a:solidFill>
        <a:srgbClr val="D9DEE8"/>
      </a:solidFill>
      <a:prstDash val="solid"/>
    </a:ln>
  </c:spPr>
  <c:externalData r:id="rIdChartSnapshot1">
    <c:autoUpdate val="0"/>
  </c:externalData>
</c:chartSpace>
</file>

<file path=ppt/slides/charts/chart4.xml><?xml version="1.0" encoding="utf-8"?>
<c:chartSpace xmlns:c="http://schemas.openxmlformats.org/drawingml/2006/chart" xmlns:r="http://schemas.openxmlformats.org/officeDocument/2006/relationships">
  <c:lang val="en-US"/>
  <c:chart>
    <c:title>
      <c:tx>
        <c:rich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sz="1425" b="1">
                <a:solidFill>
                  <a:srgbClr val="14243D"/>
                </a:solidFill>
                <a:latin typeface="Arial"/>
                <a:ea typeface="Arial"/>
                <a:cs typeface="Arial"/>
              </a:rPr>
              <a:t>Solicitudes por perfil y fuera de perfil</a:t>
            </a:r>
          </a:p>
        </c:rich>
      </c:tx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1425" b="1">
              <a:solidFill>
                <a:srgbClr val="14243D"/>
              </a:solidFill>
              <a:latin typeface="Arial"/>
              <a:ea typeface="Arial"/>
              <a:cs typeface="Arial"/>
            </a:defRPr>
          </a:pPr>
        </a:p>
      </c:txPr>
    </c:title>
    <c:plotArea>
      <c:barChart>
        <c:barDir val="bar"/>
        <c:grouping val="clustered"/>
        <c:varyColors val="0"/>
        <c:ser>
          <c:idx val="0"/>
          <c:order val="0"/>
          <c:tx>
            <c:v>Solicitudes</c:v>
          </c:tx>
          <c:spPr>
            <a:solidFill xmlns:a="http://schemas.openxmlformats.org/drawingml/2006/main">
              <a:srgbClr val="2463EB"/>
            </a:solidFill>
          </c:spPr>
          <c:invertIfNegative val="0"/>
          <c:dPt>
            <c:idx val="1"/>
            <c:invertIfNegative val="0"/>
            <c:spPr>
              <a:solidFill xmlns:a="http://schemas.openxmlformats.org/drawingml/2006/main">
                <a:srgbClr val="6D4AFF"/>
              </a:solidFill>
            </c:spPr>
          </c:dPt>
          <c:dPt>
            <c:idx val="2"/>
            <c:invertIfNegative val="0"/>
            <c:spPr>
              <a:solidFill xmlns:a="http://schemas.openxmlformats.org/drawingml/2006/main">
                <a:srgbClr val="9B8AF2"/>
              </a:solidFill>
            </c:spPr>
          </c:dPt>
          <c:dPt>
            <c:idx val="3"/>
            <c:invertIfNegative val="0"/>
            <c:spPr>
              <a:solidFill xmlns:a="http://schemas.openxmlformats.org/drawingml/2006/main">
                <a:srgbClr val="98A2B3"/>
              </a:solidFill>
            </c:spPr>
          </c:dPt>
          <c:cat>
            <c:strRef>
              <c:f>'Chart Data'!$A$2:$A$5</c:f>
              <c:strCache>
                <c:ptCount val="4"/>
                <c:pt idx="0">
                  <c:v>Rápida / baja demora</c:v>
                </c:pt>
                <c:pt idx="1">
                  <c:v>Prolongada / alta demora</c:v>
                </c:pt>
                <c:pt idx="2">
                  <c:v>Rezago crítico</c:v>
                </c:pt>
                <c:pt idx="3">
                  <c:v>Sin perfil K-Means</c:v>
                </c:pt>
              </c:strCache>
            </c:strRef>
          </c:cat>
          <c:val>
            <c:numRef>
              <c:f>'Chart Data'!$B$2:$B$5</c:f>
              <c:numCache>
                <c:formatCode>General</c:formatCode>
                <c:ptCount val="4"/>
                <c:pt idx="0">
                  <c:v>910529</c:v>
                </c:pt>
                <c:pt idx="1">
                  <c:v>358005</c:v>
                </c:pt>
                <c:pt idx="2">
                  <c:v>29621</c:v>
                </c:pt>
                <c:pt idx="3">
                  <c:v>14310</c:v>
                </c:pt>
              </c:numCache>
            </c:numRef>
          </c:val>
        </c:ser>
        <c:dLbls>
          <c:numFmt formatCode="#,##0" sourceLinked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050" b="1">
                  <a:solidFill>
                    <a:srgbClr val="14243D"/>
                  </a:solidFill>
                  <a:latin typeface="Arial"/>
                  <a:ea typeface="Arial"/>
                  <a:cs typeface="Arial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8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majorGridlines>
          <c:spPr>
            <a:ln xmlns:a="http://schemas.openxmlformats.org/drawingml/2006/main" w="9525">
              <a:solidFill>
                <a:srgbClr val="EEF1F6"/>
              </a:solidFill>
              <a:prstDash val="solid"/>
            </a:ln>
          </c:spPr>
        </c:majorGridlines>
        <c:numFmt formatCode="#,##0"/>
        <c:majorTickMark val="none"/>
        <c:minorTickMark val="none"/>
        <c:spPr>
          <a:ln xmlns:a="http://schemas.openxmlformats.org/drawingml/2006/main" w="9525">
            <a:solidFill>
              <a:srgbClr val="D9DEE8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05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</a:p>
        </c:txPr>
        <c:crossAx val="48672768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9DEE8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14243D"/>
                </a:solidFill>
                <a:latin typeface="Arial"/>
                <a:ea typeface="Arial"/>
                <a:cs typeface="Arial"/>
              </a:defRPr>
            </a:pPr>
          </a:p>
        </c:txPr>
        <c:crossAx val="48650112"/>
        <c:crossBetween val="between"/>
      </c:valAx>
      <c:spPr>
        <a:solidFill xmlns:a="http://schemas.openxmlformats.org/drawingml/2006/main">
          <a:srgbClr val="FFFFFF"/>
        </a:solidFill>
      </c:spPr>
    </c:plotArea>
    <c:plotVisOnly val="1"/>
  </c:chart>
  <c:spPr>
    <a:solidFill xmlns:a="http://schemas.openxmlformats.org/drawingml/2006/main">
      <a:srgbClr val="FFFFFF"/>
    </a:solidFill>
    <a:ln xmlns:a="http://schemas.openxmlformats.org/drawingml/2006/main" w="9525">
      <a:solidFill>
        <a:srgbClr val="D9DEE8"/>
      </a:solidFill>
      <a:prstDash val="solid"/>
    </a:ln>
  </c:spPr>
  <c:externalData r:id="rIdChartSnapshot1">
    <c:autoUpdate val="0"/>
  </c:externalData>
</c:chartSpace>
</file>

<file path=ppt/slides/charts/chart5.xml><?xml version="1.0" encoding="utf-8"?>
<c:chartSpace xmlns:c="http://schemas.openxmlformats.org/drawingml/2006/chart" xmlns:r="http://schemas.openxmlformats.org/officeDocument/2006/relationships">
  <c:lang val="en-US"/>
  <c:chart>
    <c:title>
      <c:tx>
        <c:rich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sz="1425" b="1">
                <a:solidFill>
                  <a:srgbClr val="14243D"/>
                </a:solidFill>
                <a:latin typeface="Arial"/>
                <a:ea typeface="Arial"/>
                <a:cs typeface="Arial"/>
              </a:rPr>
              <a:t>Demoras verdaderas en el conjunto de prueba</a:t>
            </a:r>
          </a:p>
        </c:rich>
      </c:tx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1425" b="1">
              <a:solidFill>
                <a:srgbClr val="14243D"/>
              </a:solidFill>
              <a:latin typeface="Arial"/>
              <a:ea typeface="Arial"/>
              <a:cs typeface="Arial"/>
            </a:defRPr>
          </a:pPr>
        </a:p>
      </c:txPr>
    </c:title>
    <c:plotArea>
      <c:barChart>
        <c:barDir val="bar"/>
        <c:grouping val="clustered"/>
        <c:varyColors val="0"/>
        <c:ser>
          <c:idx val="0"/>
          <c:order val="0"/>
          <c:tx>
            <c:v>Casos</c:v>
          </c:tx>
          <c:spPr>
            <a:solidFill xmlns:a="http://schemas.openxmlformats.org/drawingml/2006/main">
              <a:srgbClr val="2463EB"/>
            </a:solidFill>
          </c:spPr>
          <c:invertIfNegative val="0"/>
          <c:dPt>
            <c:idx val="1"/>
            <c:invertIfNegative val="0"/>
            <c:spPr>
              <a:solidFill xmlns:a="http://schemas.openxmlformats.org/drawingml/2006/main">
                <a:srgbClr val="B85C68"/>
              </a:solidFill>
            </c:spPr>
          </c:dPt>
          <c:cat>
            <c:strRef>
              <c:f>'Chart Data'!$A$2:$A$3</c:f>
              <c:strCache>
                <c:ptCount val="2"/>
                <c:pt idx="0">
                  <c:v>Detectadas</c:v>
                </c:pt>
                <c:pt idx="1">
                  <c:v>No detectadas</c:v>
                </c:pt>
              </c:strCache>
            </c:strRef>
          </c:cat>
          <c:val>
            <c:numRef>
              <c:f>'Chart Data'!$B$2:$B$3</c:f>
              <c:numCache>
                <c:formatCode>General</c:formatCode>
                <c:ptCount val="2"/>
                <c:pt idx="0">
                  <c:v>58549</c:v>
                </c:pt>
                <c:pt idx="1">
                  <c:v>2982</c:v>
                </c:pt>
              </c:numCache>
            </c:numRef>
          </c:val>
        </c:ser>
        <c:dLbls>
          <c:numFmt formatCode="#,##0" sourceLinked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125" b="1">
                  <a:solidFill>
                    <a:srgbClr val="14243D"/>
                  </a:solidFill>
                  <a:latin typeface="Arial"/>
                  <a:ea typeface="Arial"/>
                  <a:cs typeface="Arial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majorGridlines>
          <c:spPr>
            <a:ln xmlns:a="http://schemas.openxmlformats.org/drawingml/2006/main" w="9525">
              <a:solidFill>
                <a:srgbClr val="EEF1F6"/>
              </a:solidFill>
              <a:prstDash val="solid"/>
            </a:ln>
          </c:spPr>
        </c:majorGridlines>
        <c:numFmt formatCode="#,##0"/>
        <c:majorTickMark val="none"/>
        <c:minorTickMark val="none"/>
        <c:spPr>
          <a:ln xmlns:a="http://schemas.openxmlformats.org/drawingml/2006/main" w="9525">
            <a:solidFill>
              <a:srgbClr val="D9DEE8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05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</a:p>
        </c:txPr>
        <c:crossAx val="48672768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9DEE8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14243D"/>
                </a:solidFill>
                <a:latin typeface="Arial"/>
                <a:ea typeface="Arial"/>
                <a:cs typeface="Arial"/>
              </a:defRPr>
            </a:pPr>
          </a:p>
        </c:txPr>
        <c:crossAx val="48650112"/>
        <c:crossBetween val="between"/>
      </c:valAx>
      <c:spPr>
        <a:solidFill xmlns:a="http://schemas.openxmlformats.org/drawingml/2006/main">
          <a:srgbClr val="FFFFFF"/>
        </a:solidFill>
      </c:spPr>
    </c:plotArea>
    <c:plotVisOnly val="1"/>
  </c:chart>
  <c:spPr>
    <a:solidFill xmlns:a="http://schemas.openxmlformats.org/drawingml/2006/main">
      <a:srgbClr val="FFFFFF"/>
    </a:solidFill>
    <a:ln xmlns:a="http://schemas.openxmlformats.org/drawingml/2006/main" w="9525">
      <a:solidFill>
        <a:srgbClr val="D9DEE8"/>
      </a:solidFill>
      <a:prstDash val="solid"/>
    </a:ln>
  </c:spPr>
  <c:externalData r:id="rIdChartSnapshot1">
    <c:autoUpdate val="0"/>
  </c:externalData>
</c:chartSpace>
</file>

<file path=ppt/slides/charts/chart6.xml><?xml version="1.0" encoding="utf-8"?>
<c:chartSpace xmlns:c="http://schemas.openxmlformats.org/drawingml/2006/chart" xmlns:r="http://schemas.openxmlformats.org/officeDocument/2006/relationships">
  <c:lang val="en-US"/>
  <c:chart>
    <c:title>
      <c:tx>
        <c:rich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sz="1425" b="1">
                <a:solidFill>
                  <a:srgbClr val="14243D"/>
                </a:solidFill>
                <a:latin typeface="Arial"/>
                <a:ea typeface="Arial"/>
                <a:cs typeface="Arial"/>
              </a:rPr>
              <a:t>Cobertura temporal de las solicitudes</a:t>
            </a:r>
          </a:p>
        </c:rich>
      </c:tx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1425" b="1">
              <a:solidFill>
                <a:srgbClr val="14243D"/>
              </a:solidFill>
              <a:latin typeface="Arial"/>
              <a:ea typeface="Arial"/>
              <a:cs typeface="Arial"/>
            </a:defRPr>
          </a:pPr>
        </a:p>
      </c:txPr>
    </c:title>
    <c:plotArea>
      <c:barChart>
        <c:barDir val="bar"/>
        <c:grouping val="clustered"/>
        <c:varyColors val="0"/>
        <c:ser>
          <c:idx val="0"/>
          <c:order val="0"/>
          <c:tx>
            <c:v>Solicitudes</c:v>
          </c:tx>
          <c:spPr>
            <a:solidFill xmlns:a="http://schemas.openxmlformats.org/drawingml/2006/main">
              <a:srgbClr val="2463EB"/>
            </a:solidFill>
          </c:spPr>
          <c:invertIfNegative val="0"/>
          <c:dPt>
            <c:idx val="1"/>
            <c:invertIfNegative val="0"/>
            <c:spPr>
              <a:solidFill xmlns:a="http://schemas.openxmlformats.org/drawingml/2006/main">
                <a:srgbClr val="B85C68"/>
              </a:solidFill>
            </c:spPr>
          </c:dPt>
          <c:cat>
            <c:strRef>
              <c:f>'Chart Data'!$A$2:$A$3</c:f>
              <c:strCache>
                <c:ptCount val="2"/>
                <c:pt idx="0">
                  <c:v>Con duración observada</c:v>
                </c:pt>
                <c:pt idx="1">
                  <c:v>Sin duración observada</c:v>
                </c:pt>
              </c:strCache>
            </c:strRef>
          </c:cat>
          <c:val>
            <c:numRef>
              <c:f>'Chart Data'!$B$2:$B$3</c:f>
              <c:numCache>
                <c:formatCode>General</c:formatCode>
                <c:ptCount val="2"/>
                <c:pt idx="0">
                  <c:v>1248998</c:v>
                </c:pt>
                <c:pt idx="1">
                  <c:v>63467</c:v>
                </c:pt>
              </c:numCache>
            </c:numRef>
          </c:val>
        </c:ser>
        <c:dLbls>
          <c:numFmt formatCode="#,##0" sourceLinked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125" b="1">
                  <a:solidFill>
                    <a:srgbClr val="14243D"/>
                  </a:solidFill>
                  <a:latin typeface="Arial"/>
                  <a:ea typeface="Arial"/>
                  <a:cs typeface="Arial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majorGridlines>
          <c:spPr>
            <a:ln xmlns:a="http://schemas.openxmlformats.org/drawingml/2006/main" w="9525">
              <a:solidFill>
                <a:srgbClr val="EEF1F6"/>
              </a:solidFill>
              <a:prstDash val="solid"/>
            </a:ln>
          </c:spPr>
        </c:majorGridlines>
        <c:numFmt formatCode="#,##0"/>
        <c:majorTickMark val="none"/>
        <c:minorTickMark val="none"/>
        <c:spPr>
          <a:ln xmlns:a="http://schemas.openxmlformats.org/drawingml/2006/main" w="9525">
            <a:solidFill>
              <a:srgbClr val="D9DEE8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05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</a:p>
        </c:txPr>
        <c:crossAx val="48672768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9DEE8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14243D"/>
                </a:solidFill>
                <a:latin typeface="Arial"/>
                <a:ea typeface="Arial"/>
                <a:cs typeface="Arial"/>
              </a:defRPr>
            </a:pPr>
          </a:p>
        </c:txPr>
        <c:crossAx val="48650112"/>
        <c:crossBetween val="between"/>
      </c:valAx>
      <c:spPr>
        <a:solidFill xmlns:a="http://schemas.openxmlformats.org/drawingml/2006/main">
          <a:srgbClr val="FFFFFF"/>
        </a:solidFill>
      </c:spPr>
    </c:plotArea>
    <c:plotVisOnly val="1"/>
  </c:chart>
  <c:spPr>
    <a:solidFill xmlns:a="http://schemas.openxmlformats.org/drawingml/2006/main">
      <a:srgbClr val="FFFFFF"/>
    </a:solidFill>
    <a:ln xmlns:a="http://schemas.openxmlformats.org/drawingml/2006/main" w="9525">
      <a:solidFill>
        <a:srgbClr val="D9DEE8"/>
      </a:solidFill>
      <a:prstDash val="solid"/>
    </a:ln>
  </c:spPr>
  <c:externalData r:id="rIdChartSnapshot1">
    <c:autoUpdate val="0"/>
  </c:externalData>
</c:chartSpace>
</file>

<file path=ppt/slides/charts/chart7.xml><?xml version="1.0" encoding="utf-8"?>
<c:chartSpace xmlns:c="http://schemas.openxmlformats.org/drawingml/2006/chart" xmlns:r="http://schemas.openxmlformats.org/officeDocument/2006/relationships">
  <c:lang val="en-US"/>
  <c:chart>
    <c:title>
      <c:tx>
        <c:rich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sz="1425" b="1">
                <a:solidFill>
                  <a:srgbClr val="14243D"/>
                </a:solidFill>
                <a:latin typeface="Arial"/>
                <a:ea typeface="Arial"/>
                <a:cs typeface="Arial"/>
              </a:rPr>
              <a:t>Volumen por perfil operativo</a:t>
            </a:r>
          </a:p>
        </c:rich>
      </c:tx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1425" b="1">
              <a:solidFill>
                <a:srgbClr val="14243D"/>
              </a:solidFill>
              <a:latin typeface="Arial"/>
              <a:ea typeface="Arial"/>
              <a:cs typeface="Arial"/>
            </a:defRPr>
          </a:pPr>
        </a:p>
      </c:txPr>
    </c:title>
    <c:plotArea>
      <c:barChart>
        <c:barDir val="bar"/>
        <c:grouping val="clustered"/>
        <c:varyColors val="0"/>
        <c:ser>
          <c:idx val="0"/>
          <c:order val="0"/>
          <c:tx>
            <c:v>Solicitudes</c:v>
          </c:tx>
          <c:spPr>
            <a:solidFill xmlns:a="http://schemas.openxmlformats.org/drawingml/2006/main">
              <a:srgbClr val="2463EB"/>
            </a:solidFill>
          </c:spPr>
          <c:invertIfNegative val="0"/>
          <c:dPt>
            <c:idx val="1"/>
            <c:invertIfNegative val="0"/>
            <c:spPr>
              <a:solidFill xmlns:a="http://schemas.openxmlformats.org/drawingml/2006/main">
                <a:srgbClr val="6D4AFF"/>
              </a:solidFill>
            </c:spPr>
          </c:dPt>
          <c:dPt>
            <c:idx val="2"/>
            <c:invertIfNegative val="0"/>
            <c:spPr>
              <a:solidFill xmlns:a="http://schemas.openxmlformats.org/drawingml/2006/main">
                <a:srgbClr val="9B8AF2"/>
              </a:solidFill>
            </c:spPr>
          </c:dPt>
          <c:dPt>
            <c:idx val="3"/>
            <c:invertIfNegative val="0"/>
            <c:spPr>
              <a:solidFill xmlns:a="http://schemas.openxmlformats.org/drawingml/2006/main">
                <a:srgbClr val="98A2B3"/>
              </a:solidFill>
            </c:spPr>
          </c:dPt>
          <c:cat>
            <c:strRef>
              <c:f>'Chart Data'!$A$2:$A$5</c:f>
              <c:strCache>
                <c:ptCount val="4"/>
                <c:pt idx="0">
                  <c:v>Rápida / baja demora</c:v>
                </c:pt>
                <c:pt idx="1">
                  <c:v>Prolongada / alta demora</c:v>
                </c:pt>
                <c:pt idx="2">
                  <c:v>Rezago crítico</c:v>
                </c:pt>
                <c:pt idx="3">
                  <c:v>Sin perfil K-Means</c:v>
                </c:pt>
              </c:strCache>
            </c:strRef>
          </c:cat>
          <c:val>
            <c:numRef>
              <c:f>'Chart Data'!$B$2:$B$5</c:f>
              <c:numCache>
                <c:formatCode>General</c:formatCode>
                <c:ptCount val="4"/>
                <c:pt idx="0">
                  <c:v>910529</c:v>
                </c:pt>
                <c:pt idx="1">
                  <c:v>358005</c:v>
                </c:pt>
                <c:pt idx="2">
                  <c:v>29621</c:v>
                </c:pt>
                <c:pt idx="3">
                  <c:v>14310</c:v>
                </c:pt>
              </c:numCache>
            </c:numRef>
          </c:val>
        </c:ser>
        <c:dLbls>
          <c:numFmt formatCode="#,##0" sourceLinked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050" b="1">
                  <a:solidFill>
                    <a:srgbClr val="14243D"/>
                  </a:solidFill>
                  <a:latin typeface="Arial"/>
                  <a:ea typeface="Arial"/>
                  <a:cs typeface="Arial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8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majorGridlines>
          <c:spPr>
            <a:ln xmlns:a="http://schemas.openxmlformats.org/drawingml/2006/main" w="9525">
              <a:solidFill>
                <a:srgbClr val="EEF1F6"/>
              </a:solidFill>
              <a:prstDash val="solid"/>
            </a:ln>
          </c:spPr>
        </c:majorGridlines>
        <c:numFmt formatCode="#,##0"/>
        <c:majorTickMark val="none"/>
        <c:minorTickMark val="none"/>
        <c:spPr>
          <a:ln xmlns:a="http://schemas.openxmlformats.org/drawingml/2006/main" w="9525">
            <a:solidFill>
              <a:srgbClr val="D9DEE8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05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</a:p>
        </c:txPr>
        <c:crossAx val="48672768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9DEE8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14243D"/>
                </a:solidFill>
                <a:latin typeface="Arial"/>
                <a:ea typeface="Arial"/>
                <a:cs typeface="Arial"/>
              </a:defRPr>
            </a:pPr>
          </a:p>
        </c:txPr>
        <c:crossAx val="48650112"/>
        <c:crossBetween val="between"/>
      </c:valAx>
      <c:spPr>
        <a:solidFill xmlns:a="http://schemas.openxmlformats.org/drawingml/2006/main">
          <a:srgbClr val="FFFFFF"/>
        </a:solidFill>
      </c:spPr>
    </c:plotArea>
    <c:plotVisOnly val="1"/>
  </c:chart>
  <c:spPr>
    <a:solidFill xmlns:a="http://schemas.openxmlformats.org/drawingml/2006/main">
      <a:srgbClr val="FFFFFF"/>
    </a:solidFill>
    <a:ln xmlns:a="http://schemas.openxmlformats.org/drawingml/2006/main" w="9525">
      <a:solidFill>
        <a:srgbClr val="D9DEE8"/>
      </a:solidFill>
      <a:prstDash val="solid"/>
    </a:ln>
  </c:spPr>
  <c:externalData r:id="rIdChartSnapshot1">
    <c:autoUpdate val="0"/>
  </c:externalData>
</c:chartSpace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7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C80787B-CF00-419F-AD21-D3FE04F410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245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125" b="1" i="0">
                <a:solidFill>
                  <a:srgbClr val="2463EB"/>
                </a:solidFill>
                <a:latin typeface="Arial"/>
                <a:ea typeface="Arial"/>
                <a:cs typeface="Arial"/>
              </a:defRPr>
            </a:defPPr>
            <a:lvl1pPr algn="l">
              <a:defRPr sz="1125" b="1" i="0">
                <a:solidFill>
                  <a:srgbClr val="2463EB"/>
                </a:solidFill>
                <a:latin typeface="Arial"/>
                <a:ea typeface="Arial"/>
                <a:cs typeface="Arial"/>
              </a:defRPr>
            </a:lvl1pPr>
            <a:lvl2pPr algn="l">
              <a:defRPr sz="1125" b="1" i="0">
                <a:solidFill>
                  <a:srgbClr val="2463EB"/>
                </a:solidFill>
                <a:latin typeface="Arial"/>
                <a:ea typeface="Arial"/>
                <a:cs typeface="Arial"/>
              </a:defRPr>
            </a:lvl2pPr>
            <a:lvl3pPr algn="l">
              <a:defRPr sz="1125" b="1" i="0">
                <a:solidFill>
                  <a:srgbClr val="2463EB"/>
                </a:solidFill>
                <a:latin typeface="Arial"/>
                <a:ea typeface="Arial"/>
                <a:cs typeface="Arial"/>
              </a:defRPr>
            </a:lvl3pPr>
            <a:lvl4pPr algn="l">
              <a:defRPr sz="1125" b="1" i="0">
                <a:solidFill>
                  <a:srgbClr val="2463EB"/>
                </a:solidFill>
                <a:latin typeface="Arial"/>
                <a:ea typeface="Arial"/>
                <a:cs typeface="Arial"/>
              </a:defRPr>
            </a:lvl4pPr>
            <a:lvl5pPr algn="l">
              <a:defRPr sz="1125" b="1" i="0">
                <a:solidFill>
                  <a:srgbClr val="2463EB"/>
                </a:solidFill>
                <a:latin typeface="Arial"/>
                <a:ea typeface="Arial"/>
                <a:cs typeface="Arial"/>
              </a:defRPr>
            </a:lvl5pPr>
            <a:lvl6pPr algn="l">
              <a:defRPr sz="1125" b="1" i="0">
                <a:solidFill>
                  <a:srgbClr val="2463EB"/>
                </a:solidFill>
                <a:latin typeface="Arial"/>
                <a:ea typeface="Arial"/>
                <a:cs typeface="Arial"/>
              </a:defRPr>
            </a:lvl6pPr>
            <a:lvl7pPr algn="l">
              <a:defRPr sz="1125" b="1" i="0">
                <a:solidFill>
                  <a:srgbClr val="2463EB"/>
                </a:solidFill>
                <a:latin typeface="Arial"/>
                <a:ea typeface="Arial"/>
                <a:cs typeface="Arial"/>
              </a:defRPr>
            </a:lvl7pPr>
            <a:lvl8pPr algn="l">
              <a:defRPr sz="1125" b="1" i="0">
                <a:solidFill>
                  <a:srgbClr val="2463EB"/>
                </a:solidFill>
                <a:latin typeface="Arial"/>
                <a:ea typeface="Arial"/>
                <a:cs typeface="Arial"/>
              </a:defRPr>
            </a:lvl8pPr>
            <a:lvl9pPr algn="l">
              <a:defRPr sz="1125" b="1" i="0">
                <a:solidFill>
                  <a:srgbClr val="2463E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1125" b="1" i="0">
                <a:solidFill>
                  <a:srgbClr val="2463EB"/>
                </a:solidFill>
                <a:latin typeface="Arial"/>
                <a:ea typeface="Arial"/>
                <a:cs typeface="Arial"/>
              </a:defRPr>
            </a:pPr>
            <a:r>
              <a:rPr sz="1125" b="1" i="0">
                <a:solidFill>
                  <a:srgbClr val="2463EB"/>
                </a:solidFill>
                <a:latin typeface="Arial"/>
                <a:ea typeface="Arial"/>
                <a:cs typeface="Arial"/>
              </a:rPr>
              <a:t>DMD104 / UNIVERSIDAD DON BOSCO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FA1A23C-EFD2-40DF-A2E1-0029E902F3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38250"/>
            <a:ext cx="6191250" cy="1619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5250" b="1" i="0">
                <a:solidFill>
                  <a:srgbClr val="14243D"/>
                </a:solidFill>
                <a:latin typeface="Arial"/>
                <a:ea typeface="Arial"/>
                <a:cs typeface="Arial"/>
              </a:defRPr>
            </a:defPPr>
            <a:lvl1pPr algn="l">
              <a:defRPr sz="5250" b="1" i="0">
                <a:solidFill>
                  <a:srgbClr val="14243D"/>
                </a:solidFill>
                <a:latin typeface="Arial"/>
                <a:ea typeface="Arial"/>
                <a:cs typeface="Arial"/>
              </a:defRPr>
            </a:lvl1pPr>
            <a:lvl2pPr algn="l">
              <a:defRPr sz="5250" b="1" i="0">
                <a:solidFill>
                  <a:srgbClr val="14243D"/>
                </a:solidFill>
                <a:latin typeface="Arial"/>
                <a:ea typeface="Arial"/>
                <a:cs typeface="Arial"/>
              </a:defRPr>
            </a:lvl2pPr>
            <a:lvl3pPr algn="l">
              <a:defRPr sz="5250" b="1" i="0">
                <a:solidFill>
                  <a:srgbClr val="14243D"/>
                </a:solidFill>
                <a:latin typeface="Arial"/>
                <a:ea typeface="Arial"/>
                <a:cs typeface="Arial"/>
              </a:defRPr>
            </a:lvl3pPr>
            <a:lvl4pPr algn="l">
              <a:defRPr sz="5250" b="1" i="0">
                <a:solidFill>
                  <a:srgbClr val="14243D"/>
                </a:solidFill>
                <a:latin typeface="Arial"/>
                <a:ea typeface="Arial"/>
                <a:cs typeface="Arial"/>
              </a:defRPr>
            </a:lvl4pPr>
            <a:lvl5pPr algn="l">
              <a:defRPr sz="5250" b="1" i="0">
                <a:solidFill>
                  <a:srgbClr val="14243D"/>
                </a:solidFill>
                <a:latin typeface="Arial"/>
                <a:ea typeface="Arial"/>
                <a:cs typeface="Arial"/>
              </a:defRPr>
            </a:lvl5pPr>
            <a:lvl6pPr algn="l">
              <a:defRPr sz="5250" b="1" i="0">
                <a:solidFill>
                  <a:srgbClr val="14243D"/>
                </a:solidFill>
                <a:latin typeface="Arial"/>
                <a:ea typeface="Arial"/>
                <a:cs typeface="Arial"/>
              </a:defRPr>
            </a:lvl6pPr>
            <a:lvl7pPr algn="l">
              <a:defRPr sz="5250" b="1" i="0">
                <a:solidFill>
                  <a:srgbClr val="14243D"/>
                </a:solidFill>
                <a:latin typeface="Arial"/>
                <a:ea typeface="Arial"/>
                <a:cs typeface="Arial"/>
              </a:defRPr>
            </a:lvl7pPr>
            <a:lvl8pPr algn="l">
              <a:defRPr sz="5250" b="1" i="0">
                <a:solidFill>
                  <a:srgbClr val="14243D"/>
                </a:solidFill>
                <a:latin typeface="Arial"/>
                <a:ea typeface="Arial"/>
                <a:cs typeface="Arial"/>
              </a:defRPr>
            </a:lvl8pPr>
            <a:lvl9pPr algn="l">
              <a:defRPr sz="5250" b="1" i="0">
                <a:solidFill>
                  <a:srgbClr val="14243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lnSpc>
                <a:spcPct val="88000"/>
              </a:lnSpc>
              <a:buNone/>
              <a:defRPr sz="5250" b="1" i="0">
                <a:solidFill>
                  <a:srgbClr val="14243D"/>
                </a:solidFill>
                <a:latin typeface="Arial"/>
                <a:ea typeface="Arial"/>
                <a:cs typeface="Arial"/>
              </a:defRPr>
            </a:pPr>
            <a:r>
              <a:rPr sz="5250" b="1" i="0">
                <a:solidFill>
                  <a:srgbClr val="14243D"/>
                </a:solidFill>
                <a:latin typeface="Arial"/>
                <a:ea typeface="Arial"/>
                <a:cs typeface="Arial"/>
              </a:rPr>
              <a:t>NYC311</a:t>
            </a:r>
          </a:p>
          <a:p xmlns:a="http://schemas.openxmlformats.org/drawingml/2006/main">
            <a:pPr algn="l">
              <a:lnSpc>
                <a:spcPct val="88000"/>
              </a:lnSpc>
              <a:buNone/>
              <a:defRPr sz="5250" b="1" i="0">
                <a:solidFill>
                  <a:srgbClr val="14243D"/>
                </a:solidFill>
                <a:latin typeface="Arial"/>
                <a:ea typeface="Arial"/>
                <a:cs typeface="Arial"/>
              </a:defRPr>
            </a:pPr>
            <a:r>
              <a:rPr sz="5250" b="1" i="0">
                <a:solidFill>
                  <a:srgbClr val="14243D"/>
                </a:solidFill>
                <a:latin typeface="Arial"/>
                <a:ea typeface="Arial"/>
                <a:cs typeface="Arial"/>
              </a:rPr>
              <a:t>Fase 3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F93DBDC-F9D0-4CF0-B95E-B3EEDF0BCB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105150"/>
            <a:ext cx="5905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1" i="0">
                <a:solidFill>
                  <a:srgbClr val="111827"/>
                </a:solidFill>
                <a:latin typeface="Arial"/>
                <a:ea typeface="Arial"/>
                <a:cs typeface="Arial"/>
              </a:defRPr>
            </a:defPPr>
            <a:lvl1pPr algn="l">
              <a:defRPr sz="1875" b="1" i="0">
                <a:solidFill>
                  <a:srgbClr val="111827"/>
                </a:solidFill>
                <a:latin typeface="Arial"/>
                <a:ea typeface="Arial"/>
                <a:cs typeface="Arial"/>
              </a:defRPr>
            </a:lvl1pPr>
            <a:lvl2pPr algn="l">
              <a:defRPr sz="1875" b="1" i="0">
                <a:solidFill>
                  <a:srgbClr val="111827"/>
                </a:solidFill>
                <a:latin typeface="Arial"/>
                <a:ea typeface="Arial"/>
                <a:cs typeface="Arial"/>
              </a:defRPr>
            </a:lvl2pPr>
            <a:lvl3pPr algn="l">
              <a:defRPr sz="1875" b="1" i="0">
                <a:solidFill>
                  <a:srgbClr val="111827"/>
                </a:solidFill>
                <a:latin typeface="Arial"/>
                <a:ea typeface="Arial"/>
                <a:cs typeface="Arial"/>
              </a:defRPr>
            </a:lvl3pPr>
            <a:lvl4pPr algn="l">
              <a:defRPr sz="1875" b="1" i="0">
                <a:solidFill>
                  <a:srgbClr val="111827"/>
                </a:solidFill>
                <a:latin typeface="Arial"/>
                <a:ea typeface="Arial"/>
                <a:cs typeface="Arial"/>
              </a:defRPr>
            </a:lvl4pPr>
            <a:lvl5pPr algn="l">
              <a:defRPr sz="1875" b="1" i="0">
                <a:solidFill>
                  <a:srgbClr val="111827"/>
                </a:solidFill>
                <a:latin typeface="Arial"/>
                <a:ea typeface="Arial"/>
                <a:cs typeface="Arial"/>
              </a:defRPr>
            </a:lvl5pPr>
            <a:lvl6pPr algn="l">
              <a:defRPr sz="1875" b="1" i="0">
                <a:solidFill>
                  <a:srgbClr val="111827"/>
                </a:solidFill>
                <a:latin typeface="Arial"/>
                <a:ea typeface="Arial"/>
                <a:cs typeface="Arial"/>
              </a:defRPr>
            </a:lvl6pPr>
            <a:lvl7pPr algn="l">
              <a:defRPr sz="1875" b="1" i="0">
                <a:solidFill>
                  <a:srgbClr val="111827"/>
                </a:solidFill>
                <a:latin typeface="Arial"/>
                <a:ea typeface="Arial"/>
                <a:cs typeface="Arial"/>
              </a:defRPr>
            </a:lvl7pPr>
            <a:lvl8pPr algn="l">
              <a:defRPr sz="1875" b="1" i="0">
                <a:solidFill>
                  <a:srgbClr val="111827"/>
                </a:solidFill>
                <a:latin typeface="Arial"/>
                <a:ea typeface="Arial"/>
                <a:cs typeface="Arial"/>
              </a:defRPr>
            </a:lvl8pPr>
            <a:lvl9pPr algn="l">
              <a:defRPr sz="1875" b="1" i="0">
                <a:solidFill>
                  <a:srgbClr val="11182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1875" b="1" i="0">
                <a:solidFill>
                  <a:srgbClr val="111827"/>
                </a:solidFill>
                <a:latin typeface="Arial"/>
                <a:ea typeface="Arial"/>
                <a:cs typeface="Arial"/>
              </a:defRPr>
            </a:pPr>
            <a:r>
              <a:rPr sz="1875" b="1" i="0">
                <a:solidFill>
                  <a:srgbClr val="111827"/>
                </a:solidFill>
                <a:latin typeface="Arial"/>
                <a:ea typeface="Arial"/>
                <a:cs typeface="Arial"/>
              </a:rPr>
              <a:t>Del dato abierto a la decisión operativa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AFD79A4-CCDE-405F-BC40-145C300208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638550"/>
            <a:ext cx="5524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00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defPPr>
            <a:lvl1pPr algn="l">
              <a:defRPr sz="1500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lvl1pPr>
            <a:lvl2pPr algn="l">
              <a:defRPr sz="1500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lvl2pPr>
            <a:lvl3pPr algn="l">
              <a:defRPr sz="1500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lvl3pPr>
            <a:lvl4pPr algn="l">
              <a:defRPr sz="1500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lvl4pPr>
            <a:lvl5pPr algn="l">
              <a:defRPr sz="1500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lvl5pPr>
            <a:lvl6pPr algn="l">
              <a:defRPr sz="1500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lvl6pPr>
            <a:lvl7pPr algn="l">
              <a:defRPr sz="1500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lvl7pPr>
            <a:lvl8pPr algn="l">
              <a:defRPr sz="1500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lvl8pPr>
            <a:lvl9pPr algn="l">
              <a:defRPr sz="1500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1500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1500" b="0" i="0">
                <a:solidFill>
                  <a:srgbClr val="667085"/>
                </a:solidFill>
                <a:latin typeface="Arial"/>
                <a:ea typeface="Arial"/>
                <a:cs typeface="Arial"/>
              </a:rPr>
              <a:t>Data Warehouse · Minería · Power BI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E7B3EB1-F25E-44BD-8427-5A95939029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343400"/>
            <a:ext cx="5238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6D4AFF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78958E1-C277-4700-A2DC-3D6D6EC17D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552950"/>
            <a:ext cx="3333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275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defPPr>
            <a:lvl1pPr algn="l">
              <a:defRPr sz="1275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lvl1pPr>
            <a:lvl2pPr algn="l">
              <a:defRPr sz="1275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lvl2pPr>
            <a:lvl3pPr algn="l">
              <a:defRPr sz="1275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lvl3pPr>
            <a:lvl4pPr algn="l">
              <a:defRPr sz="1275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lvl4pPr>
            <a:lvl5pPr algn="l">
              <a:defRPr sz="1275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lvl5pPr>
            <a:lvl6pPr algn="l">
              <a:defRPr sz="1275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lvl6pPr>
            <a:lvl7pPr algn="l">
              <a:defRPr sz="1275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lvl7pPr>
            <a:lvl8pPr algn="l">
              <a:defRPr sz="1275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lvl8pPr>
            <a:lvl9pPr algn="l">
              <a:defRPr sz="1275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1275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667085"/>
                </a:solidFill>
                <a:latin typeface="Arial"/>
                <a:ea typeface="Arial"/>
                <a:cs typeface="Arial"/>
              </a:rPr>
              <a:t>Defensa · 26 octubre 2026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150DCCA-8406-4AE0-B25D-6278F03A64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010150"/>
            <a:ext cx="4953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200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defPPr>
            <a:lvl1pPr algn="l">
              <a:defRPr sz="1200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lvl1pPr>
            <a:lvl2pPr algn="l">
              <a:defRPr sz="1200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lvl2pPr>
            <a:lvl3pPr algn="l">
              <a:defRPr sz="1200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lvl3pPr>
            <a:lvl4pPr algn="l">
              <a:defRPr sz="1200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lvl4pPr>
            <a:lvl5pPr algn="l">
              <a:defRPr sz="1200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lvl5pPr>
            <a:lvl6pPr algn="l">
              <a:defRPr sz="1200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lvl6pPr>
            <a:lvl7pPr algn="l">
              <a:defRPr sz="1200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lvl7pPr>
            <a:lvl8pPr algn="l">
              <a:defRPr sz="1200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lvl8pPr>
            <a:lvl9pPr algn="l">
              <a:defRPr sz="1200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lnSpc>
                <a:spcPct val="112000"/>
              </a:lnSpc>
              <a:buNone/>
              <a:defRPr sz="1200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1200" b="0" i="0">
                <a:solidFill>
                  <a:srgbClr val="667085"/>
                </a:solidFill>
                <a:latin typeface="Arial"/>
                <a:ea typeface="Arial"/>
                <a:cs typeface="Arial"/>
              </a:rPr>
              <a:t>Lemus Mejía · Bonilla Saz · Chávez Castillo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200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1200" b="0" i="0">
                <a:solidFill>
                  <a:srgbClr val="667085"/>
                </a:solidFill>
                <a:latin typeface="Arial"/>
                <a:ea typeface="Arial"/>
                <a:cs typeface="Arial"/>
              </a:rPr>
              <a:t>López Ortiz · Galdámez Soto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97B5678-2A3A-454B-B3F7-6D42D12ABD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495300"/>
            <a:ext cx="2571750" cy="5810250"/>
          </a:xfrm>
          <a:prstGeom xmlns:a="http://schemas.openxmlformats.org/drawingml/2006/main" prst="roundRect">
            <a:avLst>
              <a:gd name="adj" fmla="val 5926"/>
            </a:avLst>
          </a:prstGeom>
          <a:solidFill xmlns:a="http://schemas.openxmlformats.org/drawingml/2006/main">
            <a:srgbClr val="14243D"/>
          </a:solidFill>
          <a:ln xmlns:a="http://schemas.openxmlformats.org/drawingml/2006/main" w="0">
            <a:solidFill>
              <a:srgbClr val="14243D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7EDA437-9EE1-4386-9D23-7578B78C8F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1181100"/>
            <a:ext cx="180975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570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 algn="l">
              <a:defRPr sz="570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 algn="l">
              <a:defRPr sz="570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 algn="l">
              <a:defRPr sz="570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 algn="l">
              <a:defRPr sz="570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 algn="l">
              <a:defRPr sz="570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 algn="l">
              <a:defRPr sz="570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 algn="l">
              <a:defRPr sz="570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 algn="l">
              <a:defRPr sz="570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 algn="l">
              <a:defRPr sz="570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lnSpc>
                <a:spcPct val="82000"/>
              </a:lnSpc>
              <a:buNone/>
              <a:defRPr sz="570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570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NYC</a:t>
            </a:r>
          </a:p>
          <a:p xmlns:a="http://schemas.openxmlformats.org/drawingml/2006/main">
            <a:pPr algn="l">
              <a:lnSpc>
                <a:spcPct val="82000"/>
              </a:lnSpc>
              <a:buNone/>
              <a:defRPr sz="570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570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311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8E697F4-7A27-4C0C-A8B1-6EC1FB38BC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3028950"/>
            <a:ext cx="1447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25">
            <a:solidFill>
              <a:srgbClr val="6D4AFF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A135A07-B134-4FEC-BC11-AA9DA4C168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3429000"/>
            <a:ext cx="16192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 algn="l">
              <a:defRPr sz="1875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 algn="l">
              <a:defRPr sz="1875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 algn="l">
              <a:defRPr sz="1875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 algn="l">
              <a:defRPr sz="1875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 algn="l">
              <a:defRPr sz="1875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 algn="l">
              <a:defRPr sz="1875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 algn="l">
              <a:defRPr sz="1875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 algn="l">
              <a:defRPr sz="1875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 algn="l">
              <a:defRPr sz="1875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lnSpc>
                <a:spcPct val="95000"/>
              </a:lnSpc>
              <a:buNone/>
              <a:defRPr sz="1875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875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1,312,465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1875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875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solicitudes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BEFA898-9192-4AA3-A371-6D6483557C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4400550"/>
            <a:ext cx="2000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050" b="0" i="0">
                <a:solidFill>
                  <a:srgbClr val="DCE8FF"/>
                </a:solidFill>
                <a:latin typeface="Arial"/>
                <a:ea typeface="Arial"/>
                <a:cs typeface="Arial"/>
              </a:defRPr>
            </a:defPPr>
            <a:lvl1pPr algn="l">
              <a:defRPr sz="1050" b="0" i="0">
                <a:solidFill>
                  <a:srgbClr val="DCE8FF"/>
                </a:solidFill>
                <a:latin typeface="Arial"/>
                <a:ea typeface="Arial"/>
                <a:cs typeface="Arial"/>
              </a:defRPr>
            </a:lvl1pPr>
            <a:lvl2pPr algn="l">
              <a:defRPr sz="1050" b="0" i="0">
                <a:solidFill>
                  <a:srgbClr val="DCE8FF"/>
                </a:solidFill>
                <a:latin typeface="Arial"/>
                <a:ea typeface="Arial"/>
                <a:cs typeface="Arial"/>
              </a:defRPr>
            </a:lvl2pPr>
            <a:lvl3pPr algn="l">
              <a:defRPr sz="1050" b="0" i="0">
                <a:solidFill>
                  <a:srgbClr val="DCE8FF"/>
                </a:solidFill>
                <a:latin typeface="Arial"/>
                <a:ea typeface="Arial"/>
                <a:cs typeface="Arial"/>
              </a:defRPr>
            </a:lvl3pPr>
            <a:lvl4pPr algn="l">
              <a:defRPr sz="1050" b="0" i="0">
                <a:solidFill>
                  <a:srgbClr val="DCE8FF"/>
                </a:solidFill>
                <a:latin typeface="Arial"/>
                <a:ea typeface="Arial"/>
                <a:cs typeface="Arial"/>
              </a:defRPr>
            </a:lvl4pPr>
            <a:lvl5pPr algn="l">
              <a:defRPr sz="1050" b="0" i="0">
                <a:solidFill>
                  <a:srgbClr val="DCE8FF"/>
                </a:solidFill>
                <a:latin typeface="Arial"/>
                <a:ea typeface="Arial"/>
                <a:cs typeface="Arial"/>
              </a:defRPr>
            </a:lvl5pPr>
            <a:lvl6pPr algn="l">
              <a:defRPr sz="1050" b="0" i="0">
                <a:solidFill>
                  <a:srgbClr val="DCE8FF"/>
                </a:solidFill>
                <a:latin typeface="Arial"/>
                <a:ea typeface="Arial"/>
                <a:cs typeface="Arial"/>
              </a:defRPr>
            </a:lvl6pPr>
            <a:lvl7pPr algn="l">
              <a:defRPr sz="1050" b="0" i="0">
                <a:solidFill>
                  <a:srgbClr val="DCE8FF"/>
                </a:solidFill>
                <a:latin typeface="Arial"/>
                <a:ea typeface="Arial"/>
                <a:cs typeface="Arial"/>
              </a:defRPr>
            </a:lvl7pPr>
            <a:lvl8pPr algn="l">
              <a:defRPr sz="1050" b="0" i="0">
                <a:solidFill>
                  <a:srgbClr val="DCE8FF"/>
                </a:solidFill>
                <a:latin typeface="Arial"/>
                <a:ea typeface="Arial"/>
                <a:cs typeface="Arial"/>
              </a:defRPr>
            </a:lvl8pPr>
            <a:lvl9pPr algn="l">
              <a:defRPr sz="1050" b="0" i="0">
                <a:solidFill>
                  <a:srgbClr val="DCE8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1050" b="0" i="0">
                <a:solidFill>
                  <a:srgbClr val="DCE8FF"/>
                </a:solidFill>
                <a:latin typeface="Arial"/>
                <a:ea typeface="Arial"/>
                <a:cs typeface="Arial"/>
              </a:defRPr>
            </a:pPr>
            <a:r>
              <a:rPr sz="1050" b="0" i="0">
                <a:solidFill>
                  <a:srgbClr val="DCE8FF"/>
                </a:solidFill>
                <a:latin typeface="Arial"/>
                <a:ea typeface="Arial"/>
                <a:cs typeface="Arial"/>
              </a:rPr>
              <a:t>BI: enero y abril–julio 2026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A6A8332-CE62-4239-BCDC-387A051E5C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5372100"/>
            <a:ext cx="1809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20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 algn="l">
              <a:defRPr sz="120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 algn="l">
              <a:defRPr sz="120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 algn="l">
              <a:defRPr sz="120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 algn="l">
              <a:defRPr sz="120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 algn="l">
              <a:defRPr sz="120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 algn="l">
              <a:defRPr sz="120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 algn="l">
              <a:defRPr sz="120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 algn="l">
              <a:defRPr sz="120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 algn="l">
              <a:defRPr sz="120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120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0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F1  →  F2  →  F3</a:t>
            </a:r>
          </a:p>
        </p:txBody>
      </p:sp>
    </p:spTree>
    <p:extLst>
      <p:ext uri="{BB962C8B-B14F-4D97-AF65-F5344CB8AC3E}">
        <p14:creationId xmlns:p14="http://schemas.microsoft.com/office/powerpoint/2010/main" val="29661260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7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A2D2EFC-E655-4661-9AEC-26F34734D9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2667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975" b="1" i="0">
                <a:solidFill>
                  <a:srgbClr val="2463EB"/>
                </a:solidFill>
                <a:latin typeface="Arial"/>
                <a:ea typeface="Arial"/>
                <a:cs typeface="Arial"/>
              </a:defRPr>
            </a:defPPr>
            <a:lvl1pPr algn="l">
              <a:defRPr sz="975" b="1" i="0">
                <a:solidFill>
                  <a:srgbClr val="2463EB"/>
                </a:solidFill>
                <a:latin typeface="Arial"/>
                <a:ea typeface="Arial"/>
                <a:cs typeface="Arial"/>
              </a:defRPr>
            </a:lvl1pPr>
            <a:lvl2pPr algn="l">
              <a:defRPr sz="975" b="1" i="0">
                <a:solidFill>
                  <a:srgbClr val="2463EB"/>
                </a:solidFill>
                <a:latin typeface="Arial"/>
                <a:ea typeface="Arial"/>
                <a:cs typeface="Arial"/>
              </a:defRPr>
            </a:lvl2pPr>
            <a:lvl3pPr algn="l">
              <a:defRPr sz="975" b="1" i="0">
                <a:solidFill>
                  <a:srgbClr val="2463EB"/>
                </a:solidFill>
                <a:latin typeface="Arial"/>
                <a:ea typeface="Arial"/>
                <a:cs typeface="Arial"/>
              </a:defRPr>
            </a:lvl3pPr>
            <a:lvl4pPr algn="l">
              <a:defRPr sz="975" b="1" i="0">
                <a:solidFill>
                  <a:srgbClr val="2463EB"/>
                </a:solidFill>
                <a:latin typeface="Arial"/>
                <a:ea typeface="Arial"/>
                <a:cs typeface="Arial"/>
              </a:defRPr>
            </a:lvl4pPr>
            <a:lvl5pPr algn="l">
              <a:defRPr sz="975" b="1" i="0">
                <a:solidFill>
                  <a:srgbClr val="2463EB"/>
                </a:solidFill>
                <a:latin typeface="Arial"/>
                <a:ea typeface="Arial"/>
                <a:cs typeface="Arial"/>
              </a:defRPr>
            </a:lvl5pPr>
            <a:lvl6pPr algn="l">
              <a:defRPr sz="975" b="1" i="0">
                <a:solidFill>
                  <a:srgbClr val="2463EB"/>
                </a:solidFill>
                <a:latin typeface="Arial"/>
                <a:ea typeface="Arial"/>
                <a:cs typeface="Arial"/>
              </a:defRPr>
            </a:lvl6pPr>
            <a:lvl7pPr algn="l">
              <a:defRPr sz="975" b="1" i="0">
                <a:solidFill>
                  <a:srgbClr val="2463EB"/>
                </a:solidFill>
                <a:latin typeface="Arial"/>
                <a:ea typeface="Arial"/>
                <a:cs typeface="Arial"/>
              </a:defRPr>
            </a:lvl7pPr>
            <a:lvl8pPr algn="l">
              <a:defRPr sz="975" b="1" i="0">
                <a:solidFill>
                  <a:srgbClr val="2463EB"/>
                </a:solidFill>
                <a:latin typeface="Arial"/>
                <a:ea typeface="Arial"/>
                <a:cs typeface="Arial"/>
              </a:defRPr>
            </a:lvl8pPr>
            <a:lvl9pPr algn="l">
              <a:defRPr sz="975" b="1" i="0">
                <a:solidFill>
                  <a:srgbClr val="2463E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975" b="1" i="0">
                <a:solidFill>
                  <a:srgbClr val="2463EB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2463EB"/>
                </a:solidFill>
                <a:latin typeface="Arial"/>
                <a:ea typeface="Arial"/>
                <a:cs typeface="Arial"/>
              </a:rPr>
              <a:t>NYC311 / FASE 3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78DADCF-5E2B-4B39-A149-A2F65FBCFF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44200" y="285750"/>
            <a:ext cx="8382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975" b="1" i="0">
                <a:solidFill>
                  <a:srgbClr val="98A2B3"/>
                </a:solidFill>
                <a:latin typeface="Arial"/>
                <a:ea typeface="Arial"/>
                <a:cs typeface="Arial"/>
              </a:defRPr>
            </a:defPPr>
            <a:lvl1pPr algn="r">
              <a:defRPr sz="975" b="1" i="0">
                <a:solidFill>
                  <a:srgbClr val="98A2B3"/>
                </a:solidFill>
                <a:latin typeface="Arial"/>
                <a:ea typeface="Arial"/>
                <a:cs typeface="Arial"/>
              </a:defRPr>
            </a:lvl1pPr>
            <a:lvl2pPr algn="r">
              <a:defRPr sz="975" b="1" i="0">
                <a:solidFill>
                  <a:srgbClr val="98A2B3"/>
                </a:solidFill>
                <a:latin typeface="Arial"/>
                <a:ea typeface="Arial"/>
                <a:cs typeface="Arial"/>
              </a:defRPr>
            </a:lvl2pPr>
            <a:lvl3pPr algn="r">
              <a:defRPr sz="975" b="1" i="0">
                <a:solidFill>
                  <a:srgbClr val="98A2B3"/>
                </a:solidFill>
                <a:latin typeface="Arial"/>
                <a:ea typeface="Arial"/>
                <a:cs typeface="Arial"/>
              </a:defRPr>
            </a:lvl3pPr>
            <a:lvl4pPr algn="r">
              <a:defRPr sz="975" b="1" i="0">
                <a:solidFill>
                  <a:srgbClr val="98A2B3"/>
                </a:solidFill>
                <a:latin typeface="Arial"/>
                <a:ea typeface="Arial"/>
                <a:cs typeface="Arial"/>
              </a:defRPr>
            </a:lvl4pPr>
            <a:lvl5pPr algn="r">
              <a:defRPr sz="975" b="1" i="0">
                <a:solidFill>
                  <a:srgbClr val="98A2B3"/>
                </a:solidFill>
                <a:latin typeface="Arial"/>
                <a:ea typeface="Arial"/>
                <a:cs typeface="Arial"/>
              </a:defRPr>
            </a:lvl5pPr>
            <a:lvl6pPr algn="r">
              <a:defRPr sz="975" b="1" i="0">
                <a:solidFill>
                  <a:srgbClr val="98A2B3"/>
                </a:solidFill>
                <a:latin typeface="Arial"/>
                <a:ea typeface="Arial"/>
                <a:cs typeface="Arial"/>
              </a:defRPr>
            </a:lvl6pPr>
            <a:lvl7pPr algn="r">
              <a:defRPr sz="975" b="1" i="0">
                <a:solidFill>
                  <a:srgbClr val="98A2B3"/>
                </a:solidFill>
                <a:latin typeface="Arial"/>
                <a:ea typeface="Arial"/>
                <a:cs typeface="Arial"/>
              </a:defRPr>
            </a:lvl7pPr>
            <a:lvl8pPr algn="r">
              <a:defRPr sz="975" b="1" i="0">
                <a:solidFill>
                  <a:srgbClr val="98A2B3"/>
                </a:solidFill>
                <a:latin typeface="Arial"/>
                <a:ea typeface="Arial"/>
                <a:cs typeface="Arial"/>
              </a:defRPr>
            </a:lvl8pPr>
            <a:lvl9pPr algn="r">
              <a:defRPr sz="975" b="1" i="0">
                <a:solidFill>
                  <a:srgbClr val="98A2B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r">
              <a:lnSpc>
                <a:spcPct val="105000"/>
              </a:lnSpc>
              <a:buNone/>
              <a:defRPr sz="975" b="1" i="0">
                <a:solidFill>
                  <a:srgbClr val="98A2B3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98A2B3"/>
                </a:solidFill>
                <a:latin typeface="Arial"/>
                <a:ea typeface="Arial"/>
                <a:cs typeface="Arial"/>
              </a:rPr>
              <a:t>02 / 13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EB16B30-FE5A-44B2-AB8F-06D46C9D19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"/>
            <a:ext cx="9906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87236"/>
          </a:bodyPr>
          <a:lstStyle xmlns:a="http://schemas.openxmlformats.org/drawingml/2006/main">
            <a:defPPr algn="l">
              <a:defRPr sz="2850" b="1" i="0">
                <a:solidFill>
                  <a:srgbClr val="14243D"/>
                </a:solidFill>
                <a:latin typeface="Arial"/>
                <a:ea typeface="Arial"/>
                <a:cs typeface="Arial"/>
              </a:defRPr>
            </a:defPPr>
            <a:lvl1pPr algn="l">
              <a:defRPr sz="2850" b="1" i="0">
                <a:solidFill>
                  <a:srgbClr val="14243D"/>
                </a:solidFill>
                <a:latin typeface="Arial"/>
                <a:ea typeface="Arial"/>
                <a:cs typeface="Arial"/>
              </a:defRPr>
            </a:lvl1pPr>
            <a:lvl2pPr algn="l">
              <a:defRPr sz="2850" b="1" i="0">
                <a:solidFill>
                  <a:srgbClr val="14243D"/>
                </a:solidFill>
                <a:latin typeface="Arial"/>
                <a:ea typeface="Arial"/>
                <a:cs typeface="Arial"/>
              </a:defRPr>
            </a:lvl2pPr>
            <a:lvl3pPr algn="l">
              <a:defRPr sz="2850" b="1" i="0">
                <a:solidFill>
                  <a:srgbClr val="14243D"/>
                </a:solidFill>
                <a:latin typeface="Arial"/>
                <a:ea typeface="Arial"/>
                <a:cs typeface="Arial"/>
              </a:defRPr>
            </a:lvl3pPr>
            <a:lvl4pPr algn="l">
              <a:defRPr sz="2850" b="1" i="0">
                <a:solidFill>
                  <a:srgbClr val="14243D"/>
                </a:solidFill>
                <a:latin typeface="Arial"/>
                <a:ea typeface="Arial"/>
                <a:cs typeface="Arial"/>
              </a:defRPr>
            </a:lvl4pPr>
            <a:lvl5pPr algn="l">
              <a:defRPr sz="2850" b="1" i="0">
                <a:solidFill>
                  <a:srgbClr val="14243D"/>
                </a:solidFill>
                <a:latin typeface="Arial"/>
                <a:ea typeface="Arial"/>
                <a:cs typeface="Arial"/>
              </a:defRPr>
            </a:lvl5pPr>
            <a:lvl6pPr algn="l">
              <a:defRPr sz="2850" b="1" i="0">
                <a:solidFill>
                  <a:srgbClr val="14243D"/>
                </a:solidFill>
                <a:latin typeface="Arial"/>
                <a:ea typeface="Arial"/>
                <a:cs typeface="Arial"/>
              </a:defRPr>
            </a:lvl6pPr>
            <a:lvl7pPr algn="l">
              <a:defRPr sz="2850" b="1" i="0">
                <a:solidFill>
                  <a:srgbClr val="14243D"/>
                </a:solidFill>
                <a:latin typeface="Arial"/>
                <a:ea typeface="Arial"/>
                <a:cs typeface="Arial"/>
              </a:defRPr>
            </a:lvl7pPr>
            <a:lvl8pPr algn="l">
              <a:defRPr sz="2850" b="1" i="0">
                <a:solidFill>
                  <a:srgbClr val="14243D"/>
                </a:solidFill>
                <a:latin typeface="Arial"/>
                <a:ea typeface="Arial"/>
                <a:cs typeface="Arial"/>
              </a:defRPr>
            </a:lvl8pPr>
            <a:lvl9pPr algn="l">
              <a:defRPr sz="2850" b="1" i="0">
                <a:solidFill>
                  <a:srgbClr val="14243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lnSpc>
                <a:spcPct val="95000"/>
              </a:lnSpc>
              <a:buNone/>
              <a:defRPr sz="2850" b="1" i="0">
                <a:solidFill>
                  <a:srgbClr val="14243D"/>
                </a:solidFill>
                <a:latin typeface="Arial"/>
                <a:ea typeface="Arial"/>
                <a:cs typeface="Arial"/>
              </a:defRPr>
            </a:pPr>
            <a:r>
              <a:rPr sz="2850" b="1" i="0">
                <a:solidFill>
                  <a:srgbClr val="14243D"/>
                </a:solidFill>
                <a:latin typeface="Arial"/>
                <a:ea typeface="Arial"/>
                <a:cs typeface="Arial"/>
              </a:rPr>
              <a:t>La demora está concentrada y el dato faltante debe quedar visible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C260FF3-51AB-4303-AB9D-9C87172D00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95400"/>
            <a:ext cx="9906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350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defPPr>
            <a:lvl1pPr algn="l">
              <a:defRPr sz="1350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lvl1pPr>
            <a:lvl2pPr algn="l">
              <a:defRPr sz="1350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lvl2pPr>
            <a:lvl3pPr algn="l">
              <a:defRPr sz="1350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lvl3pPr>
            <a:lvl4pPr algn="l">
              <a:defRPr sz="1350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lvl4pPr>
            <a:lvl5pPr algn="l">
              <a:defRPr sz="1350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lvl5pPr>
            <a:lvl6pPr algn="l">
              <a:defRPr sz="1350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lvl6pPr>
            <a:lvl7pPr algn="l">
              <a:defRPr sz="1350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lvl7pPr>
            <a:lvl8pPr algn="l">
              <a:defRPr sz="1350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lvl8pPr>
            <a:lvl9pPr algn="l">
              <a:defRPr sz="1350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lnSpc>
                <a:spcPct val="100000"/>
              </a:lnSpc>
              <a:buNone/>
              <a:defRPr sz="1350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1350" b="0" i="0">
                <a:solidFill>
                  <a:srgbClr val="667085"/>
                </a:solidFill>
                <a:latin typeface="Arial"/>
                <a:ea typeface="Arial"/>
                <a:cs typeface="Arial"/>
              </a:rPr>
              <a:t>BI actual: enero y abril–julio 2026. El snapshot F2 abril–julio se conserva como referencia histórica.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EE1A495-3BC7-481F-BE2C-931E536397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526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DEE8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0C60493-E7B8-4D28-86AC-0863A162E0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86000"/>
            <a:ext cx="3810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3450" b="1" i="0">
                <a:solidFill>
                  <a:srgbClr val="14243D"/>
                </a:solidFill>
                <a:latin typeface="Arial"/>
                <a:ea typeface="Arial"/>
                <a:cs typeface="Arial"/>
              </a:defRPr>
            </a:defPPr>
            <a:lvl1pPr algn="l">
              <a:defRPr sz="3450" b="1" i="0">
                <a:solidFill>
                  <a:srgbClr val="14243D"/>
                </a:solidFill>
                <a:latin typeface="Arial"/>
                <a:ea typeface="Arial"/>
                <a:cs typeface="Arial"/>
              </a:defRPr>
            </a:lvl1pPr>
            <a:lvl2pPr algn="l">
              <a:defRPr sz="3450" b="1" i="0">
                <a:solidFill>
                  <a:srgbClr val="14243D"/>
                </a:solidFill>
                <a:latin typeface="Arial"/>
                <a:ea typeface="Arial"/>
                <a:cs typeface="Arial"/>
              </a:defRPr>
            </a:lvl2pPr>
            <a:lvl3pPr algn="l">
              <a:defRPr sz="3450" b="1" i="0">
                <a:solidFill>
                  <a:srgbClr val="14243D"/>
                </a:solidFill>
                <a:latin typeface="Arial"/>
                <a:ea typeface="Arial"/>
                <a:cs typeface="Arial"/>
              </a:defRPr>
            </a:lvl3pPr>
            <a:lvl4pPr algn="l">
              <a:defRPr sz="3450" b="1" i="0">
                <a:solidFill>
                  <a:srgbClr val="14243D"/>
                </a:solidFill>
                <a:latin typeface="Arial"/>
                <a:ea typeface="Arial"/>
                <a:cs typeface="Arial"/>
              </a:defRPr>
            </a:lvl4pPr>
            <a:lvl5pPr algn="l">
              <a:defRPr sz="3450" b="1" i="0">
                <a:solidFill>
                  <a:srgbClr val="14243D"/>
                </a:solidFill>
                <a:latin typeface="Arial"/>
                <a:ea typeface="Arial"/>
                <a:cs typeface="Arial"/>
              </a:defRPr>
            </a:lvl5pPr>
            <a:lvl6pPr algn="l">
              <a:defRPr sz="3450" b="1" i="0">
                <a:solidFill>
                  <a:srgbClr val="14243D"/>
                </a:solidFill>
                <a:latin typeface="Arial"/>
                <a:ea typeface="Arial"/>
                <a:cs typeface="Arial"/>
              </a:defRPr>
            </a:lvl6pPr>
            <a:lvl7pPr algn="l">
              <a:defRPr sz="3450" b="1" i="0">
                <a:solidFill>
                  <a:srgbClr val="14243D"/>
                </a:solidFill>
                <a:latin typeface="Arial"/>
                <a:ea typeface="Arial"/>
                <a:cs typeface="Arial"/>
              </a:defRPr>
            </a:lvl7pPr>
            <a:lvl8pPr algn="l">
              <a:defRPr sz="3450" b="1" i="0">
                <a:solidFill>
                  <a:srgbClr val="14243D"/>
                </a:solidFill>
                <a:latin typeface="Arial"/>
                <a:ea typeface="Arial"/>
                <a:cs typeface="Arial"/>
              </a:defRPr>
            </a:lvl8pPr>
            <a:lvl9pPr algn="l">
              <a:defRPr sz="3450" b="1" i="0">
                <a:solidFill>
                  <a:srgbClr val="14243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3450" b="1" i="0">
                <a:solidFill>
                  <a:srgbClr val="14243D"/>
                </a:solidFill>
                <a:latin typeface="Arial"/>
                <a:ea typeface="Arial"/>
                <a:cs typeface="Arial"/>
              </a:defRPr>
            </a:pPr>
            <a:r>
              <a:rPr sz="3450" b="1" i="0">
                <a:solidFill>
                  <a:srgbClr val="14243D"/>
                </a:solidFill>
                <a:latin typeface="Arial"/>
                <a:ea typeface="Arial"/>
                <a:cs typeface="Arial"/>
              </a:rPr>
              <a:t>1,312,465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2A75E14-95DB-4507-B65C-EBCEDEAC13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38450"/>
            <a:ext cx="3810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200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defPPr>
            <a:lvl1pPr algn="l">
              <a:defRPr sz="1200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lvl1pPr>
            <a:lvl2pPr algn="l">
              <a:defRPr sz="1200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lvl2pPr>
            <a:lvl3pPr algn="l">
              <a:defRPr sz="1200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lvl3pPr>
            <a:lvl4pPr algn="l">
              <a:defRPr sz="1200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lvl4pPr>
            <a:lvl5pPr algn="l">
              <a:defRPr sz="1200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lvl5pPr>
            <a:lvl6pPr algn="l">
              <a:defRPr sz="1200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lvl6pPr>
            <a:lvl7pPr algn="l">
              <a:defRPr sz="1200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lvl7pPr>
            <a:lvl8pPr algn="l">
              <a:defRPr sz="1200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lvl8pPr>
            <a:lvl9pPr algn="l">
              <a:defRPr sz="1200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1200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1200" b="0" i="0">
                <a:solidFill>
                  <a:srgbClr val="667085"/>
                </a:solidFill>
                <a:latin typeface="Arial"/>
                <a:ea typeface="Arial"/>
                <a:cs typeface="Arial"/>
              </a:rPr>
              <a:t>solicitudes en el BI actual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9283A5D-82B7-4BF2-B600-A9760CCAB4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543300"/>
            <a:ext cx="3810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3450" b="1" i="0">
                <a:solidFill>
                  <a:srgbClr val="B85C68"/>
                </a:solidFill>
                <a:latin typeface="Arial"/>
                <a:ea typeface="Arial"/>
                <a:cs typeface="Arial"/>
              </a:defRPr>
            </a:defPPr>
            <a:lvl1pPr algn="l">
              <a:defRPr sz="3450" b="1" i="0">
                <a:solidFill>
                  <a:srgbClr val="B85C68"/>
                </a:solidFill>
                <a:latin typeface="Arial"/>
                <a:ea typeface="Arial"/>
                <a:cs typeface="Arial"/>
              </a:defRPr>
            </a:lvl1pPr>
            <a:lvl2pPr algn="l">
              <a:defRPr sz="3450" b="1" i="0">
                <a:solidFill>
                  <a:srgbClr val="B85C68"/>
                </a:solidFill>
                <a:latin typeface="Arial"/>
                <a:ea typeface="Arial"/>
                <a:cs typeface="Arial"/>
              </a:defRPr>
            </a:lvl2pPr>
            <a:lvl3pPr algn="l">
              <a:defRPr sz="3450" b="1" i="0">
                <a:solidFill>
                  <a:srgbClr val="B85C68"/>
                </a:solidFill>
                <a:latin typeface="Arial"/>
                <a:ea typeface="Arial"/>
                <a:cs typeface="Arial"/>
              </a:defRPr>
            </a:lvl3pPr>
            <a:lvl4pPr algn="l">
              <a:defRPr sz="3450" b="1" i="0">
                <a:solidFill>
                  <a:srgbClr val="B85C68"/>
                </a:solidFill>
                <a:latin typeface="Arial"/>
                <a:ea typeface="Arial"/>
                <a:cs typeface="Arial"/>
              </a:defRPr>
            </a:lvl4pPr>
            <a:lvl5pPr algn="l">
              <a:defRPr sz="3450" b="1" i="0">
                <a:solidFill>
                  <a:srgbClr val="B85C68"/>
                </a:solidFill>
                <a:latin typeface="Arial"/>
                <a:ea typeface="Arial"/>
                <a:cs typeface="Arial"/>
              </a:defRPr>
            </a:lvl5pPr>
            <a:lvl6pPr algn="l">
              <a:defRPr sz="3450" b="1" i="0">
                <a:solidFill>
                  <a:srgbClr val="B85C68"/>
                </a:solidFill>
                <a:latin typeface="Arial"/>
                <a:ea typeface="Arial"/>
                <a:cs typeface="Arial"/>
              </a:defRPr>
            </a:lvl6pPr>
            <a:lvl7pPr algn="l">
              <a:defRPr sz="3450" b="1" i="0">
                <a:solidFill>
                  <a:srgbClr val="B85C68"/>
                </a:solidFill>
                <a:latin typeface="Arial"/>
                <a:ea typeface="Arial"/>
                <a:cs typeface="Arial"/>
              </a:defRPr>
            </a:lvl7pPr>
            <a:lvl8pPr algn="l">
              <a:defRPr sz="3450" b="1" i="0">
                <a:solidFill>
                  <a:srgbClr val="B85C68"/>
                </a:solidFill>
                <a:latin typeface="Arial"/>
                <a:ea typeface="Arial"/>
                <a:cs typeface="Arial"/>
              </a:defRPr>
            </a:lvl8pPr>
            <a:lvl9pPr algn="l">
              <a:defRPr sz="3450" b="1" i="0">
                <a:solidFill>
                  <a:srgbClr val="B85C68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3450" b="1" i="0">
                <a:solidFill>
                  <a:srgbClr val="B85C68"/>
                </a:solidFill>
                <a:latin typeface="Arial"/>
                <a:ea typeface="Arial"/>
                <a:cs typeface="Arial"/>
              </a:defRPr>
            </a:pPr>
            <a:r>
              <a:rPr sz="3450" b="1" i="0">
                <a:solidFill>
                  <a:srgbClr val="B85C68"/>
                </a:solidFill>
                <a:latin typeface="Arial"/>
                <a:ea typeface="Arial"/>
                <a:cs typeface="Arial"/>
              </a:rPr>
              <a:t>63,467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31B6464-EBA8-4B75-BF3C-2D2D854E75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95750"/>
            <a:ext cx="3810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200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defPPr>
            <a:lvl1pPr algn="l">
              <a:defRPr sz="1200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lvl1pPr>
            <a:lvl2pPr algn="l">
              <a:defRPr sz="1200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lvl2pPr>
            <a:lvl3pPr algn="l">
              <a:defRPr sz="1200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lvl3pPr>
            <a:lvl4pPr algn="l">
              <a:defRPr sz="1200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lvl4pPr>
            <a:lvl5pPr algn="l">
              <a:defRPr sz="1200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lvl5pPr>
            <a:lvl6pPr algn="l">
              <a:defRPr sz="1200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lvl6pPr>
            <a:lvl7pPr algn="l">
              <a:defRPr sz="1200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lvl7pPr>
            <a:lvl8pPr algn="l">
              <a:defRPr sz="1200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lvl8pPr>
            <a:lvl9pPr algn="l">
              <a:defRPr sz="1200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1200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1200" b="0" i="0">
                <a:solidFill>
                  <a:srgbClr val="667085"/>
                </a:solidFill>
                <a:latin typeface="Arial"/>
                <a:ea typeface="Arial"/>
                <a:cs typeface="Arial"/>
              </a:rPr>
              <a:t>sin duración observada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601BBD6-AC5A-4D77-BA0B-8225F287EB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33950"/>
            <a:ext cx="40005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5398"/>
          </a:bodyPr>
          <a:lstStyle xmlns:a="http://schemas.openxmlformats.org/drawingml/2006/main">
            <a:defPPr algn="l">
              <a:defRPr sz="1350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defPPr>
            <a:lvl1pPr algn="l">
              <a:defRPr sz="1350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lvl1pPr>
            <a:lvl2pPr algn="l">
              <a:defRPr sz="1350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lvl2pPr>
            <a:lvl3pPr algn="l">
              <a:defRPr sz="1350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lvl3pPr>
            <a:lvl4pPr algn="l">
              <a:defRPr sz="1350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lvl4pPr>
            <a:lvl5pPr algn="l">
              <a:defRPr sz="1350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lvl5pPr>
            <a:lvl6pPr algn="l">
              <a:defRPr sz="1350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lvl6pPr>
            <a:lvl7pPr algn="l">
              <a:defRPr sz="1350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lvl7pPr>
            <a:lvl8pPr algn="l">
              <a:defRPr sz="1350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lvl8pPr>
            <a:lvl9pPr algn="l">
              <a:defRPr sz="1350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lnSpc>
                <a:spcPct val="110000"/>
              </a:lnSpc>
              <a:buNone/>
              <a:defRPr sz="1350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1350" b="0" i="0">
                <a:solidFill>
                  <a:srgbClr val="667085"/>
                </a:solidFill>
                <a:latin typeface="Arial"/>
                <a:ea typeface="Arial"/>
                <a:cs typeface="Arial"/>
              </a:rPr>
              <a:t>El BI actual conserva NULL cuando no existe fecha de cierre. Esos casos quedan fuera de la etiqueta de demora alta.</a:t>
            </a:r>
          </a:p>
        </p:txBody>
      </p:sp>
      <p:graphicFrame>
        <p:nvGraphicFramePr>
          <p:cNvPr id="11" name="Chart">
            <a:extLst xmlns:a="http://schemas.openxmlformats.org/drawingml/2006/main">
              <a:ext uri="{FF2B5EF4-FFF2-40B4-BE49-F238E27FC236}">
                <a16:creationId xmlns:a16="http://schemas.microsoft.com/office/drawing/2014/main" id="{CC8FD832-1E20-4466-BB50-3A2DC3B5D16B}"/>
              </a:ext>
            </a:extLst>
          </p:cNvPr>
          <p:cNvGraphicFramePr/>
          <p:nvPr/>
        </p:nvGraphicFramePr>
        <p:xfrm>
          <a:off xmlns:a="http://schemas.openxmlformats.org/drawingml/2006/main" x="5619750" y="2190750"/>
          <a:ext xmlns:a="http://schemas.openxmlformats.org/drawingml/2006/main" cx="5715000" cy="3333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c83d5032f8a4491a"/>
          </a:graphicData>
        </a:graphic>
      </p:graphicFrame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DF92B5B-60A7-4371-BBC2-5278F7D48E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0" y="5753100"/>
            <a:ext cx="5715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275" b="1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defPPr>
            <a:lvl1pPr algn="l">
              <a:defRPr sz="1275" b="1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lvl1pPr>
            <a:lvl2pPr algn="l">
              <a:defRPr sz="1275" b="1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lvl2pPr>
            <a:lvl3pPr algn="l">
              <a:defRPr sz="1275" b="1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lvl3pPr>
            <a:lvl4pPr algn="l">
              <a:defRPr sz="1275" b="1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lvl4pPr>
            <a:lvl5pPr algn="l">
              <a:defRPr sz="1275" b="1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lvl5pPr>
            <a:lvl6pPr algn="l">
              <a:defRPr sz="1275" b="1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lvl6pPr>
            <a:lvl7pPr algn="l">
              <a:defRPr sz="1275" b="1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lvl7pPr>
            <a:lvl8pPr algn="l">
              <a:defRPr sz="1275" b="1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lvl8pPr>
            <a:lvl9pPr algn="l">
              <a:defRPr sz="1275" b="1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1275" b="1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1275" b="1" i="0">
                <a:solidFill>
                  <a:srgbClr val="667085"/>
                </a:solidFill>
                <a:latin typeface="Arial"/>
                <a:ea typeface="Arial"/>
                <a:cs typeface="Arial"/>
              </a:rPr>
              <a:t>P75 = 4,329 min</a:t>
            </a:r>
          </a:p>
          <a:p xmlns:a="http://schemas.openxmlformats.org/drawingml/2006/main">
            <a:pPr algn="l">
              <a:lnSpc>
                <a:spcPct val="105000"/>
              </a:lnSpc>
              <a:buNone/>
              <a:defRPr sz="1275" b="1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1275" b="1" i="0">
                <a:solidFill>
                  <a:srgbClr val="667085"/>
                </a:solidFill>
                <a:latin typeface="Arial"/>
                <a:ea typeface="Arial"/>
                <a:cs typeface="Arial"/>
              </a:rPr>
              <a:t>Umbral histórico, no SLA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C824E2D-D6D7-47AD-81E2-EDDCDF0645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10972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900" b="0" i="0">
                <a:solidFill>
                  <a:srgbClr val="98A2B3"/>
                </a:solidFill>
                <a:latin typeface="Arial"/>
                <a:ea typeface="Arial"/>
                <a:cs typeface="Arial"/>
              </a:defRPr>
            </a:defPPr>
            <a:lvl1pPr algn="l">
              <a:defRPr sz="900" b="0" i="0">
                <a:solidFill>
                  <a:srgbClr val="98A2B3"/>
                </a:solidFill>
                <a:latin typeface="Arial"/>
                <a:ea typeface="Arial"/>
                <a:cs typeface="Arial"/>
              </a:defRPr>
            </a:lvl1pPr>
            <a:lvl2pPr algn="l">
              <a:defRPr sz="900" b="0" i="0">
                <a:solidFill>
                  <a:srgbClr val="98A2B3"/>
                </a:solidFill>
                <a:latin typeface="Arial"/>
                <a:ea typeface="Arial"/>
                <a:cs typeface="Arial"/>
              </a:defRPr>
            </a:lvl2pPr>
            <a:lvl3pPr algn="l">
              <a:defRPr sz="900" b="0" i="0">
                <a:solidFill>
                  <a:srgbClr val="98A2B3"/>
                </a:solidFill>
                <a:latin typeface="Arial"/>
                <a:ea typeface="Arial"/>
                <a:cs typeface="Arial"/>
              </a:defRPr>
            </a:lvl3pPr>
            <a:lvl4pPr algn="l">
              <a:defRPr sz="900" b="0" i="0">
                <a:solidFill>
                  <a:srgbClr val="98A2B3"/>
                </a:solidFill>
                <a:latin typeface="Arial"/>
                <a:ea typeface="Arial"/>
                <a:cs typeface="Arial"/>
              </a:defRPr>
            </a:lvl4pPr>
            <a:lvl5pPr algn="l">
              <a:defRPr sz="900" b="0" i="0">
                <a:solidFill>
                  <a:srgbClr val="98A2B3"/>
                </a:solidFill>
                <a:latin typeface="Arial"/>
                <a:ea typeface="Arial"/>
                <a:cs typeface="Arial"/>
              </a:defRPr>
            </a:lvl5pPr>
            <a:lvl6pPr algn="l">
              <a:defRPr sz="900" b="0" i="0">
                <a:solidFill>
                  <a:srgbClr val="98A2B3"/>
                </a:solidFill>
                <a:latin typeface="Arial"/>
                <a:ea typeface="Arial"/>
                <a:cs typeface="Arial"/>
              </a:defRPr>
            </a:lvl6pPr>
            <a:lvl7pPr algn="l">
              <a:defRPr sz="900" b="0" i="0">
                <a:solidFill>
                  <a:srgbClr val="98A2B3"/>
                </a:solidFill>
                <a:latin typeface="Arial"/>
                <a:ea typeface="Arial"/>
                <a:cs typeface="Arial"/>
              </a:defRPr>
            </a:lvl7pPr>
            <a:lvl8pPr algn="l">
              <a:defRPr sz="900" b="0" i="0">
                <a:solidFill>
                  <a:srgbClr val="98A2B3"/>
                </a:solidFill>
                <a:latin typeface="Arial"/>
                <a:ea typeface="Arial"/>
                <a:cs typeface="Arial"/>
              </a:defRPr>
            </a:lvl8pPr>
            <a:lvl9pPr algn="l">
              <a:defRPr sz="900" b="0" i="0">
                <a:solidFill>
                  <a:srgbClr val="98A2B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900" b="0" i="0">
                <a:solidFill>
                  <a:srgbClr val="98A2B3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98A2B3"/>
                </a:solidFill>
                <a:latin typeface="Arial"/>
                <a:ea typeface="Arial"/>
                <a:cs typeface="Arial"/>
              </a:rPr>
              <a:t>Fuente: Fase 2 README y validación BI. La mediana se calcula solo con duración observada.</a:t>
            </a:r>
          </a:p>
        </p:txBody>
      </p:sp>
    </p:spTree>
    <p:extLst>
      <p:ext uri="{BB962C8B-B14F-4D97-AF65-F5344CB8AC3E}">
        <p14:creationId xmlns:p14="http://schemas.microsoft.com/office/powerpoint/2010/main" val="801474003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7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CBC3CB0-2BD7-4F69-AA92-7886C0F70F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2667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975" b="1" i="0">
                <a:solidFill>
                  <a:srgbClr val="2463EB"/>
                </a:solidFill>
                <a:latin typeface="Arial"/>
                <a:ea typeface="Arial"/>
                <a:cs typeface="Arial"/>
              </a:defRPr>
            </a:defPPr>
            <a:lvl1pPr algn="l">
              <a:defRPr sz="975" b="1" i="0">
                <a:solidFill>
                  <a:srgbClr val="2463EB"/>
                </a:solidFill>
                <a:latin typeface="Arial"/>
                <a:ea typeface="Arial"/>
                <a:cs typeface="Arial"/>
              </a:defRPr>
            </a:lvl1pPr>
            <a:lvl2pPr algn="l">
              <a:defRPr sz="975" b="1" i="0">
                <a:solidFill>
                  <a:srgbClr val="2463EB"/>
                </a:solidFill>
                <a:latin typeface="Arial"/>
                <a:ea typeface="Arial"/>
                <a:cs typeface="Arial"/>
              </a:defRPr>
            </a:lvl2pPr>
            <a:lvl3pPr algn="l">
              <a:defRPr sz="975" b="1" i="0">
                <a:solidFill>
                  <a:srgbClr val="2463EB"/>
                </a:solidFill>
                <a:latin typeface="Arial"/>
                <a:ea typeface="Arial"/>
                <a:cs typeface="Arial"/>
              </a:defRPr>
            </a:lvl3pPr>
            <a:lvl4pPr algn="l">
              <a:defRPr sz="975" b="1" i="0">
                <a:solidFill>
                  <a:srgbClr val="2463EB"/>
                </a:solidFill>
                <a:latin typeface="Arial"/>
                <a:ea typeface="Arial"/>
                <a:cs typeface="Arial"/>
              </a:defRPr>
            </a:lvl4pPr>
            <a:lvl5pPr algn="l">
              <a:defRPr sz="975" b="1" i="0">
                <a:solidFill>
                  <a:srgbClr val="2463EB"/>
                </a:solidFill>
                <a:latin typeface="Arial"/>
                <a:ea typeface="Arial"/>
                <a:cs typeface="Arial"/>
              </a:defRPr>
            </a:lvl5pPr>
            <a:lvl6pPr algn="l">
              <a:defRPr sz="975" b="1" i="0">
                <a:solidFill>
                  <a:srgbClr val="2463EB"/>
                </a:solidFill>
                <a:latin typeface="Arial"/>
                <a:ea typeface="Arial"/>
                <a:cs typeface="Arial"/>
              </a:defRPr>
            </a:lvl6pPr>
            <a:lvl7pPr algn="l">
              <a:defRPr sz="975" b="1" i="0">
                <a:solidFill>
                  <a:srgbClr val="2463EB"/>
                </a:solidFill>
                <a:latin typeface="Arial"/>
                <a:ea typeface="Arial"/>
                <a:cs typeface="Arial"/>
              </a:defRPr>
            </a:lvl7pPr>
            <a:lvl8pPr algn="l">
              <a:defRPr sz="975" b="1" i="0">
                <a:solidFill>
                  <a:srgbClr val="2463EB"/>
                </a:solidFill>
                <a:latin typeface="Arial"/>
                <a:ea typeface="Arial"/>
                <a:cs typeface="Arial"/>
              </a:defRPr>
            </a:lvl8pPr>
            <a:lvl9pPr algn="l">
              <a:defRPr sz="975" b="1" i="0">
                <a:solidFill>
                  <a:srgbClr val="2463E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975" b="1" i="0">
                <a:solidFill>
                  <a:srgbClr val="2463EB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2463EB"/>
                </a:solidFill>
                <a:latin typeface="Arial"/>
                <a:ea typeface="Arial"/>
                <a:cs typeface="Arial"/>
              </a:rPr>
              <a:t>NYC311 / FASE 3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4DE3FA4-3F14-4D4D-A53E-8CA4369C2E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44200" y="285750"/>
            <a:ext cx="8382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975" b="1" i="0">
                <a:solidFill>
                  <a:srgbClr val="98A2B3"/>
                </a:solidFill>
                <a:latin typeface="Arial"/>
                <a:ea typeface="Arial"/>
                <a:cs typeface="Arial"/>
              </a:defRPr>
            </a:defPPr>
            <a:lvl1pPr algn="r">
              <a:defRPr sz="975" b="1" i="0">
                <a:solidFill>
                  <a:srgbClr val="98A2B3"/>
                </a:solidFill>
                <a:latin typeface="Arial"/>
                <a:ea typeface="Arial"/>
                <a:cs typeface="Arial"/>
              </a:defRPr>
            </a:lvl1pPr>
            <a:lvl2pPr algn="r">
              <a:defRPr sz="975" b="1" i="0">
                <a:solidFill>
                  <a:srgbClr val="98A2B3"/>
                </a:solidFill>
                <a:latin typeface="Arial"/>
                <a:ea typeface="Arial"/>
                <a:cs typeface="Arial"/>
              </a:defRPr>
            </a:lvl2pPr>
            <a:lvl3pPr algn="r">
              <a:defRPr sz="975" b="1" i="0">
                <a:solidFill>
                  <a:srgbClr val="98A2B3"/>
                </a:solidFill>
                <a:latin typeface="Arial"/>
                <a:ea typeface="Arial"/>
                <a:cs typeface="Arial"/>
              </a:defRPr>
            </a:lvl3pPr>
            <a:lvl4pPr algn="r">
              <a:defRPr sz="975" b="1" i="0">
                <a:solidFill>
                  <a:srgbClr val="98A2B3"/>
                </a:solidFill>
                <a:latin typeface="Arial"/>
                <a:ea typeface="Arial"/>
                <a:cs typeface="Arial"/>
              </a:defRPr>
            </a:lvl4pPr>
            <a:lvl5pPr algn="r">
              <a:defRPr sz="975" b="1" i="0">
                <a:solidFill>
                  <a:srgbClr val="98A2B3"/>
                </a:solidFill>
                <a:latin typeface="Arial"/>
                <a:ea typeface="Arial"/>
                <a:cs typeface="Arial"/>
              </a:defRPr>
            </a:lvl5pPr>
            <a:lvl6pPr algn="r">
              <a:defRPr sz="975" b="1" i="0">
                <a:solidFill>
                  <a:srgbClr val="98A2B3"/>
                </a:solidFill>
                <a:latin typeface="Arial"/>
                <a:ea typeface="Arial"/>
                <a:cs typeface="Arial"/>
              </a:defRPr>
            </a:lvl6pPr>
            <a:lvl7pPr algn="r">
              <a:defRPr sz="975" b="1" i="0">
                <a:solidFill>
                  <a:srgbClr val="98A2B3"/>
                </a:solidFill>
                <a:latin typeface="Arial"/>
                <a:ea typeface="Arial"/>
                <a:cs typeface="Arial"/>
              </a:defRPr>
            </a:lvl7pPr>
            <a:lvl8pPr algn="r">
              <a:defRPr sz="975" b="1" i="0">
                <a:solidFill>
                  <a:srgbClr val="98A2B3"/>
                </a:solidFill>
                <a:latin typeface="Arial"/>
                <a:ea typeface="Arial"/>
                <a:cs typeface="Arial"/>
              </a:defRPr>
            </a:lvl8pPr>
            <a:lvl9pPr algn="r">
              <a:defRPr sz="975" b="1" i="0">
                <a:solidFill>
                  <a:srgbClr val="98A2B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r">
              <a:lnSpc>
                <a:spcPct val="105000"/>
              </a:lnSpc>
              <a:buNone/>
              <a:defRPr sz="975" b="1" i="0">
                <a:solidFill>
                  <a:srgbClr val="98A2B3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98A2B3"/>
                </a:solidFill>
                <a:latin typeface="Arial"/>
                <a:ea typeface="Arial"/>
                <a:cs typeface="Arial"/>
              </a:rPr>
              <a:t>03 / 13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2546013-A0F5-41CE-9F06-82B6426DC2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"/>
            <a:ext cx="9906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2850" b="1" i="0">
                <a:solidFill>
                  <a:srgbClr val="14243D"/>
                </a:solidFill>
                <a:latin typeface="Arial"/>
                <a:ea typeface="Arial"/>
                <a:cs typeface="Arial"/>
              </a:defRPr>
            </a:defPPr>
            <a:lvl1pPr algn="l">
              <a:defRPr sz="2850" b="1" i="0">
                <a:solidFill>
                  <a:srgbClr val="14243D"/>
                </a:solidFill>
                <a:latin typeface="Arial"/>
                <a:ea typeface="Arial"/>
                <a:cs typeface="Arial"/>
              </a:defRPr>
            </a:lvl1pPr>
            <a:lvl2pPr algn="l">
              <a:defRPr sz="2850" b="1" i="0">
                <a:solidFill>
                  <a:srgbClr val="14243D"/>
                </a:solidFill>
                <a:latin typeface="Arial"/>
                <a:ea typeface="Arial"/>
                <a:cs typeface="Arial"/>
              </a:defRPr>
            </a:lvl2pPr>
            <a:lvl3pPr algn="l">
              <a:defRPr sz="2850" b="1" i="0">
                <a:solidFill>
                  <a:srgbClr val="14243D"/>
                </a:solidFill>
                <a:latin typeface="Arial"/>
                <a:ea typeface="Arial"/>
                <a:cs typeface="Arial"/>
              </a:defRPr>
            </a:lvl3pPr>
            <a:lvl4pPr algn="l">
              <a:defRPr sz="2850" b="1" i="0">
                <a:solidFill>
                  <a:srgbClr val="14243D"/>
                </a:solidFill>
                <a:latin typeface="Arial"/>
                <a:ea typeface="Arial"/>
                <a:cs typeface="Arial"/>
              </a:defRPr>
            </a:lvl4pPr>
            <a:lvl5pPr algn="l">
              <a:defRPr sz="2850" b="1" i="0">
                <a:solidFill>
                  <a:srgbClr val="14243D"/>
                </a:solidFill>
                <a:latin typeface="Arial"/>
                <a:ea typeface="Arial"/>
                <a:cs typeface="Arial"/>
              </a:defRPr>
            </a:lvl5pPr>
            <a:lvl6pPr algn="l">
              <a:defRPr sz="2850" b="1" i="0">
                <a:solidFill>
                  <a:srgbClr val="14243D"/>
                </a:solidFill>
                <a:latin typeface="Arial"/>
                <a:ea typeface="Arial"/>
                <a:cs typeface="Arial"/>
              </a:defRPr>
            </a:lvl6pPr>
            <a:lvl7pPr algn="l">
              <a:defRPr sz="2850" b="1" i="0">
                <a:solidFill>
                  <a:srgbClr val="14243D"/>
                </a:solidFill>
                <a:latin typeface="Arial"/>
                <a:ea typeface="Arial"/>
                <a:cs typeface="Arial"/>
              </a:defRPr>
            </a:lvl7pPr>
            <a:lvl8pPr algn="l">
              <a:defRPr sz="2850" b="1" i="0">
                <a:solidFill>
                  <a:srgbClr val="14243D"/>
                </a:solidFill>
                <a:latin typeface="Arial"/>
                <a:ea typeface="Arial"/>
                <a:cs typeface="Arial"/>
              </a:defRPr>
            </a:lvl8pPr>
            <a:lvl9pPr algn="l">
              <a:defRPr sz="2850" b="1" i="0">
                <a:solidFill>
                  <a:srgbClr val="14243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lnSpc>
                <a:spcPct val="95000"/>
              </a:lnSpc>
              <a:buNone/>
              <a:defRPr sz="2850" b="1" i="0">
                <a:solidFill>
                  <a:srgbClr val="14243D"/>
                </a:solidFill>
                <a:latin typeface="Arial"/>
                <a:ea typeface="Arial"/>
                <a:cs typeface="Arial"/>
              </a:defRPr>
            </a:pPr>
            <a:r>
              <a:rPr sz="2850" b="1" i="0">
                <a:solidFill>
                  <a:srgbClr val="14243D"/>
                </a:solidFill>
                <a:latin typeface="Arial"/>
                <a:ea typeface="Arial"/>
                <a:cs typeface="Arial"/>
              </a:rPr>
              <a:t>La cuadratura se conserva del DW al tablero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A5D2A4A-FAB0-4ADB-BE56-1651F71F5D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95400"/>
            <a:ext cx="9906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350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defPPr>
            <a:lvl1pPr algn="l">
              <a:defRPr sz="1350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lvl1pPr>
            <a:lvl2pPr algn="l">
              <a:defRPr sz="1350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lvl2pPr>
            <a:lvl3pPr algn="l">
              <a:defRPr sz="1350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lvl3pPr>
            <a:lvl4pPr algn="l">
              <a:defRPr sz="1350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lvl4pPr>
            <a:lvl5pPr algn="l">
              <a:defRPr sz="1350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lvl5pPr>
            <a:lvl6pPr algn="l">
              <a:defRPr sz="1350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lvl6pPr>
            <a:lvl7pPr algn="l">
              <a:defRPr sz="1350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lvl7pPr>
            <a:lvl8pPr algn="l">
              <a:defRPr sz="1350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lvl8pPr>
            <a:lvl9pPr algn="l">
              <a:defRPr sz="1350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lnSpc>
                <a:spcPct val="100000"/>
              </a:lnSpc>
              <a:buNone/>
              <a:defRPr sz="1350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1350" b="0" i="0">
                <a:solidFill>
                  <a:srgbClr val="667085"/>
                </a:solidFill>
                <a:latin typeface="Arial"/>
                <a:ea typeface="Arial"/>
                <a:cs typeface="Arial"/>
              </a:rPr>
              <a:t>El modelo BI mantiene el grano de una fila por solicitud y el LEFT JOIN no multiplica registros.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8B3FC64-2CEA-4EB0-89D8-18ADE3FEAD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526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DEE8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723BC49-5EF8-469E-B2D0-15809E3847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09800"/>
            <a:ext cx="3333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4200" b="1" i="0">
                <a:solidFill>
                  <a:srgbClr val="14243D"/>
                </a:solidFill>
                <a:latin typeface="Arial"/>
                <a:ea typeface="Arial"/>
                <a:cs typeface="Arial"/>
              </a:defRPr>
            </a:defPPr>
            <a:lvl1pPr algn="l">
              <a:defRPr sz="4200" b="1" i="0">
                <a:solidFill>
                  <a:srgbClr val="14243D"/>
                </a:solidFill>
                <a:latin typeface="Arial"/>
                <a:ea typeface="Arial"/>
                <a:cs typeface="Arial"/>
              </a:defRPr>
            </a:lvl1pPr>
            <a:lvl2pPr algn="l">
              <a:defRPr sz="4200" b="1" i="0">
                <a:solidFill>
                  <a:srgbClr val="14243D"/>
                </a:solidFill>
                <a:latin typeface="Arial"/>
                <a:ea typeface="Arial"/>
                <a:cs typeface="Arial"/>
              </a:defRPr>
            </a:lvl2pPr>
            <a:lvl3pPr algn="l">
              <a:defRPr sz="4200" b="1" i="0">
                <a:solidFill>
                  <a:srgbClr val="14243D"/>
                </a:solidFill>
                <a:latin typeface="Arial"/>
                <a:ea typeface="Arial"/>
                <a:cs typeface="Arial"/>
              </a:defRPr>
            </a:lvl3pPr>
            <a:lvl4pPr algn="l">
              <a:defRPr sz="4200" b="1" i="0">
                <a:solidFill>
                  <a:srgbClr val="14243D"/>
                </a:solidFill>
                <a:latin typeface="Arial"/>
                <a:ea typeface="Arial"/>
                <a:cs typeface="Arial"/>
              </a:defRPr>
            </a:lvl4pPr>
            <a:lvl5pPr algn="l">
              <a:defRPr sz="4200" b="1" i="0">
                <a:solidFill>
                  <a:srgbClr val="14243D"/>
                </a:solidFill>
                <a:latin typeface="Arial"/>
                <a:ea typeface="Arial"/>
                <a:cs typeface="Arial"/>
              </a:defRPr>
            </a:lvl5pPr>
            <a:lvl6pPr algn="l">
              <a:defRPr sz="4200" b="1" i="0">
                <a:solidFill>
                  <a:srgbClr val="14243D"/>
                </a:solidFill>
                <a:latin typeface="Arial"/>
                <a:ea typeface="Arial"/>
                <a:cs typeface="Arial"/>
              </a:defRPr>
            </a:lvl6pPr>
            <a:lvl7pPr algn="l">
              <a:defRPr sz="4200" b="1" i="0">
                <a:solidFill>
                  <a:srgbClr val="14243D"/>
                </a:solidFill>
                <a:latin typeface="Arial"/>
                <a:ea typeface="Arial"/>
                <a:cs typeface="Arial"/>
              </a:defRPr>
            </a:lvl7pPr>
            <a:lvl8pPr algn="l">
              <a:defRPr sz="4200" b="1" i="0">
                <a:solidFill>
                  <a:srgbClr val="14243D"/>
                </a:solidFill>
                <a:latin typeface="Arial"/>
                <a:ea typeface="Arial"/>
                <a:cs typeface="Arial"/>
              </a:defRPr>
            </a:lvl8pPr>
            <a:lvl9pPr algn="l">
              <a:defRPr sz="4200" b="1" i="0">
                <a:solidFill>
                  <a:srgbClr val="14243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4200" b="1" i="0">
                <a:solidFill>
                  <a:srgbClr val="14243D"/>
                </a:solidFill>
                <a:latin typeface="Arial"/>
                <a:ea typeface="Arial"/>
                <a:cs typeface="Arial"/>
              </a:defRPr>
            </a:pPr>
            <a:r>
              <a:rPr sz="4200" b="1" i="0">
                <a:solidFill>
                  <a:srgbClr val="14243D"/>
                </a:solidFill>
                <a:latin typeface="Arial"/>
                <a:ea typeface="Arial"/>
                <a:cs typeface="Arial"/>
              </a:rPr>
              <a:t>1,312,465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659E596-C70A-48DB-A6BD-B4636E6259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876550"/>
            <a:ext cx="3333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350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defPPr>
            <a:lvl1pPr algn="l">
              <a:defRPr sz="1350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lvl1pPr>
            <a:lvl2pPr algn="l">
              <a:defRPr sz="1350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lvl2pPr>
            <a:lvl3pPr algn="l">
              <a:defRPr sz="1350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lvl3pPr>
            <a:lvl4pPr algn="l">
              <a:defRPr sz="1350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lvl4pPr>
            <a:lvl5pPr algn="l">
              <a:defRPr sz="1350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lvl5pPr>
            <a:lvl6pPr algn="l">
              <a:defRPr sz="1350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lvl6pPr>
            <a:lvl7pPr algn="l">
              <a:defRPr sz="1350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lvl7pPr>
            <a:lvl8pPr algn="l">
              <a:defRPr sz="1350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lvl8pPr>
            <a:lvl9pPr algn="l">
              <a:defRPr sz="1350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1350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1350" b="0" i="0">
                <a:solidFill>
                  <a:srgbClr val="667085"/>
                </a:solidFill>
                <a:latin typeface="Arial"/>
                <a:ea typeface="Arial"/>
                <a:cs typeface="Arial"/>
              </a:rPr>
              <a:t>DW · minería · vista BI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ABE236F-4046-464A-8196-01D95AFDC4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371850"/>
            <a:ext cx="3905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2463EB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C1B4AA4-E384-425D-9AB7-9E78F98404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19500"/>
            <a:ext cx="3619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650" b="1" i="0">
                <a:solidFill>
                  <a:srgbClr val="111827"/>
                </a:solidFill>
                <a:latin typeface="Arial"/>
                <a:ea typeface="Arial"/>
                <a:cs typeface="Arial"/>
              </a:defRPr>
            </a:defPPr>
            <a:lvl1pPr algn="l">
              <a:defRPr sz="1650" b="1" i="0">
                <a:solidFill>
                  <a:srgbClr val="111827"/>
                </a:solidFill>
                <a:latin typeface="Arial"/>
                <a:ea typeface="Arial"/>
                <a:cs typeface="Arial"/>
              </a:defRPr>
            </a:lvl1pPr>
            <a:lvl2pPr algn="l">
              <a:defRPr sz="1650" b="1" i="0">
                <a:solidFill>
                  <a:srgbClr val="111827"/>
                </a:solidFill>
                <a:latin typeface="Arial"/>
                <a:ea typeface="Arial"/>
                <a:cs typeface="Arial"/>
              </a:defRPr>
            </a:lvl2pPr>
            <a:lvl3pPr algn="l">
              <a:defRPr sz="1650" b="1" i="0">
                <a:solidFill>
                  <a:srgbClr val="111827"/>
                </a:solidFill>
                <a:latin typeface="Arial"/>
                <a:ea typeface="Arial"/>
                <a:cs typeface="Arial"/>
              </a:defRPr>
            </a:lvl3pPr>
            <a:lvl4pPr algn="l">
              <a:defRPr sz="1650" b="1" i="0">
                <a:solidFill>
                  <a:srgbClr val="111827"/>
                </a:solidFill>
                <a:latin typeface="Arial"/>
                <a:ea typeface="Arial"/>
                <a:cs typeface="Arial"/>
              </a:defRPr>
            </a:lvl4pPr>
            <a:lvl5pPr algn="l">
              <a:defRPr sz="1650" b="1" i="0">
                <a:solidFill>
                  <a:srgbClr val="111827"/>
                </a:solidFill>
                <a:latin typeface="Arial"/>
                <a:ea typeface="Arial"/>
                <a:cs typeface="Arial"/>
              </a:defRPr>
            </a:lvl5pPr>
            <a:lvl6pPr algn="l">
              <a:defRPr sz="1650" b="1" i="0">
                <a:solidFill>
                  <a:srgbClr val="111827"/>
                </a:solidFill>
                <a:latin typeface="Arial"/>
                <a:ea typeface="Arial"/>
                <a:cs typeface="Arial"/>
              </a:defRPr>
            </a:lvl6pPr>
            <a:lvl7pPr algn="l">
              <a:defRPr sz="1650" b="1" i="0">
                <a:solidFill>
                  <a:srgbClr val="111827"/>
                </a:solidFill>
                <a:latin typeface="Arial"/>
                <a:ea typeface="Arial"/>
                <a:cs typeface="Arial"/>
              </a:defRPr>
            </a:lvl7pPr>
            <a:lvl8pPr algn="l">
              <a:defRPr sz="1650" b="1" i="0">
                <a:solidFill>
                  <a:srgbClr val="111827"/>
                </a:solidFill>
                <a:latin typeface="Arial"/>
                <a:ea typeface="Arial"/>
                <a:cs typeface="Arial"/>
              </a:defRPr>
            </a:lvl8pPr>
            <a:lvl9pPr algn="l">
              <a:defRPr sz="1650" b="1" i="0">
                <a:solidFill>
                  <a:srgbClr val="11182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1650" b="1" i="0">
                <a:solidFill>
                  <a:srgbClr val="111827"/>
                </a:solidFill>
                <a:latin typeface="Arial"/>
                <a:ea typeface="Arial"/>
                <a:cs typeface="Arial"/>
              </a:defRPr>
            </a:pPr>
            <a:r>
              <a:rPr sz="1650" b="1" i="0">
                <a:solidFill>
                  <a:srgbClr val="111827"/>
                </a:solidFill>
                <a:latin typeface="Arial"/>
                <a:ea typeface="Arial"/>
                <a:cs typeface="Arial"/>
              </a:rPr>
              <a:t>1 fila = 1 solicitud</a:t>
            </a:r>
          </a:p>
          <a:p xmlns:a="http://schemas.openxmlformats.org/drawingml/2006/main">
            <a:pPr algn="l">
              <a:lnSpc>
                <a:spcPct val="105000"/>
              </a:lnSpc>
              <a:buNone/>
              <a:defRPr sz="1650" b="1" i="0">
                <a:solidFill>
                  <a:srgbClr val="111827"/>
                </a:solidFill>
                <a:latin typeface="Arial"/>
                <a:ea typeface="Arial"/>
                <a:cs typeface="Arial"/>
              </a:defRPr>
            </a:pPr>
            <a:r>
              <a:rPr sz="1650" b="1" i="0">
                <a:solidFill>
                  <a:srgbClr val="111827"/>
                </a:solidFill>
                <a:latin typeface="Arial"/>
                <a:ea typeface="Arial"/>
                <a:cs typeface="Arial"/>
              </a:rPr>
              <a:t>Cero multiplicación en la integración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315A1BA-F631-4620-A081-05CC477F89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686300"/>
            <a:ext cx="3667125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7909"/>
          </a:bodyPr>
          <a:lstStyle xmlns:a="http://schemas.openxmlformats.org/drawingml/2006/main">
            <a:defPPr algn="l">
              <a:defRPr sz="1275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defPPr>
            <a:lvl1pPr algn="l">
              <a:defRPr sz="1275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lvl1pPr>
            <a:lvl2pPr algn="l">
              <a:defRPr sz="1275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lvl2pPr>
            <a:lvl3pPr algn="l">
              <a:defRPr sz="1275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lvl3pPr>
            <a:lvl4pPr algn="l">
              <a:defRPr sz="1275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lvl4pPr>
            <a:lvl5pPr algn="l">
              <a:defRPr sz="1275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lvl5pPr>
            <a:lvl6pPr algn="l">
              <a:defRPr sz="1275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lvl6pPr>
            <a:lvl7pPr algn="l">
              <a:defRPr sz="1275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lvl7pPr>
            <a:lvl8pPr algn="l">
              <a:defRPr sz="1275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lvl8pPr>
            <a:lvl9pPr algn="l">
              <a:defRPr sz="1275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1275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667085"/>
                </a:solidFill>
                <a:latin typeface="Arial"/>
                <a:ea typeface="Arial"/>
                <a:cs typeface="Arial"/>
              </a:rPr>
              <a:t>La población con duración observada y la población sin duración suman exactamente el universo.</a:t>
            </a:r>
          </a:p>
        </p:txBody>
      </p:sp>
      <p:graphicFrame>
        <p:nvGraphicFramePr>
          <p:cNvPr id="11" name="Chart">
            <a:extLst xmlns:a="http://schemas.openxmlformats.org/drawingml/2006/main">
              <a:ext uri="{FF2B5EF4-FFF2-40B4-BE49-F238E27FC236}">
                <a16:creationId xmlns:a16="http://schemas.microsoft.com/office/drawing/2014/main" id="{8F8B024D-7613-4A12-9559-53FCB36513DC}"/>
              </a:ext>
            </a:extLst>
          </p:cNvPr>
          <p:cNvGraphicFramePr/>
          <p:nvPr/>
        </p:nvGraphicFramePr>
        <p:xfrm>
          <a:off xmlns:a="http://schemas.openxmlformats.org/drawingml/2006/main" x="5334000" y="2209800"/>
          <a:ext xmlns:a="http://schemas.openxmlformats.org/drawingml/2006/main" cx="6048375" cy="28575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61f366feb57b44ac"/>
          </a:graphicData>
        </a:graphic>
      </p:graphicFrame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44CB9A7-4404-4204-9BC5-775CE29DD2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5391150"/>
            <a:ext cx="6048375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500" b="1" i="0">
                <a:solidFill>
                  <a:srgbClr val="6D4AFF"/>
                </a:solidFill>
                <a:latin typeface="Arial"/>
                <a:ea typeface="Arial"/>
                <a:cs typeface="Arial"/>
              </a:defRPr>
            </a:defPPr>
            <a:lvl1pPr algn="l">
              <a:defRPr sz="1500" b="1" i="0">
                <a:solidFill>
                  <a:srgbClr val="6D4AFF"/>
                </a:solidFill>
                <a:latin typeface="Arial"/>
                <a:ea typeface="Arial"/>
                <a:cs typeface="Arial"/>
              </a:defRPr>
            </a:lvl1pPr>
            <a:lvl2pPr algn="l">
              <a:defRPr sz="1500" b="1" i="0">
                <a:solidFill>
                  <a:srgbClr val="6D4AFF"/>
                </a:solidFill>
                <a:latin typeface="Arial"/>
                <a:ea typeface="Arial"/>
                <a:cs typeface="Arial"/>
              </a:defRPr>
            </a:lvl2pPr>
            <a:lvl3pPr algn="l">
              <a:defRPr sz="1500" b="1" i="0">
                <a:solidFill>
                  <a:srgbClr val="6D4AFF"/>
                </a:solidFill>
                <a:latin typeface="Arial"/>
                <a:ea typeface="Arial"/>
                <a:cs typeface="Arial"/>
              </a:defRPr>
            </a:lvl3pPr>
            <a:lvl4pPr algn="l">
              <a:defRPr sz="1500" b="1" i="0">
                <a:solidFill>
                  <a:srgbClr val="6D4AFF"/>
                </a:solidFill>
                <a:latin typeface="Arial"/>
                <a:ea typeface="Arial"/>
                <a:cs typeface="Arial"/>
              </a:defRPr>
            </a:lvl4pPr>
            <a:lvl5pPr algn="l">
              <a:defRPr sz="1500" b="1" i="0">
                <a:solidFill>
                  <a:srgbClr val="6D4AFF"/>
                </a:solidFill>
                <a:latin typeface="Arial"/>
                <a:ea typeface="Arial"/>
                <a:cs typeface="Arial"/>
              </a:defRPr>
            </a:lvl5pPr>
            <a:lvl6pPr algn="l">
              <a:defRPr sz="1500" b="1" i="0">
                <a:solidFill>
                  <a:srgbClr val="6D4AFF"/>
                </a:solidFill>
                <a:latin typeface="Arial"/>
                <a:ea typeface="Arial"/>
                <a:cs typeface="Arial"/>
              </a:defRPr>
            </a:lvl6pPr>
            <a:lvl7pPr algn="l">
              <a:defRPr sz="1500" b="1" i="0">
                <a:solidFill>
                  <a:srgbClr val="6D4AFF"/>
                </a:solidFill>
                <a:latin typeface="Arial"/>
                <a:ea typeface="Arial"/>
                <a:cs typeface="Arial"/>
              </a:defRPr>
            </a:lvl7pPr>
            <a:lvl8pPr algn="l">
              <a:defRPr sz="1500" b="1" i="0">
                <a:solidFill>
                  <a:srgbClr val="6D4AFF"/>
                </a:solidFill>
                <a:latin typeface="Arial"/>
                <a:ea typeface="Arial"/>
                <a:cs typeface="Arial"/>
              </a:defRPr>
            </a:lvl8pPr>
            <a:lvl9pPr algn="l">
              <a:defRPr sz="1500" b="1" i="0">
                <a:solidFill>
                  <a:srgbClr val="6D4A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1500" b="1" i="0">
                <a:solidFill>
                  <a:srgbClr val="6D4AFF"/>
                </a:solidFill>
                <a:latin typeface="Arial"/>
                <a:ea typeface="Arial"/>
                <a:cs typeface="Arial"/>
              </a:defRPr>
            </a:pPr>
            <a:r>
              <a:rPr sz="1500" b="1" i="0">
                <a:solidFill>
                  <a:srgbClr val="6D4AFF"/>
                </a:solidFill>
                <a:latin typeface="Arial"/>
                <a:ea typeface="Arial"/>
                <a:cs typeface="Arial"/>
              </a:rPr>
              <a:t>313,360 demoras altas</a:t>
            </a:r>
          </a:p>
          <a:p xmlns:a="http://schemas.openxmlformats.org/drawingml/2006/main">
            <a:pPr algn="l">
              <a:lnSpc>
                <a:spcPct val="105000"/>
              </a:lnSpc>
              <a:buNone/>
              <a:defRPr sz="1500" b="1" i="0">
                <a:solidFill>
                  <a:srgbClr val="6D4AFF"/>
                </a:solidFill>
                <a:latin typeface="Arial"/>
                <a:ea typeface="Arial"/>
                <a:cs typeface="Arial"/>
              </a:defRPr>
            </a:pPr>
            <a:r>
              <a:rPr sz="1500" b="1" i="0">
                <a:solidFill>
                  <a:srgbClr val="6D4AFF"/>
                </a:solidFill>
                <a:latin typeface="Arial"/>
                <a:ea typeface="Arial"/>
                <a:cs typeface="Arial"/>
              </a:rPr>
              <a:t>25.09% entre los 1,248,998 casos con tiempo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A13544E-D0BC-44DD-9C3D-C756E882C7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10972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900" b="0" i="0">
                <a:solidFill>
                  <a:srgbClr val="98A2B3"/>
                </a:solidFill>
                <a:latin typeface="Arial"/>
                <a:ea typeface="Arial"/>
                <a:cs typeface="Arial"/>
              </a:defRPr>
            </a:defPPr>
            <a:lvl1pPr algn="l">
              <a:defRPr sz="900" b="0" i="0">
                <a:solidFill>
                  <a:srgbClr val="98A2B3"/>
                </a:solidFill>
                <a:latin typeface="Arial"/>
                <a:ea typeface="Arial"/>
                <a:cs typeface="Arial"/>
              </a:defRPr>
            </a:lvl1pPr>
            <a:lvl2pPr algn="l">
              <a:defRPr sz="900" b="0" i="0">
                <a:solidFill>
                  <a:srgbClr val="98A2B3"/>
                </a:solidFill>
                <a:latin typeface="Arial"/>
                <a:ea typeface="Arial"/>
                <a:cs typeface="Arial"/>
              </a:defRPr>
            </a:lvl2pPr>
            <a:lvl3pPr algn="l">
              <a:defRPr sz="900" b="0" i="0">
                <a:solidFill>
                  <a:srgbClr val="98A2B3"/>
                </a:solidFill>
                <a:latin typeface="Arial"/>
                <a:ea typeface="Arial"/>
                <a:cs typeface="Arial"/>
              </a:defRPr>
            </a:lvl3pPr>
            <a:lvl4pPr algn="l">
              <a:defRPr sz="900" b="0" i="0">
                <a:solidFill>
                  <a:srgbClr val="98A2B3"/>
                </a:solidFill>
                <a:latin typeface="Arial"/>
                <a:ea typeface="Arial"/>
                <a:cs typeface="Arial"/>
              </a:defRPr>
            </a:lvl4pPr>
            <a:lvl5pPr algn="l">
              <a:defRPr sz="900" b="0" i="0">
                <a:solidFill>
                  <a:srgbClr val="98A2B3"/>
                </a:solidFill>
                <a:latin typeface="Arial"/>
                <a:ea typeface="Arial"/>
                <a:cs typeface="Arial"/>
              </a:defRPr>
            </a:lvl5pPr>
            <a:lvl6pPr algn="l">
              <a:defRPr sz="900" b="0" i="0">
                <a:solidFill>
                  <a:srgbClr val="98A2B3"/>
                </a:solidFill>
                <a:latin typeface="Arial"/>
                <a:ea typeface="Arial"/>
                <a:cs typeface="Arial"/>
              </a:defRPr>
            </a:lvl6pPr>
            <a:lvl7pPr algn="l">
              <a:defRPr sz="900" b="0" i="0">
                <a:solidFill>
                  <a:srgbClr val="98A2B3"/>
                </a:solidFill>
                <a:latin typeface="Arial"/>
                <a:ea typeface="Arial"/>
                <a:cs typeface="Arial"/>
              </a:defRPr>
            </a:lvl7pPr>
            <a:lvl8pPr algn="l">
              <a:defRPr sz="900" b="0" i="0">
                <a:solidFill>
                  <a:srgbClr val="98A2B3"/>
                </a:solidFill>
                <a:latin typeface="Arial"/>
                <a:ea typeface="Arial"/>
                <a:cs typeface="Arial"/>
              </a:defRPr>
            </a:lvl8pPr>
            <a:lvl9pPr algn="l">
              <a:defRPr sz="900" b="0" i="0">
                <a:solidFill>
                  <a:srgbClr val="98A2B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900" b="0" i="0">
                <a:solidFill>
                  <a:srgbClr val="98A2B3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98A2B3"/>
                </a:solidFill>
                <a:latin typeface="Arial"/>
                <a:ea typeface="Arial"/>
                <a:cs typeface="Arial"/>
              </a:rPr>
              <a:t>Fuente: validación del modelo BI y medidas DAX ejecutadas en VertiPaq.</a:t>
            </a:r>
          </a:p>
        </p:txBody>
      </p:sp>
    </p:spTree>
    <p:extLst>
      <p:ext uri="{BB962C8B-B14F-4D97-AF65-F5344CB8AC3E}">
        <p14:creationId xmlns:p14="http://schemas.microsoft.com/office/powerpoint/2010/main" val="1148476372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7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cxnSp>
        <p:nvCxn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6923016-587A-4CDD-96E7-68AF25B72AE7}"/>
              </a:ext>
            </a:extLst>
          </p:cNvPr>
          <p:cNvCxnSpPr>
            <a:stCxn xmlns:a="http://schemas.openxmlformats.org/drawingml/2006/main" id="14" idx="3"/>
            <a:endCxn xmlns:a="http://schemas.openxmlformats.org/drawingml/2006/main" id="18" idx="1"/>
          </p:cNvCxnSpPr>
          <p:nvPr/>
        </p:nvCxnSpPr>
        <p:spPr>
          <a:xfrm xmlns:a="http://schemas.openxmlformats.org/drawingml/2006/main">
            <a:off x="8343900" y="3095625"/>
            <a:ext cx="3238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98A2B3"/>
            </a:solidFill>
            <a:prstDash val="solid"/>
            <a:tailEnd type="triangle" w="sm" len="sm"/>
          </a:ln>
        </p:spPr>
      </p:cxnSp>
      <p:cxnSp>
        <p:nvCxn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BECE13D-841B-4AE0-89EB-E62277EF1E7A}"/>
              </a:ext>
            </a:extLst>
          </p:cNvPr>
          <p:cNvCxnSpPr>
            <a:stCxn xmlns:a="http://schemas.openxmlformats.org/drawingml/2006/main" id="10" idx="3"/>
            <a:endCxn xmlns:a="http://schemas.openxmlformats.org/drawingml/2006/main" id="14" idx="1"/>
          </p:cNvCxnSpPr>
          <p:nvPr/>
        </p:nvCxnSpPr>
        <p:spPr>
          <a:xfrm xmlns:a="http://schemas.openxmlformats.org/drawingml/2006/main">
            <a:off x="5657850" y="3095625"/>
            <a:ext cx="3238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98A2B3"/>
            </a:solidFill>
            <a:prstDash val="solid"/>
            <a:tailEnd type="triangle" w="sm" len="sm"/>
          </a:ln>
        </p:spPr>
      </p:cxnSp>
      <p:cxnSp>
        <p:nvCxn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50BB017-466C-44D7-8AF0-294BDED35F67}"/>
              </a:ext>
            </a:extLst>
          </p:cNvPr>
          <p:cNvCxnSpPr>
            <a:stCxn xmlns:a="http://schemas.openxmlformats.org/drawingml/2006/main" id="6" idx="3"/>
            <a:endCxn xmlns:a="http://schemas.openxmlformats.org/drawingml/2006/main" id="10" idx="1"/>
          </p:cNvCxnSpPr>
          <p:nvPr/>
        </p:nvCxnSpPr>
        <p:spPr>
          <a:xfrm xmlns:a="http://schemas.openxmlformats.org/drawingml/2006/main">
            <a:off x="2971800" y="3095625"/>
            <a:ext cx="3238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98A2B3"/>
            </a:solidFill>
            <a:prstDash val="solid"/>
            <a:tailEnd type="triangle" w="sm" len="sm"/>
          </a:ln>
        </p:spPr>
      </p:cxn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7D84DEE2-1002-414B-AB51-697AF58F30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2667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975" b="1" i="0">
                <a:solidFill>
                  <a:srgbClr val="2463EB"/>
                </a:solidFill>
                <a:latin typeface="Arial"/>
                <a:ea typeface="Arial"/>
                <a:cs typeface="Arial"/>
              </a:defRPr>
            </a:defPPr>
            <a:lvl1pPr algn="l">
              <a:defRPr sz="975" b="1" i="0">
                <a:solidFill>
                  <a:srgbClr val="2463EB"/>
                </a:solidFill>
                <a:latin typeface="Arial"/>
                <a:ea typeface="Arial"/>
                <a:cs typeface="Arial"/>
              </a:defRPr>
            </a:lvl1pPr>
            <a:lvl2pPr algn="l">
              <a:defRPr sz="975" b="1" i="0">
                <a:solidFill>
                  <a:srgbClr val="2463EB"/>
                </a:solidFill>
                <a:latin typeface="Arial"/>
                <a:ea typeface="Arial"/>
                <a:cs typeface="Arial"/>
              </a:defRPr>
            </a:lvl2pPr>
            <a:lvl3pPr algn="l">
              <a:defRPr sz="975" b="1" i="0">
                <a:solidFill>
                  <a:srgbClr val="2463EB"/>
                </a:solidFill>
                <a:latin typeface="Arial"/>
                <a:ea typeface="Arial"/>
                <a:cs typeface="Arial"/>
              </a:defRPr>
            </a:lvl3pPr>
            <a:lvl4pPr algn="l">
              <a:defRPr sz="975" b="1" i="0">
                <a:solidFill>
                  <a:srgbClr val="2463EB"/>
                </a:solidFill>
                <a:latin typeface="Arial"/>
                <a:ea typeface="Arial"/>
                <a:cs typeface="Arial"/>
              </a:defRPr>
            </a:lvl4pPr>
            <a:lvl5pPr algn="l">
              <a:defRPr sz="975" b="1" i="0">
                <a:solidFill>
                  <a:srgbClr val="2463EB"/>
                </a:solidFill>
                <a:latin typeface="Arial"/>
                <a:ea typeface="Arial"/>
                <a:cs typeface="Arial"/>
              </a:defRPr>
            </a:lvl5pPr>
            <a:lvl6pPr algn="l">
              <a:defRPr sz="975" b="1" i="0">
                <a:solidFill>
                  <a:srgbClr val="2463EB"/>
                </a:solidFill>
                <a:latin typeface="Arial"/>
                <a:ea typeface="Arial"/>
                <a:cs typeface="Arial"/>
              </a:defRPr>
            </a:lvl6pPr>
            <a:lvl7pPr algn="l">
              <a:defRPr sz="975" b="1" i="0">
                <a:solidFill>
                  <a:srgbClr val="2463EB"/>
                </a:solidFill>
                <a:latin typeface="Arial"/>
                <a:ea typeface="Arial"/>
                <a:cs typeface="Arial"/>
              </a:defRPr>
            </a:lvl7pPr>
            <a:lvl8pPr algn="l">
              <a:defRPr sz="975" b="1" i="0">
                <a:solidFill>
                  <a:srgbClr val="2463EB"/>
                </a:solidFill>
                <a:latin typeface="Arial"/>
                <a:ea typeface="Arial"/>
                <a:cs typeface="Arial"/>
              </a:defRPr>
            </a:lvl8pPr>
            <a:lvl9pPr algn="l">
              <a:defRPr sz="975" b="1" i="0">
                <a:solidFill>
                  <a:srgbClr val="2463E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975" b="1" i="0">
                <a:solidFill>
                  <a:srgbClr val="2463EB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2463EB"/>
                </a:solidFill>
                <a:latin typeface="Arial"/>
                <a:ea typeface="Arial"/>
                <a:cs typeface="Arial"/>
              </a:rPr>
              <a:t>NYC311 / FASE 3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9B66D5D-17E2-43D6-ABA8-7181C8A6BF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44200" y="285750"/>
            <a:ext cx="8382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975" b="1" i="0">
                <a:solidFill>
                  <a:srgbClr val="98A2B3"/>
                </a:solidFill>
                <a:latin typeface="Arial"/>
                <a:ea typeface="Arial"/>
                <a:cs typeface="Arial"/>
              </a:defRPr>
            </a:defPPr>
            <a:lvl1pPr algn="r">
              <a:defRPr sz="975" b="1" i="0">
                <a:solidFill>
                  <a:srgbClr val="98A2B3"/>
                </a:solidFill>
                <a:latin typeface="Arial"/>
                <a:ea typeface="Arial"/>
                <a:cs typeface="Arial"/>
              </a:defRPr>
            </a:lvl1pPr>
            <a:lvl2pPr algn="r">
              <a:defRPr sz="975" b="1" i="0">
                <a:solidFill>
                  <a:srgbClr val="98A2B3"/>
                </a:solidFill>
                <a:latin typeface="Arial"/>
                <a:ea typeface="Arial"/>
                <a:cs typeface="Arial"/>
              </a:defRPr>
            </a:lvl2pPr>
            <a:lvl3pPr algn="r">
              <a:defRPr sz="975" b="1" i="0">
                <a:solidFill>
                  <a:srgbClr val="98A2B3"/>
                </a:solidFill>
                <a:latin typeface="Arial"/>
                <a:ea typeface="Arial"/>
                <a:cs typeface="Arial"/>
              </a:defRPr>
            </a:lvl3pPr>
            <a:lvl4pPr algn="r">
              <a:defRPr sz="975" b="1" i="0">
                <a:solidFill>
                  <a:srgbClr val="98A2B3"/>
                </a:solidFill>
                <a:latin typeface="Arial"/>
                <a:ea typeface="Arial"/>
                <a:cs typeface="Arial"/>
              </a:defRPr>
            </a:lvl4pPr>
            <a:lvl5pPr algn="r">
              <a:defRPr sz="975" b="1" i="0">
                <a:solidFill>
                  <a:srgbClr val="98A2B3"/>
                </a:solidFill>
                <a:latin typeface="Arial"/>
                <a:ea typeface="Arial"/>
                <a:cs typeface="Arial"/>
              </a:defRPr>
            </a:lvl5pPr>
            <a:lvl6pPr algn="r">
              <a:defRPr sz="975" b="1" i="0">
                <a:solidFill>
                  <a:srgbClr val="98A2B3"/>
                </a:solidFill>
                <a:latin typeface="Arial"/>
                <a:ea typeface="Arial"/>
                <a:cs typeface="Arial"/>
              </a:defRPr>
            </a:lvl6pPr>
            <a:lvl7pPr algn="r">
              <a:defRPr sz="975" b="1" i="0">
                <a:solidFill>
                  <a:srgbClr val="98A2B3"/>
                </a:solidFill>
                <a:latin typeface="Arial"/>
                <a:ea typeface="Arial"/>
                <a:cs typeface="Arial"/>
              </a:defRPr>
            </a:lvl7pPr>
            <a:lvl8pPr algn="r">
              <a:defRPr sz="975" b="1" i="0">
                <a:solidFill>
                  <a:srgbClr val="98A2B3"/>
                </a:solidFill>
                <a:latin typeface="Arial"/>
                <a:ea typeface="Arial"/>
                <a:cs typeface="Arial"/>
              </a:defRPr>
            </a:lvl8pPr>
            <a:lvl9pPr algn="r">
              <a:defRPr sz="975" b="1" i="0">
                <a:solidFill>
                  <a:srgbClr val="98A2B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r">
              <a:lnSpc>
                <a:spcPct val="105000"/>
              </a:lnSpc>
              <a:buNone/>
              <a:defRPr sz="975" b="1" i="0">
                <a:solidFill>
                  <a:srgbClr val="98A2B3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98A2B3"/>
                </a:solidFill>
                <a:latin typeface="Arial"/>
                <a:ea typeface="Arial"/>
                <a:cs typeface="Arial"/>
              </a:rPr>
              <a:t>04 / 13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3FC5093-73B9-4C8E-9884-157690F635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"/>
            <a:ext cx="9906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2850" b="1" i="0">
                <a:solidFill>
                  <a:srgbClr val="14243D"/>
                </a:solidFill>
                <a:latin typeface="Arial"/>
                <a:ea typeface="Arial"/>
                <a:cs typeface="Arial"/>
              </a:defRPr>
            </a:defPPr>
            <a:lvl1pPr algn="l">
              <a:defRPr sz="2850" b="1" i="0">
                <a:solidFill>
                  <a:srgbClr val="14243D"/>
                </a:solidFill>
                <a:latin typeface="Arial"/>
                <a:ea typeface="Arial"/>
                <a:cs typeface="Arial"/>
              </a:defRPr>
            </a:lvl1pPr>
            <a:lvl2pPr algn="l">
              <a:defRPr sz="2850" b="1" i="0">
                <a:solidFill>
                  <a:srgbClr val="14243D"/>
                </a:solidFill>
                <a:latin typeface="Arial"/>
                <a:ea typeface="Arial"/>
                <a:cs typeface="Arial"/>
              </a:defRPr>
            </a:lvl2pPr>
            <a:lvl3pPr algn="l">
              <a:defRPr sz="2850" b="1" i="0">
                <a:solidFill>
                  <a:srgbClr val="14243D"/>
                </a:solidFill>
                <a:latin typeface="Arial"/>
                <a:ea typeface="Arial"/>
                <a:cs typeface="Arial"/>
              </a:defRPr>
            </a:lvl3pPr>
            <a:lvl4pPr algn="l">
              <a:defRPr sz="2850" b="1" i="0">
                <a:solidFill>
                  <a:srgbClr val="14243D"/>
                </a:solidFill>
                <a:latin typeface="Arial"/>
                <a:ea typeface="Arial"/>
                <a:cs typeface="Arial"/>
              </a:defRPr>
            </a:lvl4pPr>
            <a:lvl5pPr algn="l">
              <a:defRPr sz="2850" b="1" i="0">
                <a:solidFill>
                  <a:srgbClr val="14243D"/>
                </a:solidFill>
                <a:latin typeface="Arial"/>
                <a:ea typeface="Arial"/>
                <a:cs typeface="Arial"/>
              </a:defRPr>
            </a:lvl5pPr>
            <a:lvl6pPr algn="l">
              <a:defRPr sz="2850" b="1" i="0">
                <a:solidFill>
                  <a:srgbClr val="14243D"/>
                </a:solidFill>
                <a:latin typeface="Arial"/>
                <a:ea typeface="Arial"/>
                <a:cs typeface="Arial"/>
              </a:defRPr>
            </a:lvl6pPr>
            <a:lvl7pPr algn="l">
              <a:defRPr sz="2850" b="1" i="0">
                <a:solidFill>
                  <a:srgbClr val="14243D"/>
                </a:solidFill>
                <a:latin typeface="Arial"/>
                <a:ea typeface="Arial"/>
                <a:cs typeface="Arial"/>
              </a:defRPr>
            </a:lvl7pPr>
            <a:lvl8pPr algn="l">
              <a:defRPr sz="2850" b="1" i="0">
                <a:solidFill>
                  <a:srgbClr val="14243D"/>
                </a:solidFill>
                <a:latin typeface="Arial"/>
                <a:ea typeface="Arial"/>
                <a:cs typeface="Arial"/>
              </a:defRPr>
            </a:lvl8pPr>
            <a:lvl9pPr algn="l">
              <a:defRPr sz="2850" b="1" i="0">
                <a:solidFill>
                  <a:srgbClr val="14243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lnSpc>
                <a:spcPct val="95000"/>
              </a:lnSpc>
              <a:buNone/>
              <a:defRPr sz="2850" b="1" i="0">
                <a:solidFill>
                  <a:srgbClr val="14243D"/>
                </a:solidFill>
                <a:latin typeface="Arial"/>
                <a:ea typeface="Arial"/>
                <a:cs typeface="Arial"/>
              </a:defRPr>
            </a:pPr>
            <a:r>
              <a:rPr sz="2850" b="1" i="0">
                <a:solidFill>
                  <a:srgbClr val="14243D"/>
                </a:solidFill>
                <a:latin typeface="Arial"/>
                <a:ea typeface="Arial"/>
                <a:cs typeface="Arial"/>
              </a:rPr>
              <a:t>Arquitectura F1: una cadena de datos con grano explícito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D0120BE-1FC6-4160-8271-FA2A941C0F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95400"/>
            <a:ext cx="9906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350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defPPr>
            <a:lvl1pPr algn="l">
              <a:defRPr sz="1350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lvl1pPr>
            <a:lvl2pPr algn="l">
              <a:defRPr sz="1350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lvl2pPr>
            <a:lvl3pPr algn="l">
              <a:defRPr sz="1350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lvl3pPr>
            <a:lvl4pPr algn="l">
              <a:defRPr sz="1350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lvl4pPr>
            <a:lvl5pPr algn="l">
              <a:defRPr sz="1350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lvl5pPr>
            <a:lvl6pPr algn="l">
              <a:defRPr sz="1350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lvl6pPr>
            <a:lvl7pPr algn="l">
              <a:defRPr sz="1350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lvl7pPr>
            <a:lvl8pPr algn="l">
              <a:defRPr sz="1350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lvl8pPr>
            <a:lvl9pPr algn="l">
              <a:defRPr sz="1350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lnSpc>
                <a:spcPct val="100000"/>
              </a:lnSpc>
              <a:buNone/>
              <a:defRPr sz="1350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1350" b="0" i="0">
                <a:solidFill>
                  <a:srgbClr val="667085"/>
                </a:solidFill>
                <a:latin typeface="Arial"/>
                <a:ea typeface="Arial"/>
                <a:cs typeface="Arial"/>
              </a:rPr>
              <a:t>La Fase 1 prepara el hecho dimensional que F2 y F3 consumen sin cambiar la unidad de análisis.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9AEF192-CF03-4CC9-A7E4-518A273552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526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DEE8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68D35C0-35FD-466A-BB80-4AE245C77C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190750"/>
            <a:ext cx="2362200" cy="1809750"/>
          </a:xfrm>
          <a:prstGeom xmlns:a="http://schemas.openxmlformats.org/drawingml/2006/main" prst="roundRect">
            <a:avLst>
              <a:gd name="adj" fmla="val 631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EE8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EAFFAB9-0D9F-4539-BE25-A276A0F519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495550"/>
            <a:ext cx="198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2463EB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4456333-85B5-4406-B3CC-EC39CC37CD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686050"/>
            <a:ext cx="19812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575" b="1" i="0">
                <a:solidFill>
                  <a:srgbClr val="14243D"/>
                </a:solidFill>
                <a:latin typeface="Arial"/>
                <a:ea typeface="Arial"/>
                <a:cs typeface="Arial"/>
              </a:defRPr>
            </a:defPPr>
            <a:lvl1pPr algn="l">
              <a:defRPr sz="1575" b="1" i="0">
                <a:solidFill>
                  <a:srgbClr val="14243D"/>
                </a:solidFill>
                <a:latin typeface="Arial"/>
                <a:ea typeface="Arial"/>
                <a:cs typeface="Arial"/>
              </a:defRPr>
            </a:lvl1pPr>
            <a:lvl2pPr algn="l">
              <a:defRPr sz="1575" b="1" i="0">
                <a:solidFill>
                  <a:srgbClr val="14243D"/>
                </a:solidFill>
                <a:latin typeface="Arial"/>
                <a:ea typeface="Arial"/>
                <a:cs typeface="Arial"/>
              </a:defRPr>
            </a:lvl2pPr>
            <a:lvl3pPr algn="l">
              <a:defRPr sz="1575" b="1" i="0">
                <a:solidFill>
                  <a:srgbClr val="14243D"/>
                </a:solidFill>
                <a:latin typeface="Arial"/>
                <a:ea typeface="Arial"/>
                <a:cs typeface="Arial"/>
              </a:defRPr>
            </a:lvl3pPr>
            <a:lvl4pPr algn="l">
              <a:defRPr sz="1575" b="1" i="0">
                <a:solidFill>
                  <a:srgbClr val="14243D"/>
                </a:solidFill>
                <a:latin typeface="Arial"/>
                <a:ea typeface="Arial"/>
                <a:cs typeface="Arial"/>
              </a:defRPr>
            </a:lvl4pPr>
            <a:lvl5pPr algn="l">
              <a:defRPr sz="1575" b="1" i="0">
                <a:solidFill>
                  <a:srgbClr val="14243D"/>
                </a:solidFill>
                <a:latin typeface="Arial"/>
                <a:ea typeface="Arial"/>
                <a:cs typeface="Arial"/>
              </a:defRPr>
            </a:lvl5pPr>
            <a:lvl6pPr algn="l">
              <a:defRPr sz="1575" b="1" i="0">
                <a:solidFill>
                  <a:srgbClr val="14243D"/>
                </a:solidFill>
                <a:latin typeface="Arial"/>
                <a:ea typeface="Arial"/>
                <a:cs typeface="Arial"/>
              </a:defRPr>
            </a:lvl6pPr>
            <a:lvl7pPr algn="l">
              <a:defRPr sz="1575" b="1" i="0">
                <a:solidFill>
                  <a:srgbClr val="14243D"/>
                </a:solidFill>
                <a:latin typeface="Arial"/>
                <a:ea typeface="Arial"/>
                <a:cs typeface="Arial"/>
              </a:defRPr>
            </a:lvl7pPr>
            <a:lvl8pPr algn="l">
              <a:defRPr sz="1575" b="1" i="0">
                <a:solidFill>
                  <a:srgbClr val="14243D"/>
                </a:solidFill>
                <a:latin typeface="Arial"/>
                <a:ea typeface="Arial"/>
                <a:cs typeface="Arial"/>
              </a:defRPr>
            </a:lvl8pPr>
            <a:lvl9pPr algn="l">
              <a:defRPr sz="1575" b="1" i="0">
                <a:solidFill>
                  <a:srgbClr val="14243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1575" b="1" i="0">
                <a:solidFill>
                  <a:srgbClr val="14243D"/>
                </a:solidFill>
                <a:latin typeface="Arial"/>
                <a:ea typeface="Arial"/>
                <a:cs typeface="Arial"/>
              </a:defRPr>
            </a:pPr>
            <a:r>
              <a:rPr sz="1575" b="1" i="0">
                <a:solidFill>
                  <a:srgbClr val="14243D"/>
                </a:solidFill>
                <a:latin typeface="Arial"/>
                <a:ea typeface="Arial"/>
                <a:cs typeface="Arial"/>
              </a:rPr>
              <a:t>Fuente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D9A0DF3-360C-47F0-87BC-AE7F2D6552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143250"/>
            <a:ext cx="19812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200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defPPr>
            <a:lvl1pPr algn="l">
              <a:defRPr sz="1200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lvl1pPr>
            <a:lvl2pPr algn="l">
              <a:defRPr sz="1200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lvl2pPr>
            <a:lvl3pPr algn="l">
              <a:defRPr sz="1200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lvl3pPr>
            <a:lvl4pPr algn="l">
              <a:defRPr sz="1200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lvl4pPr>
            <a:lvl5pPr algn="l">
              <a:defRPr sz="1200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lvl5pPr>
            <a:lvl6pPr algn="l">
              <a:defRPr sz="1200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lvl6pPr>
            <a:lvl7pPr algn="l">
              <a:defRPr sz="1200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lvl7pPr>
            <a:lvl8pPr algn="l">
              <a:defRPr sz="1200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lvl8pPr>
            <a:lvl9pPr algn="l">
              <a:defRPr sz="1200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1200" b="0" i="0">
                <a:solidFill>
                  <a:srgbClr val="667085"/>
                </a:solidFill>
                <a:latin typeface="Arial"/>
                <a:ea typeface="Arial"/>
                <a:cs typeface="Arial"/>
              </a:rPr>
              <a:t>NYC Open Data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1200" b="0" i="0">
                <a:solidFill>
                  <a:srgbClr val="667085"/>
                </a:solidFill>
                <a:latin typeface="Arial"/>
                <a:ea typeface="Arial"/>
                <a:cs typeface="Arial"/>
              </a:rPr>
              <a:t>Solicitudes 311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4311D6F-5788-4421-A657-33A82D6791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5650" y="2190750"/>
            <a:ext cx="2362200" cy="1809750"/>
          </a:xfrm>
          <a:prstGeom xmlns:a="http://schemas.openxmlformats.org/drawingml/2006/main" prst="roundRect">
            <a:avLst>
              <a:gd name="adj" fmla="val 631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EE8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686BE7E-09EE-42C4-B092-E186372541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6150" y="2495550"/>
            <a:ext cx="198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6D4AFF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F3B34D8-4004-4304-B3B5-9300E6E00F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6150" y="2686050"/>
            <a:ext cx="19812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575" b="1" i="0">
                <a:solidFill>
                  <a:srgbClr val="14243D"/>
                </a:solidFill>
                <a:latin typeface="Arial"/>
                <a:ea typeface="Arial"/>
                <a:cs typeface="Arial"/>
              </a:defRPr>
            </a:defPPr>
            <a:lvl1pPr algn="l">
              <a:defRPr sz="1575" b="1" i="0">
                <a:solidFill>
                  <a:srgbClr val="14243D"/>
                </a:solidFill>
                <a:latin typeface="Arial"/>
                <a:ea typeface="Arial"/>
                <a:cs typeface="Arial"/>
              </a:defRPr>
            </a:lvl1pPr>
            <a:lvl2pPr algn="l">
              <a:defRPr sz="1575" b="1" i="0">
                <a:solidFill>
                  <a:srgbClr val="14243D"/>
                </a:solidFill>
                <a:latin typeface="Arial"/>
                <a:ea typeface="Arial"/>
                <a:cs typeface="Arial"/>
              </a:defRPr>
            </a:lvl2pPr>
            <a:lvl3pPr algn="l">
              <a:defRPr sz="1575" b="1" i="0">
                <a:solidFill>
                  <a:srgbClr val="14243D"/>
                </a:solidFill>
                <a:latin typeface="Arial"/>
                <a:ea typeface="Arial"/>
                <a:cs typeface="Arial"/>
              </a:defRPr>
            </a:lvl3pPr>
            <a:lvl4pPr algn="l">
              <a:defRPr sz="1575" b="1" i="0">
                <a:solidFill>
                  <a:srgbClr val="14243D"/>
                </a:solidFill>
                <a:latin typeface="Arial"/>
                <a:ea typeface="Arial"/>
                <a:cs typeface="Arial"/>
              </a:defRPr>
            </a:lvl4pPr>
            <a:lvl5pPr algn="l">
              <a:defRPr sz="1575" b="1" i="0">
                <a:solidFill>
                  <a:srgbClr val="14243D"/>
                </a:solidFill>
                <a:latin typeface="Arial"/>
                <a:ea typeface="Arial"/>
                <a:cs typeface="Arial"/>
              </a:defRPr>
            </a:lvl5pPr>
            <a:lvl6pPr algn="l">
              <a:defRPr sz="1575" b="1" i="0">
                <a:solidFill>
                  <a:srgbClr val="14243D"/>
                </a:solidFill>
                <a:latin typeface="Arial"/>
                <a:ea typeface="Arial"/>
                <a:cs typeface="Arial"/>
              </a:defRPr>
            </a:lvl6pPr>
            <a:lvl7pPr algn="l">
              <a:defRPr sz="1575" b="1" i="0">
                <a:solidFill>
                  <a:srgbClr val="14243D"/>
                </a:solidFill>
                <a:latin typeface="Arial"/>
                <a:ea typeface="Arial"/>
                <a:cs typeface="Arial"/>
              </a:defRPr>
            </a:lvl7pPr>
            <a:lvl8pPr algn="l">
              <a:defRPr sz="1575" b="1" i="0">
                <a:solidFill>
                  <a:srgbClr val="14243D"/>
                </a:solidFill>
                <a:latin typeface="Arial"/>
                <a:ea typeface="Arial"/>
                <a:cs typeface="Arial"/>
              </a:defRPr>
            </a:lvl8pPr>
            <a:lvl9pPr algn="l">
              <a:defRPr sz="1575" b="1" i="0">
                <a:solidFill>
                  <a:srgbClr val="14243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1575" b="1" i="0">
                <a:solidFill>
                  <a:srgbClr val="14243D"/>
                </a:solidFill>
                <a:latin typeface="Arial"/>
                <a:ea typeface="Arial"/>
                <a:cs typeface="Arial"/>
              </a:defRPr>
            </a:pPr>
            <a:r>
              <a:rPr sz="1575" b="1" i="0">
                <a:solidFill>
                  <a:srgbClr val="14243D"/>
                </a:solidFill>
                <a:latin typeface="Arial"/>
                <a:ea typeface="Arial"/>
                <a:cs typeface="Arial"/>
              </a:rPr>
              <a:t>ETL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0F8CB5A-D418-4707-BBF4-B81F447871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6150" y="3143250"/>
            <a:ext cx="19812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200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defPPr>
            <a:lvl1pPr algn="l">
              <a:defRPr sz="1200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lvl1pPr>
            <a:lvl2pPr algn="l">
              <a:defRPr sz="1200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lvl2pPr>
            <a:lvl3pPr algn="l">
              <a:defRPr sz="1200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lvl3pPr>
            <a:lvl4pPr algn="l">
              <a:defRPr sz="1200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lvl4pPr>
            <a:lvl5pPr algn="l">
              <a:defRPr sz="1200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lvl5pPr>
            <a:lvl6pPr algn="l">
              <a:defRPr sz="1200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lvl6pPr>
            <a:lvl7pPr algn="l">
              <a:defRPr sz="1200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lvl7pPr>
            <a:lvl8pPr algn="l">
              <a:defRPr sz="1200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lvl8pPr>
            <a:lvl9pPr algn="l">
              <a:defRPr sz="1200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1200" b="0" i="0">
                <a:solidFill>
                  <a:srgbClr val="667085"/>
                </a:solidFill>
                <a:latin typeface="Arial"/>
                <a:ea typeface="Arial"/>
                <a:cs typeface="Arial"/>
              </a:rPr>
              <a:t>raw → stg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1200" b="0" i="0">
                <a:solidFill>
                  <a:srgbClr val="667085"/>
                </a:solidFill>
                <a:latin typeface="Arial"/>
                <a:ea typeface="Arial"/>
                <a:cs typeface="Arial"/>
              </a:rPr>
              <a:t>limpieza y llaves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7B1ECC3-7B6E-4686-8CC2-E00AB23D89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1700" y="2190750"/>
            <a:ext cx="2362200" cy="1809750"/>
          </a:xfrm>
          <a:prstGeom xmlns:a="http://schemas.openxmlformats.org/drawingml/2006/main" prst="roundRect">
            <a:avLst>
              <a:gd name="adj" fmla="val 631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EE8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02BFDC9-5EC0-4013-BB69-4D99B88740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2495550"/>
            <a:ext cx="198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2463EB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029B225-84DB-4FA3-B4EC-F3C3EF4187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2686050"/>
            <a:ext cx="19812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575" b="1" i="0">
                <a:solidFill>
                  <a:srgbClr val="14243D"/>
                </a:solidFill>
                <a:latin typeface="Arial"/>
                <a:ea typeface="Arial"/>
                <a:cs typeface="Arial"/>
              </a:defRPr>
            </a:defPPr>
            <a:lvl1pPr algn="l">
              <a:defRPr sz="1575" b="1" i="0">
                <a:solidFill>
                  <a:srgbClr val="14243D"/>
                </a:solidFill>
                <a:latin typeface="Arial"/>
                <a:ea typeface="Arial"/>
                <a:cs typeface="Arial"/>
              </a:defRPr>
            </a:lvl1pPr>
            <a:lvl2pPr algn="l">
              <a:defRPr sz="1575" b="1" i="0">
                <a:solidFill>
                  <a:srgbClr val="14243D"/>
                </a:solidFill>
                <a:latin typeface="Arial"/>
                <a:ea typeface="Arial"/>
                <a:cs typeface="Arial"/>
              </a:defRPr>
            </a:lvl2pPr>
            <a:lvl3pPr algn="l">
              <a:defRPr sz="1575" b="1" i="0">
                <a:solidFill>
                  <a:srgbClr val="14243D"/>
                </a:solidFill>
                <a:latin typeface="Arial"/>
                <a:ea typeface="Arial"/>
                <a:cs typeface="Arial"/>
              </a:defRPr>
            </a:lvl3pPr>
            <a:lvl4pPr algn="l">
              <a:defRPr sz="1575" b="1" i="0">
                <a:solidFill>
                  <a:srgbClr val="14243D"/>
                </a:solidFill>
                <a:latin typeface="Arial"/>
                <a:ea typeface="Arial"/>
                <a:cs typeface="Arial"/>
              </a:defRPr>
            </a:lvl4pPr>
            <a:lvl5pPr algn="l">
              <a:defRPr sz="1575" b="1" i="0">
                <a:solidFill>
                  <a:srgbClr val="14243D"/>
                </a:solidFill>
                <a:latin typeface="Arial"/>
                <a:ea typeface="Arial"/>
                <a:cs typeface="Arial"/>
              </a:defRPr>
            </a:lvl5pPr>
            <a:lvl6pPr algn="l">
              <a:defRPr sz="1575" b="1" i="0">
                <a:solidFill>
                  <a:srgbClr val="14243D"/>
                </a:solidFill>
                <a:latin typeface="Arial"/>
                <a:ea typeface="Arial"/>
                <a:cs typeface="Arial"/>
              </a:defRPr>
            </a:lvl6pPr>
            <a:lvl7pPr algn="l">
              <a:defRPr sz="1575" b="1" i="0">
                <a:solidFill>
                  <a:srgbClr val="14243D"/>
                </a:solidFill>
                <a:latin typeface="Arial"/>
                <a:ea typeface="Arial"/>
                <a:cs typeface="Arial"/>
              </a:defRPr>
            </a:lvl7pPr>
            <a:lvl8pPr algn="l">
              <a:defRPr sz="1575" b="1" i="0">
                <a:solidFill>
                  <a:srgbClr val="14243D"/>
                </a:solidFill>
                <a:latin typeface="Arial"/>
                <a:ea typeface="Arial"/>
                <a:cs typeface="Arial"/>
              </a:defRPr>
            </a:lvl8pPr>
            <a:lvl9pPr algn="l">
              <a:defRPr sz="1575" b="1" i="0">
                <a:solidFill>
                  <a:srgbClr val="14243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1575" b="1" i="0">
                <a:solidFill>
                  <a:srgbClr val="14243D"/>
                </a:solidFill>
                <a:latin typeface="Arial"/>
                <a:ea typeface="Arial"/>
                <a:cs typeface="Arial"/>
              </a:defRPr>
            </a:pPr>
            <a:r>
              <a:rPr sz="1575" b="1" i="0">
                <a:solidFill>
                  <a:srgbClr val="14243D"/>
                </a:solidFill>
                <a:latin typeface="Arial"/>
                <a:ea typeface="Arial"/>
                <a:cs typeface="Arial"/>
              </a:rPr>
              <a:t>DW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1735DC4-1274-488B-A681-78FF04BE19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3143250"/>
            <a:ext cx="19812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200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defPPr>
            <a:lvl1pPr algn="l">
              <a:defRPr sz="1200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lvl1pPr>
            <a:lvl2pPr algn="l">
              <a:defRPr sz="1200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lvl2pPr>
            <a:lvl3pPr algn="l">
              <a:defRPr sz="1200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lvl3pPr>
            <a:lvl4pPr algn="l">
              <a:defRPr sz="1200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lvl4pPr>
            <a:lvl5pPr algn="l">
              <a:defRPr sz="1200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lvl5pPr>
            <a:lvl6pPr algn="l">
              <a:defRPr sz="1200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lvl6pPr>
            <a:lvl7pPr algn="l">
              <a:defRPr sz="1200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lvl7pPr>
            <a:lvl8pPr algn="l">
              <a:defRPr sz="1200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lvl8pPr>
            <a:lvl9pPr algn="l">
              <a:defRPr sz="1200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1200" b="0" i="0">
                <a:solidFill>
                  <a:srgbClr val="667085"/>
                </a:solidFill>
                <a:latin typeface="Arial"/>
                <a:ea typeface="Arial"/>
                <a:cs typeface="Arial"/>
              </a:rPr>
              <a:t>dw.FactSolicitud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1200" b="0" i="0">
                <a:solidFill>
                  <a:srgbClr val="667085"/>
                </a:solidFill>
                <a:latin typeface="Arial"/>
                <a:ea typeface="Arial"/>
                <a:cs typeface="Arial"/>
              </a:rPr>
              <a:t>1 fila por solicitud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32BE5AA-1DE0-4433-AB69-C7E6F6F15C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2190750"/>
            <a:ext cx="2362200" cy="1809750"/>
          </a:xfrm>
          <a:prstGeom xmlns:a="http://schemas.openxmlformats.org/drawingml/2006/main" prst="roundRect">
            <a:avLst>
              <a:gd name="adj" fmla="val 631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EE8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7235F42-4CA3-469B-9FF8-C14C94D6D9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2495550"/>
            <a:ext cx="198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6D4AFF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710C525-ED39-4B16-B4EB-07221AC016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2686050"/>
            <a:ext cx="19812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575" b="1" i="0">
                <a:solidFill>
                  <a:srgbClr val="14243D"/>
                </a:solidFill>
                <a:latin typeface="Arial"/>
                <a:ea typeface="Arial"/>
                <a:cs typeface="Arial"/>
              </a:defRPr>
            </a:defPPr>
            <a:lvl1pPr algn="l">
              <a:defRPr sz="1575" b="1" i="0">
                <a:solidFill>
                  <a:srgbClr val="14243D"/>
                </a:solidFill>
                <a:latin typeface="Arial"/>
                <a:ea typeface="Arial"/>
                <a:cs typeface="Arial"/>
              </a:defRPr>
            </a:lvl1pPr>
            <a:lvl2pPr algn="l">
              <a:defRPr sz="1575" b="1" i="0">
                <a:solidFill>
                  <a:srgbClr val="14243D"/>
                </a:solidFill>
                <a:latin typeface="Arial"/>
                <a:ea typeface="Arial"/>
                <a:cs typeface="Arial"/>
              </a:defRPr>
            </a:lvl2pPr>
            <a:lvl3pPr algn="l">
              <a:defRPr sz="1575" b="1" i="0">
                <a:solidFill>
                  <a:srgbClr val="14243D"/>
                </a:solidFill>
                <a:latin typeface="Arial"/>
                <a:ea typeface="Arial"/>
                <a:cs typeface="Arial"/>
              </a:defRPr>
            </a:lvl3pPr>
            <a:lvl4pPr algn="l">
              <a:defRPr sz="1575" b="1" i="0">
                <a:solidFill>
                  <a:srgbClr val="14243D"/>
                </a:solidFill>
                <a:latin typeface="Arial"/>
                <a:ea typeface="Arial"/>
                <a:cs typeface="Arial"/>
              </a:defRPr>
            </a:lvl4pPr>
            <a:lvl5pPr algn="l">
              <a:defRPr sz="1575" b="1" i="0">
                <a:solidFill>
                  <a:srgbClr val="14243D"/>
                </a:solidFill>
                <a:latin typeface="Arial"/>
                <a:ea typeface="Arial"/>
                <a:cs typeface="Arial"/>
              </a:defRPr>
            </a:lvl5pPr>
            <a:lvl6pPr algn="l">
              <a:defRPr sz="1575" b="1" i="0">
                <a:solidFill>
                  <a:srgbClr val="14243D"/>
                </a:solidFill>
                <a:latin typeface="Arial"/>
                <a:ea typeface="Arial"/>
                <a:cs typeface="Arial"/>
              </a:defRPr>
            </a:lvl6pPr>
            <a:lvl7pPr algn="l">
              <a:defRPr sz="1575" b="1" i="0">
                <a:solidFill>
                  <a:srgbClr val="14243D"/>
                </a:solidFill>
                <a:latin typeface="Arial"/>
                <a:ea typeface="Arial"/>
                <a:cs typeface="Arial"/>
              </a:defRPr>
            </a:lvl7pPr>
            <a:lvl8pPr algn="l">
              <a:defRPr sz="1575" b="1" i="0">
                <a:solidFill>
                  <a:srgbClr val="14243D"/>
                </a:solidFill>
                <a:latin typeface="Arial"/>
                <a:ea typeface="Arial"/>
                <a:cs typeface="Arial"/>
              </a:defRPr>
            </a:lvl8pPr>
            <a:lvl9pPr algn="l">
              <a:defRPr sz="1575" b="1" i="0">
                <a:solidFill>
                  <a:srgbClr val="14243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1575" b="1" i="0">
                <a:solidFill>
                  <a:srgbClr val="14243D"/>
                </a:solidFill>
                <a:latin typeface="Arial"/>
                <a:ea typeface="Arial"/>
                <a:cs typeface="Arial"/>
              </a:defRPr>
            </a:pPr>
            <a:r>
              <a:rPr sz="1575" b="1" i="0">
                <a:solidFill>
                  <a:srgbClr val="14243D"/>
                </a:solidFill>
                <a:latin typeface="Arial"/>
                <a:ea typeface="Arial"/>
                <a:cs typeface="Arial"/>
              </a:rPr>
              <a:t>Dimensiones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0EB6832-C28B-4065-B1C4-C49CE3799D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3143250"/>
            <a:ext cx="19812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200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defPPr>
            <a:lvl1pPr algn="l">
              <a:defRPr sz="1200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lvl1pPr>
            <a:lvl2pPr algn="l">
              <a:defRPr sz="1200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lvl2pPr>
            <a:lvl3pPr algn="l">
              <a:defRPr sz="1200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lvl3pPr>
            <a:lvl4pPr algn="l">
              <a:defRPr sz="1200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lvl4pPr>
            <a:lvl5pPr algn="l">
              <a:defRPr sz="1200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lvl5pPr>
            <a:lvl6pPr algn="l">
              <a:defRPr sz="1200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lvl6pPr>
            <a:lvl7pPr algn="l">
              <a:defRPr sz="1200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lvl7pPr>
            <a:lvl8pPr algn="l">
              <a:defRPr sz="1200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lvl8pPr>
            <a:lvl9pPr algn="l">
              <a:defRPr sz="1200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1200" b="0" i="0">
                <a:solidFill>
                  <a:srgbClr val="667085"/>
                </a:solidFill>
                <a:latin typeface="Arial"/>
                <a:ea typeface="Arial"/>
                <a:cs typeface="Arial"/>
              </a:rPr>
              <a:t>Fecha · agencia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1200" b="0" i="0">
                <a:solidFill>
                  <a:srgbClr val="667085"/>
                </a:solidFill>
                <a:latin typeface="Arial"/>
                <a:ea typeface="Arial"/>
                <a:cs typeface="Arial"/>
              </a:rPr>
              <a:t>problema · geografía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1200" b="0" i="0">
                <a:solidFill>
                  <a:srgbClr val="667085"/>
                </a:solidFill>
                <a:latin typeface="Arial"/>
                <a:ea typeface="Arial"/>
                <a:cs typeface="Arial"/>
              </a:rPr>
              <a:t>estado · canal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66E94DF3-9FDF-46C1-8576-04CCFCCBD4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62500"/>
            <a:ext cx="104203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14243D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1CF7DC89-B49C-433E-B3B6-268CCF4FE6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029200"/>
            <a:ext cx="1714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125" b="1" i="0">
                <a:solidFill>
                  <a:srgbClr val="2463EB"/>
                </a:solidFill>
                <a:latin typeface="Arial"/>
                <a:ea typeface="Arial"/>
                <a:cs typeface="Arial"/>
              </a:defRPr>
            </a:defPPr>
            <a:lvl1pPr algn="l">
              <a:defRPr sz="1125" b="1" i="0">
                <a:solidFill>
                  <a:srgbClr val="2463EB"/>
                </a:solidFill>
                <a:latin typeface="Arial"/>
                <a:ea typeface="Arial"/>
                <a:cs typeface="Arial"/>
              </a:defRPr>
            </a:lvl1pPr>
            <a:lvl2pPr algn="l">
              <a:defRPr sz="1125" b="1" i="0">
                <a:solidFill>
                  <a:srgbClr val="2463EB"/>
                </a:solidFill>
                <a:latin typeface="Arial"/>
                <a:ea typeface="Arial"/>
                <a:cs typeface="Arial"/>
              </a:defRPr>
            </a:lvl2pPr>
            <a:lvl3pPr algn="l">
              <a:defRPr sz="1125" b="1" i="0">
                <a:solidFill>
                  <a:srgbClr val="2463EB"/>
                </a:solidFill>
                <a:latin typeface="Arial"/>
                <a:ea typeface="Arial"/>
                <a:cs typeface="Arial"/>
              </a:defRPr>
            </a:lvl3pPr>
            <a:lvl4pPr algn="l">
              <a:defRPr sz="1125" b="1" i="0">
                <a:solidFill>
                  <a:srgbClr val="2463EB"/>
                </a:solidFill>
                <a:latin typeface="Arial"/>
                <a:ea typeface="Arial"/>
                <a:cs typeface="Arial"/>
              </a:defRPr>
            </a:lvl4pPr>
            <a:lvl5pPr algn="l">
              <a:defRPr sz="1125" b="1" i="0">
                <a:solidFill>
                  <a:srgbClr val="2463EB"/>
                </a:solidFill>
                <a:latin typeface="Arial"/>
                <a:ea typeface="Arial"/>
                <a:cs typeface="Arial"/>
              </a:defRPr>
            </a:lvl5pPr>
            <a:lvl6pPr algn="l">
              <a:defRPr sz="1125" b="1" i="0">
                <a:solidFill>
                  <a:srgbClr val="2463EB"/>
                </a:solidFill>
                <a:latin typeface="Arial"/>
                <a:ea typeface="Arial"/>
                <a:cs typeface="Arial"/>
              </a:defRPr>
            </a:lvl6pPr>
            <a:lvl7pPr algn="l">
              <a:defRPr sz="1125" b="1" i="0">
                <a:solidFill>
                  <a:srgbClr val="2463EB"/>
                </a:solidFill>
                <a:latin typeface="Arial"/>
                <a:ea typeface="Arial"/>
                <a:cs typeface="Arial"/>
              </a:defRPr>
            </a:lvl7pPr>
            <a:lvl8pPr algn="l">
              <a:defRPr sz="1125" b="1" i="0">
                <a:solidFill>
                  <a:srgbClr val="2463EB"/>
                </a:solidFill>
                <a:latin typeface="Arial"/>
                <a:ea typeface="Arial"/>
                <a:cs typeface="Arial"/>
              </a:defRPr>
            </a:lvl8pPr>
            <a:lvl9pPr algn="l">
              <a:defRPr sz="1125" b="1" i="0">
                <a:solidFill>
                  <a:srgbClr val="2463E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1125" b="1" i="0">
                <a:solidFill>
                  <a:srgbClr val="2463EB"/>
                </a:solidFill>
                <a:latin typeface="Arial"/>
                <a:ea typeface="Arial"/>
                <a:cs typeface="Arial"/>
              </a:defRPr>
            </a:pPr>
            <a:r>
              <a:rPr sz="1125" b="1" i="0">
                <a:solidFill>
                  <a:srgbClr val="2463EB"/>
                </a:solidFill>
                <a:latin typeface="Arial"/>
                <a:ea typeface="Arial"/>
                <a:cs typeface="Arial"/>
              </a:rPr>
              <a:t>Medida central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DE3F1555-7C21-4D4B-84BE-48ACBD9879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276850"/>
            <a:ext cx="2476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1" i="0">
                <a:solidFill>
                  <a:srgbClr val="14243D"/>
                </a:solidFill>
                <a:latin typeface="Arial"/>
                <a:ea typeface="Arial"/>
                <a:cs typeface="Arial"/>
              </a:defRPr>
            </a:defPPr>
            <a:lvl1pPr algn="l">
              <a:defRPr sz="1725" b="1" i="0">
                <a:solidFill>
                  <a:srgbClr val="14243D"/>
                </a:solidFill>
                <a:latin typeface="Arial"/>
                <a:ea typeface="Arial"/>
                <a:cs typeface="Arial"/>
              </a:defRPr>
            </a:lvl1pPr>
            <a:lvl2pPr algn="l">
              <a:defRPr sz="1725" b="1" i="0">
                <a:solidFill>
                  <a:srgbClr val="14243D"/>
                </a:solidFill>
                <a:latin typeface="Arial"/>
                <a:ea typeface="Arial"/>
                <a:cs typeface="Arial"/>
              </a:defRPr>
            </a:lvl2pPr>
            <a:lvl3pPr algn="l">
              <a:defRPr sz="1725" b="1" i="0">
                <a:solidFill>
                  <a:srgbClr val="14243D"/>
                </a:solidFill>
                <a:latin typeface="Arial"/>
                <a:ea typeface="Arial"/>
                <a:cs typeface="Arial"/>
              </a:defRPr>
            </a:lvl3pPr>
            <a:lvl4pPr algn="l">
              <a:defRPr sz="1725" b="1" i="0">
                <a:solidFill>
                  <a:srgbClr val="14243D"/>
                </a:solidFill>
                <a:latin typeface="Arial"/>
                <a:ea typeface="Arial"/>
                <a:cs typeface="Arial"/>
              </a:defRPr>
            </a:lvl4pPr>
            <a:lvl5pPr algn="l">
              <a:defRPr sz="1725" b="1" i="0">
                <a:solidFill>
                  <a:srgbClr val="14243D"/>
                </a:solidFill>
                <a:latin typeface="Arial"/>
                <a:ea typeface="Arial"/>
                <a:cs typeface="Arial"/>
              </a:defRPr>
            </a:lvl5pPr>
            <a:lvl6pPr algn="l">
              <a:defRPr sz="1725" b="1" i="0">
                <a:solidFill>
                  <a:srgbClr val="14243D"/>
                </a:solidFill>
                <a:latin typeface="Arial"/>
                <a:ea typeface="Arial"/>
                <a:cs typeface="Arial"/>
              </a:defRPr>
            </a:lvl6pPr>
            <a:lvl7pPr algn="l">
              <a:defRPr sz="1725" b="1" i="0">
                <a:solidFill>
                  <a:srgbClr val="14243D"/>
                </a:solidFill>
                <a:latin typeface="Arial"/>
                <a:ea typeface="Arial"/>
                <a:cs typeface="Arial"/>
              </a:defRPr>
            </a:lvl7pPr>
            <a:lvl8pPr algn="l">
              <a:defRPr sz="1725" b="1" i="0">
                <a:solidFill>
                  <a:srgbClr val="14243D"/>
                </a:solidFill>
                <a:latin typeface="Arial"/>
                <a:ea typeface="Arial"/>
                <a:cs typeface="Arial"/>
              </a:defRPr>
            </a:lvl8pPr>
            <a:lvl9pPr algn="l">
              <a:defRPr sz="1725" b="1" i="0">
                <a:solidFill>
                  <a:srgbClr val="14243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1725" b="1" i="0">
                <a:solidFill>
                  <a:srgbClr val="14243D"/>
                </a:solidFill>
                <a:latin typeface="Arial"/>
                <a:ea typeface="Arial"/>
                <a:cs typeface="Arial"/>
              </a:defRPr>
            </a:pPr>
            <a:r>
              <a:rPr sz="1725" b="1" i="0">
                <a:solidFill>
                  <a:srgbClr val="14243D"/>
                </a:solidFill>
                <a:latin typeface="Arial"/>
                <a:ea typeface="Arial"/>
                <a:cs typeface="Arial"/>
              </a:rPr>
              <a:t>minutos_resolucion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4AF7E9E9-118A-4F4A-A6D2-E3F4293351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57850"/>
            <a:ext cx="3143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200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defPPr>
            <a:lvl1pPr algn="l">
              <a:defRPr sz="1200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lvl1pPr>
            <a:lvl2pPr algn="l">
              <a:defRPr sz="1200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lvl2pPr>
            <a:lvl3pPr algn="l">
              <a:defRPr sz="1200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lvl3pPr>
            <a:lvl4pPr algn="l">
              <a:defRPr sz="1200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lvl4pPr>
            <a:lvl5pPr algn="l">
              <a:defRPr sz="1200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lvl5pPr>
            <a:lvl6pPr algn="l">
              <a:defRPr sz="1200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lvl6pPr>
            <a:lvl7pPr algn="l">
              <a:defRPr sz="1200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lvl7pPr>
            <a:lvl8pPr algn="l">
              <a:defRPr sz="1200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lvl8pPr>
            <a:lvl9pPr algn="l">
              <a:defRPr sz="1200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1200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1200" b="0" i="0">
                <a:solidFill>
                  <a:srgbClr val="667085"/>
                </a:solidFill>
                <a:latin typeface="Arial"/>
                <a:ea typeface="Arial"/>
                <a:cs typeface="Arial"/>
              </a:rPr>
              <a:t>NULL cuando no existe fecha de cierre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8C7E02FA-0168-4ABC-B95B-413D12B8F7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5029200"/>
            <a:ext cx="1714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125" b="1" i="0">
                <a:solidFill>
                  <a:srgbClr val="2463EB"/>
                </a:solidFill>
                <a:latin typeface="Arial"/>
                <a:ea typeface="Arial"/>
                <a:cs typeface="Arial"/>
              </a:defRPr>
            </a:defPPr>
            <a:lvl1pPr algn="l">
              <a:defRPr sz="1125" b="1" i="0">
                <a:solidFill>
                  <a:srgbClr val="2463EB"/>
                </a:solidFill>
                <a:latin typeface="Arial"/>
                <a:ea typeface="Arial"/>
                <a:cs typeface="Arial"/>
              </a:defRPr>
            </a:lvl1pPr>
            <a:lvl2pPr algn="l">
              <a:defRPr sz="1125" b="1" i="0">
                <a:solidFill>
                  <a:srgbClr val="2463EB"/>
                </a:solidFill>
                <a:latin typeface="Arial"/>
                <a:ea typeface="Arial"/>
                <a:cs typeface="Arial"/>
              </a:defRPr>
            </a:lvl2pPr>
            <a:lvl3pPr algn="l">
              <a:defRPr sz="1125" b="1" i="0">
                <a:solidFill>
                  <a:srgbClr val="2463EB"/>
                </a:solidFill>
                <a:latin typeface="Arial"/>
                <a:ea typeface="Arial"/>
                <a:cs typeface="Arial"/>
              </a:defRPr>
            </a:lvl3pPr>
            <a:lvl4pPr algn="l">
              <a:defRPr sz="1125" b="1" i="0">
                <a:solidFill>
                  <a:srgbClr val="2463EB"/>
                </a:solidFill>
                <a:latin typeface="Arial"/>
                <a:ea typeface="Arial"/>
                <a:cs typeface="Arial"/>
              </a:defRPr>
            </a:lvl4pPr>
            <a:lvl5pPr algn="l">
              <a:defRPr sz="1125" b="1" i="0">
                <a:solidFill>
                  <a:srgbClr val="2463EB"/>
                </a:solidFill>
                <a:latin typeface="Arial"/>
                <a:ea typeface="Arial"/>
                <a:cs typeface="Arial"/>
              </a:defRPr>
            </a:lvl5pPr>
            <a:lvl6pPr algn="l">
              <a:defRPr sz="1125" b="1" i="0">
                <a:solidFill>
                  <a:srgbClr val="2463EB"/>
                </a:solidFill>
                <a:latin typeface="Arial"/>
                <a:ea typeface="Arial"/>
                <a:cs typeface="Arial"/>
              </a:defRPr>
            </a:lvl6pPr>
            <a:lvl7pPr algn="l">
              <a:defRPr sz="1125" b="1" i="0">
                <a:solidFill>
                  <a:srgbClr val="2463EB"/>
                </a:solidFill>
                <a:latin typeface="Arial"/>
                <a:ea typeface="Arial"/>
                <a:cs typeface="Arial"/>
              </a:defRPr>
            </a:lvl7pPr>
            <a:lvl8pPr algn="l">
              <a:defRPr sz="1125" b="1" i="0">
                <a:solidFill>
                  <a:srgbClr val="2463EB"/>
                </a:solidFill>
                <a:latin typeface="Arial"/>
                <a:ea typeface="Arial"/>
                <a:cs typeface="Arial"/>
              </a:defRPr>
            </a:lvl8pPr>
            <a:lvl9pPr algn="l">
              <a:defRPr sz="1125" b="1" i="0">
                <a:solidFill>
                  <a:srgbClr val="2463E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1125" b="1" i="0">
                <a:solidFill>
                  <a:srgbClr val="2463EB"/>
                </a:solidFill>
                <a:latin typeface="Arial"/>
                <a:ea typeface="Arial"/>
                <a:cs typeface="Arial"/>
              </a:defRPr>
            </a:pPr>
            <a:r>
              <a:rPr sz="1125" b="1" i="0">
                <a:solidFill>
                  <a:srgbClr val="2463EB"/>
                </a:solidFill>
                <a:latin typeface="Arial"/>
                <a:ea typeface="Arial"/>
                <a:cs typeface="Arial"/>
              </a:rPr>
              <a:t>F2 y F3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D386876F-4F05-4036-B2B0-24AF1EAA5B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5276850"/>
            <a:ext cx="3524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75" b="1" i="0">
                <a:solidFill>
                  <a:srgbClr val="14243D"/>
                </a:solidFill>
                <a:latin typeface="Arial"/>
                <a:ea typeface="Arial"/>
                <a:cs typeface="Arial"/>
              </a:defRPr>
            </a:defPPr>
            <a:lvl1pPr algn="l">
              <a:defRPr sz="1575" b="1" i="0">
                <a:solidFill>
                  <a:srgbClr val="14243D"/>
                </a:solidFill>
                <a:latin typeface="Arial"/>
                <a:ea typeface="Arial"/>
                <a:cs typeface="Arial"/>
              </a:defRPr>
            </a:lvl1pPr>
            <a:lvl2pPr algn="l">
              <a:defRPr sz="1575" b="1" i="0">
                <a:solidFill>
                  <a:srgbClr val="14243D"/>
                </a:solidFill>
                <a:latin typeface="Arial"/>
                <a:ea typeface="Arial"/>
                <a:cs typeface="Arial"/>
              </a:defRPr>
            </a:lvl2pPr>
            <a:lvl3pPr algn="l">
              <a:defRPr sz="1575" b="1" i="0">
                <a:solidFill>
                  <a:srgbClr val="14243D"/>
                </a:solidFill>
                <a:latin typeface="Arial"/>
                <a:ea typeface="Arial"/>
                <a:cs typeface="Arial"/>
              </a:defRPr>
            </a:lvl3pPr>
            <a:lvl4pPr algn="l">
              <a:defRPr sz="1575" b="1" i="0">
                <a:solidFill>
                  <a:srgbClr val="14243D"/>
                </a:solidFill>
                <a:latin typeface="Arial"/>
                <a:ea typeface="Arial"/>
                <a:cs typeface="Arial"/>
              </a:defRPr>
            </a:lvl4pPr>
            <a:lvl5pPr algn="l">
              <a:defRPr sz="1575" b="1" i="0">
                <a:solidFill>
                  <a:srgbClr val="14243D"/>
                </a:solidFill>
                <a:latin typeface="Arial"/>
                <a:ea typeface="Arial"/>
                <a:cs typeface="Arial"/>
              </a:defRPr>
            </a:lvl5pPr>
            <a:lvl6pPr algn="l">
              <a:defRPr sz="1575" b="1" i="0">
                <a:solidFill>
                  <a:srgbClr val="14243D"/>
                </a:solidFill>
                <a:latin typeface="Arial"/>
                <a:ea typeface="Arial"/>
                <a:cs typeface="Arial"/>
              </a:defRPr>
            </a:lvl6pPr>
            <a:lvl7pPr algn="l">
              <a:defRPr sz="1575" b="1" i="0">
                <a:solidFill>
                  <a:srgbClr val="14243D"/>
                </a:solidFill>
                <a:latin typeface="Arial"/>
                <a:ea typeface="Arial"/>
                <a:cs typeface="Arial"/>
              </a:defRPr>
            </a:lvl7pPr>
            <a:lvl8pPr algn="l">
              <a:defRPr sz="1575" b="1" i="0">
                <a:solidFill>
                  <a:srgbClr val="14243D"/>
                </a:solidFill>
                <a:latin typeface="Arial"/>
                <a:ea typeface="Arial"/>
                <a:cs typeface="Arial"/>
              </a:defRPr>
            </a:lvl8pPr>
            <a:lvl9pPr algn="l">
              <a:defRPr sz="1575" b="1" i="0">
                <a:solidFill>
                  <a:srgbClr val="14243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lnSpc>
                <a:spcPct val="104000"/>
              </a:lnSpc>
              <a:buNone/>
              <a:defRPr sz="1575" b="1" i="0">
                <a:solidFill>
                  <a:srgbClr val="14243D"/>
                </a:solidFill>
                <a:latin typeface="Arial"/>
                <a:ea typeface="Arial"/>
                <a:cs typeface="Arial"/>
              </a:defRPr>
            </a:pPr>
            <a:r>
              <a:rPr sz="1575" b="1" i="0">
                <a:solidFill>
                  <a:srgbClr val="14243D"/>
                </a:solidFill>
                <a:latin typeface="Arial"/>
                <a:ea typeface="Arial"/>
                <a:cs typeface="Arial"/>
              </a:rPr>
              <a:t>mining.vw_dataset_fase2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575" b="1" i="0">
                <a:solidFill>
                  <a:srgbClr val="14243D"/>
                </a:solidFill>
                <a:latin typeface="Arial"/>
                <a:ea typeface="Arial"/>
                <a:cs typeface="Arial"/>
              </a:defRPr>
            </a:pPr>
            <a:r>
              <a:rPr sz="1575" b="1" i="0">
                <a:solidFill>
                  <a:srgbClr val="14243D"/>
                </a:solidFill>
                <a:latin typeface="Arial"/>
                <a:ea typeface="Arial"/>
                <a:cs typeface="Arial"/>
              </a:rPr>
              <a:t>bi.vw_solicitudes_segmentadas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7806B4E4-A305-43F9-A76B-B545CB9FAC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5219700"/>
            <a:ext cx="27432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200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defPPr>
            <a:lvl1pPr algn="l">
              <a:defRPr sz="1200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lvl1pPr>
            <a:lvl2pPr algn="l">
              <a:defRPr sz="1200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lvl2pPr>
            <a:lvl3pPr algn="l">
              <a:defRPr sz="1200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lvl3pPr>
            <a:lvl4pPr algn="l">
              <a:defRPr sz="1200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lvl4pPr>
            <a:lvl5pPr algn="l">
              <a:defRPr sz="1200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lvl5pPr>
            <a:lvl6pPr algn="l">
              <a:defRPr sz="1200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lvl6pPr>
            <a:lvl7pPr algn="l">
              <a:defRPr sz="1200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lvl7pPr>
            <a:lvl8pPr algn="l">
              <a:defRPr sz="1200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lvl8pPr>
            <a:lvl9pPr algn="l">
              <a:defRPr sz="1200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1200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1200" b="0" i="0">
                <a:solidFill>
                  <a:srgbClr val="667085"/>
                </a:solidFill>
                <a:latin typeface="Arial"/>
                <a:ea typeface="Arial"/>
                <a:cs typeface="Arial"/>
              </a:rPr>
              <a:t>Unión nulo-segura por agencia + complaint_type + borough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40F4BC7F-A0B7-4466-A863-F9E2E66F48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10972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900" b="0" i="0">
                <a:solidFill>
                  <a:srgbClr val="98A2B3"/>
                </a:solidFill>
                <a:latin typeface="Arial"/>
                <a:ea typeface="Arial"/>
                <a:cs typeface="Arial"/>
              </a:defRPr>
            </a:defPPr>
            <a:lvl1pPr algn="l">
              <a:defRPr sz="900" b="0" i="0">
                <a:solidFill>
                  <a:srgbClr val="98A2B3"/>
                </a:solidFill>
                <a:latin typeface="Arial"/>
                <a:ea typeface="Arial"/>
                <a:cs typeface="Arial"/>
              </a:defRPr>
            </a:lvl1pPr>
            <a:lvl2pPr algn="l">
              <a:defRPr sz="900" b="0" i="0">
                <a:solidFill>
                  <a:srgbClr val="98A2B3"/>
                </a:solidFill>
                <a:latin typeface="Arial"/>
                <a:ea typeface="Arial"/>
                <a:cs typeface="Arial"/>
              </a:defRPr>
            </a:lvl2pPr>
            <a:lvl3pPr algn="l">
              <a:defRPr sz="900" b="0" i="0">
                <a:solidFill>
                  <a:srgbClr val="98A2B3"/>
                </a:solidFill>
                <a:latin typeface="Arial"/>
                <a:ea typeface="Arial"/>
                <a:cs typeface="Arial"/>
              </a:defRPr>
            </a:lvl3pPr>
            <a:lvl4pPr algn="l">
              <a:defRPr sz="900" b="0" i="0">
                <a:solidFill>
                  <a:srgbClr val="98A2B3"/>
                </a:solidFill>
                <a:latin typeface="Arial"/>
                <a:ea typeface="Arial"/>
                <a:cs typeface="Arial"/>
              </a:defRPr>
            </a:lvl4pPr>
            <a:lvl5pPr algn="l">
              <a:defRPr sz="900" b="0" i="0">
                <a:solidFill>
                  <a:srgbClr val="98A2B3"/>
                </a:solidFill>
                <a:latin typeface="Arial"/>
                <a:ea typeface="Arial"/>
                <a:cs typeface="Arial"/>
              </a:defRPr>
            </a:lvl5pPr>
            <a:lvl6pPr algn="l">
              <a:defRPr sz="900" b="0" i="0">
                <a:solidFill>
                  <a:srgbClr val="98A2B3"/>
                </a:solidFill>
                <a:latin typeface="Arial"/>
                <a:ea typeface="Arial"/>
                <a:cs typeface="Arial"/>
              </a:defRPr>
            </a:lvl6pPr>
            <a:lvl7pPr algn="l">
              <a:defRPr sz="900" b="0" i="0">
                <a:solidFill>
                  <a:srgbClr val="98A2B3"/>
                </a:solidFill>
                <a:latin typeface="Arial"/>
                <a:ea typeface="Arial"/>
                <a:cs typeface="Arial"/>
              </a:defRPr>
            </a:lvl7pPr>
            <a:lvl8pPr algn="l">
              <a:defRPr sz="900" b="0" i="0">
                <a:solidFill>
                  <a:srgbClr val="98A2B3"/>
                </a:solidFill>
                <a:latin typeface="Arial"/>
                <a:ea typeface="Arial"/>
                <a:cs typeface="Arial"/>
              </a:defRPr>
            </a:lvl8pPr>
            <a:lvl9pPr algn="l">
              <a:defRPr sz="900" b="0" i="0">
                <a:solidFill>
                  <a:srgbClr val="98A2B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900" b="0" i="0">
                <a:solidFill>
                  <a:srgbClr val="98A2B3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98A2B3"/>
                </a:solidFill>
                <a:latin typeface="Arial"/>
                <a:ea typeface="Arial"/>
                <a:cs typeface="Arial"/>
              </a:rPr>
              <a:t>Fuente: Fase 1 DDL/SSIS y docs/02-INTEGRACION-DATOS.md. La conexión BI validada usa SQL Server DW_NYC311 en modo Import.</a:t>
            </a:r>
          </a:p>
        </p:txBody>
      </p:sp>
    </p:spTree>
    <p:extLst>
      <p:ext uri="{BB962C8B-B14F-4D97-AF65-F5344CB8AC3E}">
        <p14:creationId xmlns:p14="http://schemas.microsoft.com/office/powerpoint/2010/main" val="1274744639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7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D1977DB-D4CB-472D-9507-88CD95F783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2667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975" b="1" i="0">
                <a:solidFill>
                  <a:srgbClr val="2463EB"/>
                </a:solidFill>
                <a:latin typeface="Arial"/>
                <a:ea typeface="Arial"/>
                <a:cs typeface="Arial"/>
              </a:defRPr>
            </a:defPPr>
            <a:lvl1pPr algn="l">
              <a:defRPr sz="975" b="1" i="0">
                <a:solidFill>
                  <a:srgbClr val="2463EB"/>
                </a:solidFill>
                <a:latin typeface="Arial"/>
                <a:ea typeface="Arial"/>
                <a:cs typeface="Arial"/>
              </a:defRPr>
            </a:lvl1pPr>
            <a:lvl2pPr algn="l">
              <a:defRPr sz="975" b="1" i="0">
                <a:solidFill>
                  <a:srgbClr val="2463EB"/>
                </a:solidFill>
                <a:latin typeface="Arial"/>
                <a:ea typeface="Arial"/>
                <a:cs typeface="Arial"/>
              </a:defRPr>
            </a:lvl2pPr>
            <a:lvl3pPr algn="l">
              <a:defRPr sz="975" b="1" i="0">
                <a:solidFill>
                  <a:srgbClr val="2463EB"/>
                </a:solidFill>
                <a:latin typeface="Arial"/>
                <a:ea typeface="Arial"/>
                <a:cs typeface="Arial"/>
              </a:defRPr>
            </a:lvl3pPr>
            <a:lvl4pPr algn="l">
              <a:defRPr sz="975" b="1" i="0">
                <a:solidFill>
                  <a:srgbClr val="2463EB"/>
                </a:solidFill>
                <a:latin typeface="Arial"/>
                <a:ea typeface="Arial"/>
                <a:cs typeface="Arial"/>
              </a:defRPr>
            </a:lvl4pPr>
            <a:lvl5pPr algn="l">
              <a:defRPr sz="975" b="1" i="0">
                <a:solidFill>
                  <a:srgbClr val="2463EB"/>
                </a:solidFill>
                <a:latin typeface="Arial"/>
                <a:ea typeface="Arial"/>
                <a:cs typeface="Arial"/>
              </a:defRPr>
            </a:lvl5pPr>
            <a:lvl6pPr algn="l">
              <a:defRPr sz="975" b="1" i="0">
                <a:solidFill>
                  <a:srgbClr val="2463EB"/>
                </a:solidFill>
                <a:latin typeface="Arial"/>
                <a:ea typeface="Arial"/>
                <a:cs typeface="Arial"/>
              </a:defRPr>
            </a:lvl6pPr>
            <a:lvl7pPr algn="l">
              <a:defRPr sz="975" b="1" i="0">
                <a:solidFill>
                  <a:srgbClr val="2463EB"/>
                </a:solidFill>
                <a:latin typeface="Arial"/>
                <a:ea typeface="Arial"/>
                <a:cs typeface="Arial"/>
              </a:defRPr>
            </a:lvl7pPr>
            <a:lvl8pPr algn="l">
              <a:defRPr sz="975" b="1" i="0">
                <a:solidFill>
                  <a:srgbClr val="2463EB"/>
                </a:solidFill>
                <a:latin typeface="Arial"/>
                <a:ea typeface="Arial"/>
                <a:cs typeface="Arial"/>
              </a:defRPr>
            </a:lvl8pPr>
            <a:lvl9pPr algn="l">
              <a:defRPr sz="975" b="1" i="0">
                <a:solidFill>
                  <a:srgbClr val="2463E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975" b="1" i="0">
                <a:solidFill>
                  <a:srgbClr val="2463EB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2463EB"/>
                </a:solidFill>
                <a:latin typeface="Arial"/>
                <a:ea typeface="Arial"/>
                <a:cs typeface="Arial"/>
              </a:rPr>
              <a:t>NYC311 / FASE 3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9E30C07-0E1D-435C-A507-C2F1A74973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44200" y="285750"/>
            <a:ext cx="8382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975" b="1" i="0">
                <a:solidFill>
                  <a:srgbClr val="98A2B3"/>
                </a:solidFill>
                <a:latin typeface="Arial"/>
                <a:ea typeface="Arial"/>
                <a:cs typeface="Arial"/>
              </a:defRPr>
            </a:defPPr>
            <a:lvl1pPr algn="r">
              <a:defRPr sz="975" b="1" i="0">
                <a:solidFill>
                  <a:srgbClr val="98A2B3"/>
                </a:solidFill>
                <a:latin typeface="Arial"/>
                <a:ea typeface="Arial"/>
                <a:cs typeface="Arial"/>
              </a:defRPr>
            </a:lvl1pPr>
            <a:lvl2pPr algn="r">
              <a:defRPr sz="975" b="1" i="0">
                <a:solidFill>
                  <a:srgbClr val="98A2B3"/>
                </a:solidFill>
                <a:latin typeface="Arial"/>
                <a:ea typeface="Arial"/>
                <a:cs typeface="Arial"/>
              </a:defRPr>
            </a:lvl2pPr>
            <a:lvl3pPr algn="r">
              <a:defRPr sz="975" b="1" i="0">
                <a:solidFill>
                  <a:srgbClr val="98A2B3"/>
                </a:solidFill>
                <a:latin typeface="Arial"/>
                <a:ea typeface="Arial"/>
                <a:cs typeface="Arial"/>
              </a:defRPr>
            </a:lvl3pPr>
            <a:lvl4pPr algn="r">
              <a:defRPr sz="975" b="1" i="0">
                <a:solidFill>
                  <a:srgbClr val="98A2B3"/>
                </a:solidFill>
                <a:latin typeface="Arial"/>
                <a:ea typeface="Arial"/>
                <a:cs typeface="Arial"/>
              </a:defRPr>
            </a:lvl4pPr>
            <a:lvl5pPr algn="r">
              <a:defRPr sz="975" b="1" i="0">
                <a:solidFill>
                  <a:srgbClr val="98A2B3"/>
                </a:solidFill>
                <a:latin typeface="Arial"/>
                <a:ea typeface="Arial"/>
                <a:cs typeface="Arial"/>
              </a:defRPr>
            </a:lvl5pPr>
            <a:lvl6pPr algn="r">
              <a:defRPr sz="975" b="1" i="0">
                <a:solidFill>
                  <a:srgbClr val="98A2B3"/>
                </a:solidFill>
                <a:latin typeface="Arial"/>
                <a:ea typeface="Arial"/>
                <a:cs typeface="Arial"/>
              </a:defRPr>
            </a:lvl6pPr>
            <a:lvl7pPr algn="r">
              <a:defRPr sz="975" b="1" i="0">
                <a:solidFill>
                  <a:srgbClr val="98A2B3"/>
                </a:solidFill>
                <a:latin typeface="Arial"/>
                <a:ea typeface="Arial"/>
                <a:cs typeface="Arial"/>
              </a:defRPr>
            </a:lvl7pPr>
            <a:lvl8pPr algn="r">
              <a:defRPr sz="975" b="1" i="0">
                <a:solidFill>
                  <a:srgbClr val="98A2B3"/>
                </a:solidFill>
                <a:latin typeface="Arial"/>
                <a:ea typeface="Arial"/>
                <a:cs typeface="Arial"/>
              </a:defRPr>
            </a:lvl8pPr>
            <a:lvl9pPr algn="r">
              <a:defRPr sz="975" b="1" i="0">
                <a:solidFill>
                  <a:srgbClr val="98A2B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r">
              <a:lnSpc>
                <a:spcPct val="105000"/>
              </a:lnSpc>
              <a:buNone/>
              <a:defRPr sz="975" b="1" i="0">
                <a:solidFill>
                  <a:srgbClr val="98A2B3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98A2B3"/>
                </a:solidFill>
                <a:latin typeface="Arial"/>
                <a:ea typeface="Arial"/>
                <a:cs typeface="Arial"/>
              </a:rPr>
              <a:t>05 / 13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D5F20EC-7BCB-42AC-A90F-8543155E62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"/>
            <a:ext cx="9906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0717"/>
          </a:bodyPr>
          <a:lstStyle xmlns:a="http://schemas.openxmlformats.org/drawingml/2006/main">
            <a:defPPr algn="l">
              <a:defRPr sz="2850" b="1" i="0">
                <a:solidFill>
                  <a:srgbClr val="14243D"/>
                </a:solidFill>
                <a:latin typeface="Arial"/>
                <a:ea typeface="Arial"/>
                <a:cs typeface="Arial"/>
              </a:defRPr>
            </a:defPPr>
            <a:lvl1pPr algn="l">
              <a:defRPr sz="2850" b="1" i="0">
                <a:solidFill>
                  <a:srgbClr val="14243D"/>
                </a:solidFill>
                <a:latin typeface="Arial"/>
                <a:ea typeface="Arial"/>
                <a:cs typeface="Arial"/>
              </a:defRPr>
            </a:lvl1pPr>
            <a:lvl2pPr algn="l">
              <a:defRPr sz="2850" b="1" i="0">
                <a:solidFill>
                  <a:srgbClr val="14243D"/>
                </a:solidFill>
                <a:latin typeface="Arial"/>
                <a:ea typeface="Arial"/>
                <a:cs typeface="Arial"/>
              </a:defRPr>
            </a:lvl2pPr>
            <a:lvl3pPr algn="l">
              <a:defRPr sz="2850" b="1" i="0">
                <a:solidFill>
                  <a:srgbClr val="14243D"/>
                </a:solidFill>
                <a:latin typeface="Arial"/>
                <a:ea typeface="Arial"/>
                <a:cs typeface="Arial"/>
              </a:defRPr>
            </a:lvl3pPr>
            <a:lvl4pPr algn="l">
              <a:defRPr sz="2850" b="1" i="0">
                <a:solidFill>
                  <a:srgbClr val="14243D"/>
                </a:solidFill>
                <a:latin typeface="Arial"/>
                <a:ea typeface="Arial"/>
                <a:cs typeface="Arial"/>
              </a:defRPr>
            </a:lvl4pPr>
            <a:lvl5pPr algn="l">
              <a:defRPr sz="2850" b="1" i="0">
                <a:solidFill>
                  <a:srgbClr val="14243D"/>
                </a:solidFill>
                <a:latin typeface="Arial"/>
                <a:ea typeface="Arial"/>
                <a:cs typeface="Arial"/>
              </a:defRPr>
            </a:lvl5pPr>
            <a:lvl6pPr algn="l">
              <a:defRPr sz="2850" b="1" i="0">
                <a:solidFill>
                  <a:srgbClr val="14243D"/>
                </a:solidFill>
                <a:latin typeface="Arial"/>
                <a:ea typeface="Arial"/>
                <a:cs typeface="Arial"/>
              </a:defRPr>
            </a:lvl6pPr>
            <a:lvl7pPr algn="l">
              <a:defRPr sz="2850" b="1" i="0">
                <a:solidFill>
                  <a:srgbClr val="14243D"/>
                </a:solidFill>
                <a:latin typeface="Arial"/>
                <a:ea typeface="Arial"/>
                <a:cs typeface="Arial"/>
              </a:defRPr>
            </a:lvl7pPr>
            <a:lvl8pPr algn="l">
              <a:defRPr sz="2850" b="1" i="0">
                <a:solidFill>
                  <a:srgbClr val="14243D"/>
                </a:solidFill>
                <a:latin typeface="Arial"/>
                <a:ea typeface="Arial"/>
                <a:cs typeface="Arial"/>
              </a:defRPr>
            </a:lvl8pPr>
            <a:lvl9pPr algn="l">
              <a:defRPr sz="2850" b="1" i="0">
                <a:solidFill>
                  <a:srgbClr val="14243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lnSpc>
                <a:spcPct val="95000"/>
              </a:lnSpc>
              <a:buNone/>
              <a:defRPr sz="2850" b="1" i="0">
                <a:solidFill>
                  <a:srgbClr val="14243D"/>
                </a:solidFill>
                <a:latin typeface="Arial"/>
                <a:ea typeface="Arial"/>
                <a:cs typeface="Arial"/>
              </a:defRPr>
            </a:pPr>
            <a:r>
              <a:rPr sz="2850" b="1" i="0">
                <a:solidFill>
                  <a:srgbClr val="14243D"/>
                </a:solidFill>
                <a:latin typeface="Arial"/>
                <a:ea typeface="Arial"/>
                <a:cs typeface="Arial"/>
              </a:rPr>
              <a:t>Minería F2: el P75 convierte la demora en una etiqueta histórica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D7532C0-CF97-4F6D-B759-15A5CD54B0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95400"/>
            <a:ext cx="9906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350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defPPr>
            <a:lvl1pPr algn="l">
              <a:defRPr sz="1350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lvl1pPr>
            <a:lvl2pPr algn="l">
              <a:defRPr sz="1350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lvl2pPr>
            <a:lvl3pPr algn="l">
              <a:defRPr sz="1350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lvl3pPr>
            <a:lvl4pPr algn="l">
              <a:defRPr sz="1350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lvl4pPr>
            <a:lvl5pPr algn="l">
              <a:defRPr sz="1350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lvl5pPr>
            <a:lvl6pPr algn="l">
              <a:defRPr sz="1350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lvl6pPr>
            <a:lvl7pPr algn="l">
              <a:defRPr sz="1350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lvl7pPr>
            <a:lvl8pPr algn="l">
              <a:defRPr sz="1350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lvl8pPr>
            <a:lvl9pPr algn="l">
              <a:defRPr sz="1350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lnSpc>
                <a:spcPct val="100000"/>
              </a:lnSpc>
              <a:buNone/>
              <a:defRPr sz="1350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1350" b="0" i="0">
                <a:solidFill>
                  <a:srgbClr val="667085"/>
                </a:solidFill>
                <a:latin typeface="Arial"/>
                <a:ea typeface="Arial"/>
                <a:cs typeface="Arial"/>
              </a:rPr>
              <a:t>El árbol se entrenó sobre variables disponibles antes del cierre y se evaluó en un conjunto de prueba.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A8ADFFD-C344-447D-9344-A5F5BB88DE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526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DEE8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3219698-9A9D-452A-A69E-CCE77596AF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47900"/>
            <a:ext cx="30480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4800" b="1" i="0">
                <a:solidFill>
                  <a:srgbClr val="6D4AFF"/>
                </a:solidFill>
                <a:latin typeface="Arial"/>
                <a:ea typeface="Arial"/>
                <a:cs typeface="Arial"/>
              </a:defRPr>
            </a:defPPr>
            <a:lvl1pPr algn="l">
              <a:defRPr sz="4800" b="1" i="0">
                <a:solidFill>
                  <a:srgbClr val="6D4AFF"/>
                </a:solidFill>
                <a:latin typeface="Arial"/>
                <a:ea typeface="Arial"/>
                <a:cs typeface="Arial"/>
              </a:defRPr>
            </a:lvl1pPr>
            <a:lvl2pPr algn="l">
              <a:defRPr sz="4800" b="1" i="0">
                <a:solidFill>
                  <a:srgbClr val="6D4AFF"/>
                </a:solidFill>
                <a:latin typeface="Arial"/>
                <a:ea typeface="Arial"/>
                <a:cs typeface="Arial"/>
              </a:defRPr>
            </a:lvl2pPr>
            <a:lvl3pPr algn="l">
              <a:defRPr sz="4800" b="1" i="0">
                <a:solidFill>
                  <a:srgbClr val="6D4AFF"/>
                </a:solidFill>
                <a:latin typeface="Arial"/>
                <a:ea typeface="Arial"/>
                <a:cs typeface="Arial"/>
              </a:defRPr>
            </a:lvl3pPr>
            <a:lvl4pPr algn="l">
              <a:defRPr sz="4800" b="1" i="0">
                <a:solidFill>
                  <a:srgbClr val="6D4AFF"/>
                </a:solidFill>
                <a:latin typeface="Arial"/>
                <a:ea typeface="Arial"/>
                <a:cs typeface="Arial"/>
              </a:defRPr>
            </a:lvl4pPr>
            <a:lvl5pPr algn="l">
              <a:defRPr sz="4800" b="1" i="0">
                <a:solidFill>
                  <a:srgbClr val="6D4AFF"/>
                </a:solidFill>
                <a:latin typeface="Arial"/>
                <a:ea typeface="Arial"/>
                <a:cs typeface="Arial"/>
              </a:defRPr>
            </a:lvl5pPr>
            <a:lvl6pPr algn="l">
              <a:defRPr sz="4800" b="1" i="0">
                <a:solidFill>
                  <a:srgbClr val="6D4AFF"/>
                </a:solidFill>
                <a:latin typeface="Arial"/>
                <a:ea typeface="Arial"/>
                <a:cs typeface="Arial"/>
              </a:defRPr>
            </a:lvl6pPr>
            <a:lvl7pPr algn="l">
              <a:defRPr sz="4800" b="1" i="0">
                <a:solidFill>
                  <a:srgbClr val="6D4AFF"/>
                </a:solidFill>
                <a:latin typeface="Arial"/>
                <a:ea typeface="Arial"/>
                <a:cs typeface="Arial"/>
              </a:defRPr>
            </a:lvl7pPr>
            <a:lvl8pPr algn="l">
              <a:defRPr sz="4800" b="1" i="0">
                <a:solidFill>
                  <a:srgbClr val="6D4AFF"/>
                </a:solidFill>
                <a:latin typeface="Arial"/>
                <a:ea typeface="Arial"/>
                <a:cs typeface="Arial"/>
              </a:defRPr>
            </a:lvl8pPr>
            <a:lvl9pPr algn="l">
              <a:defRPr sz="4800" b="1" i="0">
                <a:solidFill>
                  <a:srgbClr val="6D4A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4800" b="1" i="0">
                <a:solidFill>
                  <a:srgbClr val="6D4AFF"/>
                </a:solidFill>
                <a:latin typeface="Arial"/>
                <a:ea typeface="Arial"/>
                <a:cs typeface="Arial"/>
              </a:defRPr>
            </a:pPr>
            <a:r>
              <a:rPr sz="4800" b="1" i="0">
                <a:solidFill>
                  <a:srgbClr val="6D4AFF"/>
                </a:solidFill>
                <a:latin typeface="Arial"/>
                <a:ea typeface="Arial"/>
                <a:cs typeface="Arial"/>
              </a:rPr>
              <a:t>4,329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0E69A39-2B7B-47D9-A184-3C485C1FF7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952750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650" b="1" i="0">
                <a:solidFill>
                  <a:srgbClr val="14243D"/>
                </a:solidFill>
                <a:latin typeface="Arial"/>
                <a:ea typeface="Arial"/>
                <a:cs typeface="Arial"/>
              </a:defRPr>
            </a:defPPr>
            <a:lvl1pPr algn="l">
              <a:defRPr sz="1650" b="1" i="0">
                <a:solidFill>
                  <a:srgbClr val="14243D"/>
                </a:solidFill>
                <a:latin typeface="Arial"/>
                <a:ea typeface="Arial"/>
                <a:cs typeface="Arial"/>
              </a:defRPr>
            </a:lvl1pPr>
            <a:lvl2pPr algn="l">
              <a:defRPr sz="1650" b="1" i="0">
                <a:solidFill>
                  <a:srgbClr val="14243D"/>
                </a:solidFill>
                <a:latin typeface="Arial"/>
                <a:ea typeface="Arial"/>
                <a:cs typeface="Arial"/>
              </a:defRPr>
            </a:lvl2pPr>
            <a:lvl3pPr algn="l">
              <a:defRPr sz="1650" b="1" i="0">
                <a:solidFill>
                  <a:srgbClr val="14243D"/>
                </a:solidFill>
                <a:latin typeface="Arial"/>
                <a:ea typeface="Arial"/>
                <a:cs typeface="Arial"/>
              </a:defRPr>
            </a:lvl3pPr>
            <a:lvl4pPr algn="l">
              <a:defRPr sz="1650" b="1" i="0">
                <a:solidFill>
                  <a:srgbClr val="14243D"/>
                </a:solidFill>
                <a:latin typeface="Arial"/>
                <a:ea typeface="Arial"/>
                <a:cs typeface="Arial"/>
              </a:defRPr>
            </a:lvl4pPr>
            <a:lvl5pPr algn="l">
              <a:defRPr sz="1650" b="1" i="0">
                <a:solidFill>
                  <a:srgbClr val="14243D"/>
                </a:solidFill>
                <a:latin typeface="Arial"/>
                <a:ea typeface="Arial"/>
                <a:cs typeface="Arial"/>
              </a:defRPr>
            </a:lvl5pPr>
            <a:lvl6pPr algn="l">
              <a:defRPr sz="1650" b="1" i="0">
                <a:solidFill>
                  <a:srgbClr val="14243D"/>
                </a:solidFill>
                <a:latin typeface="Arial"/>
                <a:ea typeface="Arial"/>
                <a:cs typeface="Arial"/>
              </a:defRPr>
            </a:lvl6pPr>
            <a:lvl7pPr algn="l">
              <a:defRPr sz="1650" b="1" i="0">
                <a:solidFill>
                  <a:srgbClr val="14243D"/>
                </a:solidFill>
                <a:latin typeface="Arial"/>
                <a:ea typeface="Arial"/>
                <a:cs typeface="Arial"/>
              </a:defRPr>
            </a:lvl7pPr>
            <a:lvl8pPr algn="l">
              <a:defRPr sz="1650" b="1" i="0">
                <a:solidFill>
                  <a:srgbClr val="14243D"/>
                </a:solidFill>
                <a:latin typeface="Arial"/>
                <a:ea typeface="Arial"/>
                <a:cs typeface="Arial"/>
              </a:defRPr>
            </a:lvl8pPr>
            <a:lvl9pPr algn="l">
              <a:defRPr sz="1650" b="1" i="0">
                <a:solidFill>
                  <a:srgbClr val="14243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1650" b="1" i="0">
                <a:solidFill>
                  <a:srgbClr val="14243D"/>
                </a:solidFill>
                <a:latin typeface="Arial"/>
                <a:ea typeface="Arial"/>
                <a:cs typeface="Arial"/>
              </a:defRPr>
            </a:pPr>
            <a:r>
              <a:rPr sz="1650" b="1" i="0">
                <a:solidFill>
                  <a:srgbClr val="14243D"/>
                </a:solidFill>
                <a:latin typeface="Arial"/>
                <a:ea typeface="Arial"/>
                <a:cs typeface="Arial"/>
              </a:rPr>
              <a:t>minutos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CB0F9B6-8725-4B6C-B28A-122DE0FBA5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486150"/>
            <a:ext cx="3333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6D4AFF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E32203D-D08E-45D4-B1CD-DA8F9F363C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771900"/>
            <a:ext cx="34290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1" i="0">
                <a:solidFill>
                  <a:srgbClr val="111827"/>
                </a:solidFill>
                <a:latin typeface="Arial"/>
                <a:ea typeface="Arial"/>
                <a:cs typeface="Arial"/>
              </a:defRPr>
            </a:defPPr>
            <a:lvl1pPr algn="l">
              <a:defRPr sz="1725" b="1" i="0">
                <a:solidFill>
                  <a:srgbClr val="111827"/>
                </a:solidFill>
                <a:latin typeface="Arial"/>
                <a:ea typeface="Arial"/>
                <a:cs typeface="Arial"/>
              </a:defRPr>
            </a:lvl1pPr>
            <a:lvl2pPr algn="l">
              <a:defRPr sz="1725" b="1" i="0">
                <a:solidFill>
                  <a:srgbClr val="111827"/>
                </a:solidFill>
                <a:latin typeface="Arial"/>
                <a:ea typeface="Arial"/>
                <a:cs typeface="Arial"/>
              </a:defRPr>
            </a:lvl2pPr>
            <a:lvl3pPr algn="l">
              <a:defRPr sz="1725" b="1" i="0">
                <a:solidFill>
                  <a:srgbClr val="111827"/>
                </a:solidFill>
                <a:latin typeface="Arial"/>
                <a:ea typeface="Arial"/>
                <a:cs typeface="Arial"/>
              </a:defRPr>
            </a:lvl3pPr>
            <a:lvl4pPr algn="l">
              <a:defRPr sz="1725" b="1" i="0">
                <a:solidFill>
                  <a:srgbClr val="111827"/>
                </a:solidFill>
                <a:latin typeface="Arial"/>
                <a:ea typeface="Arial"/>
                <a:cs typeface="Arial"/>
              </a:defRPr>
            </a:lvl4pPr>
            <a:lvl5pPr algn="l">
              <a:defRPr sz="1725" b="1" i="0">
                <a:solidFill>
                  <a:srgbClr val="111827"/>
                </a:solidFill>
                <a:latin typeface="Arial"/>
                <a:ea typeface="Arial"/>
                <a:cs typeface="Arial"/>
              </a:defRPr>
            </a:lvl5pPr>
            <a:lvl6pPr algn="l">
              <a:defRPr sz="1725" b="1" i="0">
                <a:solidFill>
                  <a:srgbClr val="111827"/>
                </a:solidFill>
                <a:latin typeface="Arial"/>
                <a:ea typeface="Arial"/>
                <a:cs typeface="Arial"/>
              </a:defRPr>
            </a:lvl6pPr>
            <a:lvl7pPr algn="l">
              <a:defRPr sz="1725" b="1" i="0">
                <a:solidFill>
                  <a:srgbClr val="111827"/>
                </a:solidFill>
                <a:latin typeface="Arial"/>
                <a:ea typeface="Arial"/>
                <a:cs typeface="Arial"/>
              </a:defRPr>
            </a:lvl7pPr>
            <a:lvl8pPr algn="l">
              <a:defRPr sz="1725" b="1" i="0">
                <a:solidFill>
                  <a:srgbClr val="111827"/>
                </a:solidFill>
                <a:latin typeface="Arial"/>
                <a:ea typeface="Arial"/>
                <a:cs typeface="Arial"/>
              </a:defRPr>
            </a:lvl8pPr>
            <a:lvl9pPr algn="l">
              <a:defRPr sz="1725" b="1" i="0">
                <a:solidFill>
                  <a:srgbClr val="11182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1725" b="1" i="0">
                <a:solidFill>
                  <a:srgbClr val="111827"/>
                </a:solidFill>
                <a:latin typeface="Arial"/>
                <a:ea typeface="Arial"/>
                <a:cs typeface="Arial"/>
              </a:defRPr>
            </a:pPr>
            <a:r>
              <a:rPr sz="1725" b="1" i="0">
                <a:solidFill>
                  <a:srgbClr val="111827"/>
                </a:solidFill>
                <a:latin typeface="Arial"/>
                <a:ea typeface="Arial"/>
                <a:cs typeface="Arial"/>
              </a:rPr>
              <a:t>demora_alta = 1</a:t>
            </a:r>
          </a:p>
          <a:p xmlns:a="http://schemas.openxmlformats.org/drawingml/2006/main">
            <a:pPr algn="l">
              <a:lnSpc>
                <a:spcPct val="105000"/>
              </a:lnSpc>
              <a:buNone/>
              <a:defRPr sz="1725" b="1" i="0">
                <a:solidFill>
                  <a:srgbClr val="111827"/>
                </a:solidFill>
                <a:latin typeface="Arial"/>
                <a:ea typeface="Arial"/>
                <a:cs typeface="Arial"/>
              </a:defRPr>
            </a:pPr>
            <a:r>
              <a:rPr sz="1725" b="1" i="0">
                <a:solidFill>
                  <a:srgbClr val="111827"/>
                </a:solidFill>
                <a:latin typeface="Arial"/>
                <a:ea typeface="Arial"/>
                <a:cs typeface="Arial"/>
              </a:rPr>
              <a:t>si la duración observada supera el P75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640BDDB-1670-43EB-8CA5-DD1A2314D6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819650"/>
            <a:ext cx="3429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350" b="1" i="0">
                <a:solidFill>
                  <a:srgbClr val="B85C68"/>
                </a:solidFill>
                <a:latin typeface="Arial"/>
                <a:ea typeface="Arial"/>
                <a:cs typeface="Arial"/>
              </a:defRPr>
            </a:defPPr>
            <a:lvl1pPr algn="l">
              <a:defRPr sz="1350" b="1" i="0">
                <a:solidFill>
                  <a:srgbClr val="B85C68"/>
                </a:solidFill>
                <a:latin typeface="Arial"/>
                <a:ea typeface="Arial"/>
                <a:cs typeface="Arial"/>
              </a:defRPr>
            </a:lvl1pPr>
            <a:lvl2pPr algn="l">
              <a:defRPr sz="1350" b="1" i="0">
                <a:solidFill>
                  <a:srgbClr val="B85C68"/>
                </a:solidFill>
                <a:latin typeface="Arial"/>
                <a:ea typeface="Arial"/>
                <a:cs typeface="Arial"/>
              </a:defRPr>
            </a:lvl2pPr>
            <a:lvl3pPr algn="l">
              <a:defRPr sz="1350" b="1" i="0">
                <a:solidFill>
                  <a:srgbClr val="B85C68"/>
                </a:solidFill>
                <a:latin typeface="Arial"/>
                <a:ea typeface="Arial"/>
                <a:cs typeface="Arial"/>
              </a:defRPr>
            </a:lvl3pPr>
            <a:lvl4pPr algn="l">
              <a:defRPr sz="1350" b="1" i="0">
                <a:solidFill>
                  <a:srgbClr val="B85C68"/>
                </a:solidFill>
                <a:latin typeface="Arial"/>
                <a:ea typeface="Arial"/>
                <a:cs typeface="Arial"/>
              </a:defRPr>
            </a:lvl4pPr>
            <a:lvl5pPr algn="l">
              <a:defRPr sz="1350" b="1" i="0">
                <a:solidFill>
                  <a:srgbClr val="B85C68"/>
                </a:solidFill>
                <a:latin typeface="Arial"/>
                <a:ea typeface="Arial"/>
                <a:cs typeface="Arial"/>
              </a:defRPr>
            </a:lvl5pPr>
            <a:lvl6pPr algn="l">
              <a:defRPr sz="1350" b="1" i="0">
                <a:solidFill>
                  <a:srgbClr val="B85C68"/>
                </a:solidFill>
                <a:latin typeface="Arial"/>
                <a:ea typeface="Arial"/>
                <a:cs typeface="Arial"/>
              </a:defRPr>
            </a:lvl6pPr>
            <a:lvl7pPr algn="l">
              <a:defRPr sz="1350" b="1" i="0">
                <a:solidFill>
                  <a:srgbClr val="B85C68"/>
                </a:solidFill>
                <a:latin typeface="Arial"/>
                <a:ea typeface="Arial"/>
                <a:cs typeface="Arial"/>
              </a:defRPr>
            </a:lvl7pPr>
            <a:lvl8pPr algn="l">
              <a:defRPr sz="1350" b="1" i="0">
                <a:solidFill>
                  <a:srgbClr val="B85C68"/>
                </a:solidFill>
                <a:latin typeface="Arial"/>
                <a:ea typeface="Arial"/>
                <a:cs typeface="Arial"/>
              </a:defRPr>
            </a:lvl8pPr>
            <a:lvl9pPr algn="l">
              <a:defRPr sz="1350" b="1" i="0">
                <a:solidFill>
                  <a:srgbClr val="B85C68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1350" b="1" i="0">
                <a:solidFill>
                  <a:srgbClr val="B85C68"/>
                </a:solidFill>
                <a:latin typeface="Arial"/>
                <a:ea typeface="Arial"/>
                <a:cs typeface="Arial"/>
              </a:defRPr>
            </a:pPr>
            <a:r>
              <a:rPr sz="1350" b="1" i="0">
                <a:solidFill>
                  <a:srgbClr val="B85C68"/>
                </a:solidFill>
                <a:latin typeface="Arial"/>
                <a:ea typeface="Arial"/>
                <a:cs typeface="Arial"/>
              </a:rPr>
              <a:t>Sin cierre: demora_alta = NULL</a:t>
            </a:r>
          </a:p>
        </p:txBody>
      </p:sp>
      <p:graphicFrame>
        <p:nvGraphicFramePr>
          <p:cNvPr id="11" name="Chart">
            <a:extLst xmlns:a="http://schemas.openxmlformats.org/drawingml/2006/main">
              <a:ext uri="{FF2B5EF4-FFF2-40B4-BE49-F238E27FC236}">
                <a16:creationId xmlns:a16="http://schemas.microsoft.com/office/drawing/2014/main" id="{9E0417F3-4E91-4C5F-A726-6704FAF1E118}"/>
              </a:ext>
            </a:extLst>
          </p:cNvPr>
          <p:cNvGraphicFramePr/>
          <p:nvPr/>
        </p:nvGraphicFramePr>
        <p:xfrm>
          <a:off xmlns:a="http://schemas.openxmlformats.org/drawingml/2006/main" x="4953000" y="2209800"/>
          <a:ext xmlns:a="http://schemas.openxmlformats.org/drawingml/2006/main" cx="6429375" cy="31432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22e0cb640e364f41"/>
          </a:graphicData>
        </a:graphic>
      </p:graphicFrame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0F273FE-7E77-4804-BA07-2770A1193C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5619750"/>
            <a:ext cx="64293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275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defPPr>
            <a:lvl1pPr algn="l">
              <a:defRPr sz="1275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lvl1pPr>
            <a:lvl2pPr algn="l">
              <a:defRPr sz="1275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lvl2pPr>
            <a:lvl3pPr algn="l">
              <a:defRPr sz="1275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lvl3pPr>
            <a:lvl4pPr algn="l">
              <a:defRPr sz="1275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lvl4pPr>
            <a:lvl5pPr algn="l">
              <a:defRPr sz="1275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lvl5pPr>
            <a:lvl6pPr algn="l">
              <a:defRPr sz="1275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lvl6pPr>
            <a:lvl7pPr algn="l">
              <a:defRPr sz="1275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lvl7pPr>
            <a:lvl8pPr algn="l">
              <a:defRPr sz="1275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lvl8pPr>
            <a:lvl9pPr algn="l">
              <a:defRPr sz="1275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1275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667085"/>
                </a:solidFill>
                <a:latin typeface="Arial"/>
                <a:ea typeface="Arial"/>
                <a:cs typeface="Arial"/>
              </a:rPr>
              <a:t>Métricas de test. No representan un score de producción ni prueban causalidad.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C1EE99D-E392-4310-A28A-C352DA141E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10972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900" b="0" i="0">
                <a:solidFill>
                  <a:srgbClr val="98A2B3"/>
                </a:solidFill>
                <a:latin typeface="Arial"/>
                <a:ea typeface="Arial"/>
                <a:cs typeface="Arial"/>
              </a:defRPr>
            </a:defPPr>
            <a:lvl1pPr algn="l">
              <a:defRPr sz="900" b="0" i="0">
                <a:solidFill>
                  <a:srgbClr val="98A2B3"/>
                </a:solidFill>
                <a:latin typeface="Arial"/>
                <a:ea typeface="Arial"/>
                <a:cs typeface="Arial"/>
              </a:defRPr>
            </a:lvl1pPr>
            <a:lvl2pPr algn="l">
              <a:defRPr sz="900" b="0" i="0">
                <a:solidFill>
                  <a:srgbClr val="98A2B3"/>
                </a:solidFill>
                <a:latin typeface="Arial"/>
                <a:ea typeface="Arial"/>
                <a:cs typeface="Arial"/>
              </a:defRPr>
            </a:lvl2pPr>
            <a:lvl3pPr algn="l">
              <a:defRPr sz="900" b="0" i="0">
                <a:solidFill>
                  <a:srgbClr val="98A2B3"/>
                </a:solidFill>
                <a:latin typeface="Arial"/>
                <a:ea typeface="Arial"/>
                <a:cs typeface="Arial"/>
              </a:defRPr>
            </a:lvl3pPr>
            <a:lvl4pPr algn="l">
              <a:defRPr sz="900" b="0" i="0">
                <a:solidFill>
                  <a:srgbClr val="98A2B3"/>
                </a:solidFill>
                <a:latin typeface="Arial"/>
                <a:ea typeface="Arial"/>
                <a:cs typeface="Arial"/>
              </a:defRPr>
            </a:lvl4pPr>
            <a:lvl5pPr algn="l">
              <a:defRPr sz="900" b="0" i="0">
                <a:solidFill>
                  <a:srgbClr val="98A2B3"/>
                </a:solidFill>
                <a:latin typeface="Arial"/>
                <a:ea typeface="Arial"/>
                <a:cs typeface="Arial"/>
              </a:defRPr>
            </a:lvl5pPr>
            <a:lvl6pPr algn="l">
              <a:defRPr sz="900" b="0" i="0">
                <a:solidFill>
                  <a:srgbClr val="98A2B3"/>
                </a:solidFill>
                <a:latin typeface="Arial"/>
                <a:ea typeface="Arial"/>
                <a:cs typeface="Arial"/>
              </a:defRPr>
            </a:lvl6pPr>
            <a:lvl7pPr algn="l">
              <a:defRPr sz="900" b="0" i="0">
                <a:solidFill>
                  <a:srgbClr val="98A2B3"/>
                </a:solidFill>
                <a:latin typeface="Arial"/>
                <a:ea typeface="Arial"/>
                <a:cs typeface="Arial"/>
              </a:defRPr>
            </a:lvl7pPr>
            <a:lvl8pPr algn="l">
              <a:defRPr sz="900" b="0" i="0">
                <a:solidFill>
                  <a:srgbClr val="98A2B3"/>
                </a:solidFill>
                <a:latin typeface="Arial"/>
                <a:ea typeface="Arial"/>
                <a:cs typeface="Arial"/>
              </a:defRPr>
            </a:lvl8pPr>
            <a:lvl9pPr algn="l">
              <a:defRPr sz="900" b="0" i="0">
                <a:solidFill>
                  <a:srgbClr val="98A2B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900" b="0" i="0">
                <a:solidFill>
                  <a:srgbClr val="98A2B3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98A2B3"/>
                </a:solidFill>
                <a:latin typeface="Arial"/>
                <a:ea typeface="Arial"/>
                <a:cs typeface="Arial"/>
              </a:rPr>
              <a:t>Fuente: informe de Fase 2 y guía de defensa.</a:t>
            </a:r>
          </a:p>
        </p:txBody>
      </p:sp>
    </p:spTree>
    <p:extLst>
      <p:ext uri="{BB962C8B-B14F-4D97-AF65-F5344CB8AC3E}">
        <p14:creationId xmlns:p14="http://schemas.microsoft.com/office/powerpoint/2010/main" val="419526444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7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59D2DBB-EF1C-45A7-A84A-28CDB1F4F4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2667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975" b="1" i="0">
                <a:solidFill>
                  <a:srgbClr val="2463EB"/>
                </a:solidFill>
                <a:latin typeface="Arial"/>
                <a:ea typeface="Arial"/>
                <a:cs typeface="Arial"/>
              </a:defRPr>
            </a:defPPr>
            <a:lvl1pPr algn="l">
              <a:defRPr sz="975" b="1" i="0">
                <a:solidFill>
                  <a:srgbClr val="2463EB"/>
                </a:solidFill>
                <a:latin typeface="Arial"/>
                <a:ea typeface="Arial"/>
                <a:cs typeface="Arial"/>
              </a:defRPr>
            </a:lvl1pPr>
            <a:lvl2pPr algn="l">
              <a:defRPr sz="975" b="1" i="0">
                <a:solidFill>
                  <a:srgbClr val="2463EB"/>
                </a:solidFill>
                <a:latin typeface="Arial"/>
                <a:ea typeface="Arial"/>
                <a:cs typeface="Arial"/>
              </a:defRPr>
            </a:lvl2pPr>
            <a:lvl3pPr algn="l">
              <a:defRPr sz="975" b="1" i="0">
                <a:solidFill>
                  <a:srgbClr val="2463EB"/>
                </a:solidFill>
                <a:latin typeface="Arial"/>
                <a:ea typeface="Arial"/>
                <a:cs typeface="Arial"/>
              </a:defRPr>
            </a:lvl3pPr>
            <a:lvl4pPr algn="l">
              <a:defRPr sz="975" b="1" i="0">
                <a:solidFill>
                  <a:srgbClr val="2463EB"/>
                </a:solidFill>
                <a:latin typeface="Arial"/>
                <a:ea typeface="Arial"/>
                <a:cs typeface="Arial"/>
              </a:defRPr>
            </a:lvl4pPr>
            <a:lvl5pPr algn="l">
              <a:defRPr sz="975" b="1" i="0">
                <a:solidFill>
                  <a:srgbClr val="2463EB"/>
                </a:solidFill>
                <a:latin typeface="Arial"/>
                <a:ea typeface="Arial"/>
                <a:cs typeface="Arial"/>
              </a:defRPr>
            </a:lvl5pPr>
            <a:lvl6pPr algn="l">
              <a:defRPr sz="975" b="1" i="0">
                <a:solidFill>
                  <a:srgbClr val="2463EB"/>
                </a:solidFill>
                <a:latin typeface="Arial"/>
                <a:ea typeface="Arial"/>
                <a:cs typeface="Arial"/>
              </a:defRPr>
            </a:lvl6pPr>
            <a:lvl7pPr algn="l">
              <a:defRPr sz="975" b="1" i="0">
                <a:solidFill>
                  <a:srgbClr val="2463EB"/>
                </a:solidFill>
                <a:latin typeface="Arial"/>
                <a:ea typeface="Arial"/>
                <a:cs typeface="Arial"/>
              </a:defRPr>
            </a:lvl7pPr>
            <a:lvl8pPr algn="l">
              <a:defRPr sz="975" b="1" i="0">
                <a:solidFill>
                  <a:srgbClr val="2463EB"/>
                </a:solidFill>
                <a:latin typeface="Arial"/>
                <a:ea typeface="Arial"/>
                <a:cs typeface="Arial"/>
              </a:defRPr>
            </a:lvl8pPr>
            <a:lvl9pPr algn="l">
              <a:defRPr sz="975" b="1" i="0">
                <a:solidFill>
                  <a:srgbClr val="2463E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975" b="1" i="0">
                <a:solidFill>
                  <a:srgbClr val="2463EB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2463EB"/>
                </a:solidFill>
                <a:latin typeface="Arial"/>
                <a:ea typeface="Arial"/>
                <a:cs typeface="Arial"/>
              </a:rPr>
              <a:t>NYC311 / FASE 3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A7A7E76-B4C6-4329-99E4-366733AFDB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44200" y="285750"/>
            <a:ext cx="8382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975" b="1" i="0">
                <a:solidFill>
                  <a:srgbClr val="98A2B3"/>
                </a:solidFill>
                <a:latin typeface="Arial"/>
                <a:ea typeface="Arial"/>
                <a:cs typeface="Arial"/>
              </a:defRPr>
            </a:defPPr>
            <a:lvl1pPr algn="r">
              <a:defRPr sz="975" b="1" i="0">
                <a:solidFill>
                  <a:srgbClr val="98A2B3"/>
                </a:solidFill>
                <a:latin typeface="Arial"/>
                <a:ea typeface="Arial"/>
                <a:cs typeface="Arial"/>
              </a:defRPr>
            </a:lvl1pPr>
            <a:lvl2pPr algn="r">
              <a:defRPr sz="975" b="1" i="0">
                <a:solidFill>
                  <a:srgbClr val="98A2B3"/>
                </a:solidFill>
                <a:latin typeface="Arial"/>
                <a:ea typeface="Arial"/>
                <a:cs typeface="Arial"/>
              </a:defRPr>
            </a:lvl2pPr>
            <a:lvl3pPr algn="r">
              <a:defRPr sz="975" b="1" i="0">
                <a:solidFill>
                  <a:srgbClr val="98A2B3"/>
                </a:solidFill>
                <a:latin typeface="Arial"/>
                <a:ea typeface="Arial"/>
                <a:cs typeface="Arial"/>
              </a:defRPr>
            </a:lvl3pPr>
            <a:lvl4pPr algn="r">
              <a:defRPr sz="975" b="1" i="0">
                <a:solidFill>
                  <a:srgbClr val="98A2B3"/>
                </a:solidFill>
                <a:latin typeface="Arial"/>
                <a:ea typeface="Arial"/>
                <a:cs typeface="Arial"/>
              </a:defRPr>
            </a:lvl4pPr>
            <a:lvl5pPr algn="r">
              <a:defRPr sz="975" b="1" i="0">
                <a:solidFill>
                  <a:srgbClr val="98A2B3"/>
                </a:solidFill>
                <a:latin typeface="Arial"/>
                <a:ea typeface="Arial"/>
                <a:cs typeface="Arial"/>
              </a:defRPr>
            </a:lvl5pPr>
            <a:lvl6pPr algn="r">
              <a:defRPr sz="975" b="1" i="0">
                <a:solidFill>
                  <a:srgbClr val="98A2B3"/>
                </a:solidFill>
                <a:latin typeface="Arial"/>
                <a:ea typeface="Arial"/>
                <a:cs typeface="Arial"/>
              </a:defRPr>
            </a:lvl6pPr>
            <a:lvl7pPr algn="r">
              <a:defRPr sz="975" b="1" i="0">
                <a:solidFill>
                  <a:srgbClr val="98A2B3"/>
                </a:solidFill>
                <a:latin typeface="Arial"/>
                <a:ea typeface="Arial"/>
                <a:cs typeface="Arial"/>
              </a:defRPr>
            </a:lvl7pPr>
            <a:lvl8pPr algn="r">
              <a:defRPr sz="975" b="1" i="0">
                <a:solidFill>
                  <a:srgbClr val="98A2B3"/>
                </a:solidFill>
                <a:latin typeface="Arial"/>
                <a:ea typeface="Arial"/>
                <a:cs typeface="Arial"/>
              </a:defRPr>
            </a:lvl8pPr>
            <a:lvl9pPr algn="r">
              <a:defRPr sz="975" b="1" i="0">
                <a:solidFill>
                  <a:srgbClr val="98A2B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r">
              <a:lnSpc>
                <a:spcPct val="105000"/>
              </a:lnSpc>
              <a:buNone/>
              <a:defRPr sz="975" b="1" i="0">
                <a:solidFill>
                  <a:srgbClr val="98A2B3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98A2B3"/>
                </a:solidFill>
                <a:latin typeface="Arial"/>
                <a:ea typeface="Arial"/>
                <a:cs typeface="Arial"/>
              </a:rPr>
              <a:t>06 / 13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BDD8CEB-97CE-43FE-9426-1A661A861A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"/>
            <a:ext cx="9906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2312"/>
          </a:bodyPr>
          <a:lstStyle xmlns:a="http://schemas.openxmlformats.org/drawingml/2006/main">
            <a:defPPr algn="l">
              <a:defRPr sz="2850" b="1" i="0">
                <a:solidFill>
                  <a:srgbClr val="14243D"/>
                </a:solidFill>
                <a:latin typeface="Arial"/>
                <a:ea typeface="Arial"/>
                <a:cs typeface="Arial"/>
              </a:defRPr>
            </a:defPPr>
            <a:lvl1pPr algn="l">
              <a:defRPr sz="2850" b="1" i="0">
                <a:solidFill>
                  <a:srgbClr val="14243D"/>
                </a:solidFill>
                <a:latin typeface="Arial"/>
                <a:ea typeface="Arial"/>
                <a:cs typeface="Arial"/>
              </a:defRPr>
            </a:lvl1pPr>
            <a:lvl2pPr algn="l">
              <a:defRPr sz="2850" b="1" i="0">
                <a:solidFill>
                  <a:srgbClr val="14243D"/>
                </a:solidFill>
                <a:latin typeface="Arial"/>
                <a:ea typeface="Arial"/>
                <a:cs typeface="Arial"/>
              </a:defRPr>
            </a:lvl2pPr>
            <a:lvl3pPr algn="l">
              <a:defRPr sz="2850" b="1" i="0">
                <a:solidFill>
                  <a:srgbClr val="14243D"/>
                </a:solidFill>
                <a:latin typeface="Arial"/>
                <a:ea typeface="Arial"/>
                <a:cs typeface="Arial"/>
              </a:defRPr>
            </a:lvl3pPr>
            <a:lvl4pPr algn="l">
              <a:defRPr sz="2850" b="1" i="0">
                <a:solidFill>
                  <a:srgbClr val="14243D"/>
                </a:solidFill>
                <a:latin typeface="Arial"/>
                <a:ea typeface="Arial"/>
                <a:cs typeface="Arial"/>
              </a:defRPr>
            </a:lvl4pPr>
            <a:lvl5pPr algn="l">
              <a:defRPr sz="2850" b="1" i="0">
                <a:solidFill>
                  <a:srgbClr val="14243D"/>
                </a:solidFill>
                <a:latin typeface="Arial"/>
                <a:ea typeface="Arial"/>
                <a:cs typeface="Arial"/>
              </a:defRPr>
            </a:lvl5pPr>
            <a:lvl6pPr algn="l">
              <a:defRPr sz="2850" b="1" i="0">
                <a:solidFill>
                  <a:srgbClr val="14243D"/>
                </a:solidFill>
                <a:latin typeface="Arial"/>
                <a:ea typeface="Arial"/>
                <a:cs typeface="Arial"/>
              </a:defRPr>
            </a:lvl6pPr>
            <a:lvl7pPr algn="l">
              <a:defRPr sz="2850" b="1" i="0">
                <a:solidFill>
                  <a:srgbClr val="14243D"/>
                </a:solidFill>
                <a:latin typeface="Arial"/>
                <a:ea typeface="Arial"/>
                <a:cs typeface="Arial"/>
              </a:defRPr>
            </a:lvl7pPr>
            <a:lvl8pPr algn="l">
              <a:defRPr sz="2850" b="1" i="0">
                <a:solidFill>
                  <a:srgbClr val="14243D"/>
                </a:solidFill>
                <a:latin typeface="Arial"/>
                <a:ea typeface="Arial"/>
                <a:cs typeface="Arial"/>
              </a:defRPr>
            </a:lvl8pPr>
            <a:lvl9pPr algn="l">
              <a:defRPr sz="2850" b="1" i="0">
                <a:solidFill>
                  <a:srgbClr val="14243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lnSpc>
                <a:spcPct val="95000"/>
              </a:lnSpc>
              <a:buNone/>
              <a:defRPr sz="2850" b="1" i="0">
                <a:solidFill>
                  <a:srgbClr val="14243D"/>
                </a:solidFill>
                <a:latin typeface="Arial"/>
                <a:ea typeface="Arial"/>
                <a:cs typeface="Arial"/>
              </a:defRPr>
            </a:pPr>
            <a:r>
              <a:rPr sz="2850" b="1" i="0">
                <a:solidFill>
                  <a:srgbClr val="14243D"/>
                </a:solidFill>
                <a:latin typeface="Arial"/>
                <a:ea typeface="Arial"/>
                <a:cs typeface="Arial"/>
              </a:rPr>
              <a:t>K-Means segmentó perfiles operativos, no tickets individuales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68BC074-95CE-45FB-B6BA-08A7A3DF1B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95400"/>
            <a:ext cx="9906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350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defPPr>
            <a:lvl1pPr algn="l">
              <a:defRPr sz="1350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lvl1pPr>
            <a:lvl2pPr algn="l">
              <a:defRPr sz="1350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lvl2pPr>
            <a:lvl3pPr algn="l">
              <a:defRPr sz="1350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lvl3pPr>
            <a:lvl4pPr algn="l">
              <a:defRPr sz="1350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lvl4pPr>
            <a:lvl5pPr algn="l">
              <a:defRPr sz="1350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lvl5pPr>
            <a:lvl6pPr algn="l">
              <a:defRPr sz="1350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lvl6pPr>
            <a:lvl7pPr algn="l">
              <a:defRPr sz="1350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lvl7pPr>
            <a:lvl8pPr algn="l">
              <a:defRPr sz="1350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lvl8pPr>
            <a:lvl9pPr algn="l">
              <a:defRPr sz="1350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lnSpc>
                <a:spcPct val="100000"/>
              </a:lnSpc>
              <a:buNone/>
              <a:defRPr sz="1350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1350" b="0" i="0">
                <a:solidFill>
                  <a:srgbClr val="667085"/>
                </a:solidFill>
                <a:latin typeface="Arial"/>
                <a:ea typeface="Arial"/>
                <a:cs typeface="Arial"/>
              </a:rPr>
              <a:t>La terna agencia + tipo de reclamo + borough define el perfil. El universo no elegible queda visible.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910B939-9D78-4B84-89FD-A8DA4DD95F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526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DEE8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31374C3-FBEC-4E9D-88D8-9E9880FE10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95500"/>
            <a:ext cx="14287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ctr">
              <a:defRPr sz="3300" b="1" i="0">
                <a:solidFill>
                  <a:srgbClr val="14243D"/>
                </a:solidFill>
                <a:latin typeface="Arial"/>
                <a:ea typeface="Arial"/>
                <a:cs typeface="Arial"/>
              </a:defRPr>
            </a:defPPr>
            <a:lvl1pPr algn="ctr">
              <a:defRPr sz="3300" b="1" i="0">
                <a:solidFill>
                  <a:srgbClr val="14243D"/>
                </a:solidFill>
                <a:latin typeface="Arial"/>
                <a:ea typeface="Arial"/>
                <a:cs typeface="Arial"/>
              </a:defRPr>
            </a:lvl1pPr>
            <a:lvl2pPr algn="ctr">
              <a:defRPr sz="3300" b="1" i="0">
                <a:solidFill>
                  <a:srgbClr val="14243D"/>
                </a:solidFill>
                <a:latin typeface="Arial"/>
                <a:ea typeface="Arial"/>
                <a:cs typeface="Arial"/>
              </a:defRPr>
            </a:lvl2pPr>
            <a:lvl3pPr algn="ctr">
              <a:defRPr sz="3300" b="1" i="0">
                <a:solidFill>
                  <a:srgbClr val="14243D"/>
                </a:solidFill>
                <a:latin typeface="Arial"/>
                <a:ea typeface="Arial"/>
                <a:cs typeface="Arial"/>
              </a:defRPr>
            </a:lvl3pPr>
            <a:lvl4pPr algn="ctr">
              <a:defRPr sz="3300" b="1" i="0">
                <a:solidFill>
                  <a:srgbClr val="14243D"/>
                </a:solidFill>
                <a:latin typeface="Arial"/>
                <a:ea typeface="Arial"/>
                <a:cs typeface="Arial"/>
              </a:defRPr>
            </a:lvl4pPr>
            <a:lvl5pPr algn="ctr">
              <a:defRPr sz="3300" b="1" i="0">
                <a:solidFill>
                  <a:srgbClr val="14243D"/>
                </a:solidFill>
                <a:latin typeface="Arial"/>
                <a:ea typeface="Arial"/>
                <a:cs typeface="Arial"/>
              </a:defRPr>
            </a:lvl5pPr>
            <a:lvl6pPr algn="ctr">
              <a:defRPr sz="3300" b="1" i="0">
                <a:solidFill>
                  <a:srgbClr val="14243D"/>
                </a:solidFill>
                <a:latin typeface="Arial"/>
                <a:ea typeface="Arial"/>
                <a:cs typeface="Arial"/>
              </a:defRPr>
            </a:lvl6pPr>
            <a:lvl7pPr algn="ctr">
              <a:defRPr sz="3300" b="1" i="0">
                <a:solidFill>
                  <a:srgbClr val="14243D"/>
                </a:solidFill>
                <a:latin typeface="Arial"/>
                <a:ea typeface="Arial"/>
                <a:cs typeface="Arial"/>
              </a:defRPr>
            </a:lvl7pPr>
            <a:lvl8pPr algn="ctr">
              <a:defRPr sz="3300" b="1" i="0">
                <a:solidFill>
                  <a:srgbClr val="14243D"/>
                </a:solidFill>
                <a:latin typeface="Arial"/>
                <a:ea typeface="Arial"/>
                <a:cs typeface="Arial"/>
              </a:defRPr>
            </a:lvl8pPr>
            <a:lvl9pPr algn="ctr">
              <a:defRPr sz="3300" b="1" i="0">
                <a:solidFill>
                  <a:srgbClr val="14243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lnSpc>
                <a:spcPct val="105000"/>
              </a:lnSpc>
              <a:buNone/>
              <a:defRPr sz="3300" b="1" i="0">
                <a:solidFill>
                  <a:srgbClr val="14243D"/>
                </a:solidFill>
                <a:latin typeface="Arial"/>
                <a:ea typeface="Arial"/>
                <a:cs typeface="Arial"/>
              </a:defRPr>
            </a:pPr>
            <a:r>
              <a:rPr sz="3300" b="1" i="0">
                <a:solidFill>
                  <a:srgbClr val="14243D"/>
                </a:solidFill>
                <a:latin typeface="Arial"/>
                <a:ea typeface="Arial"/>
                <a:cs typeface="Arial"/>
              </a:rPr>
              <a:t>912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35CCC08-E095-45EC-A04E-DF3AB55DEA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28900"/>
            <a:ext cx="14287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ctr">
              <a:defRPr sz="1125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defPPr>
            <a:lvl1pPr algn="ctr">
              <a:defRPr sz="1125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lvl1pPr>
            <a:lvl2pPr algn="ctr">
              <a:defRPr sz="1125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lvl2pPr>
            <a:lvl3pPr algn="ctr">
              <a:defRPr sz="1125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lvl3pPr>
            <a:lvl4pPr algn="ctr">
              <a:defRPr sz="1125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lvl4pPr>
            <a:lvl5pPr algn="ctr">
              <a:defRPr sz="1125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lvl5pPr>
            <a:lvl6pPr algn="ctr">
              <a:defRPr sz="1125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lvl6pPr>
            <a:lvl7pPr algn="ctr">
              <a:defRPr sz="1125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lvl7pPr>
            <a:lvl8pPr algn="ctr">
              <a:defRPr sz="1125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lvl8pPr>
            <a:lvl9pPr algn="ctr">
              <a:defRPr sz="1125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lnSpc>
                <a:spcPct val="105000"/>
              </a:lnSpc>
              <a:buNone/>
              <a:defRPr sz="1125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1125" b="0" i="0">
                <a:solidFill>
                  <a:srgbClr val="667085"/>
                </a:solidFill>
                <a:latin typeface="Arial"/>
                <a:ea typeface="Arial"/>
                <a:cs typeface="Arial"/>
              </a:rPr>
              <a:t>perfiles iniciales F2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73FB568-B818-4DBA-A988-7EF62F79DF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33600" y="2266950"/>
            <a:ext cx="266700" cy="2095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D9DEE8"/>
          </a:solidFill>
          <a:ln xmlns:a="http://schemas.openxmlformats.org/drawingml/2006/main" w="0">
            <a:solidFill>
              <a:srgbClr val="D9DEE8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9DEC8A5-4FEB-4C5B-971E-89ACA75DD1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2095500"/>
            <a:ext cx="14287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ctr">
              <a:defRPr sz="3300" b="1" i="0">
                <a:solidFill>
                  <a:srgbClr val="14243D"/>
                </a:solidFill>
                <a:latin typeface="Arial"/>
                <a:ea typeface="Arial"/>
                <a:cs typeface="Arial"/>
              </a:defRPr>
            </a:defPPr>
            <a:lvl1pPr algn="ctr">
              <a:defRPr sz="3300" b="1" i="0">
                <a:solidFill>
                  <a:srgbClr val="14243D"/>
                </a:solidFill>
                <a:latin typeface="Arial"/>
                <a:ea typeface="Arial"/>
                <a:cs typeface="Arial"/>
              </a:defRPr>
            </a:lvl1pPr>
            <a:lvl2pPr algn="ctr">
              <a:defRPr sz="3300" b="1" i="0">
                <a:solidFill>
                  <a:srgbClr val="14243D"/>
                </a:solidFill>
                <a:latin typeface="Arial"/>
                <a:ea typeface="Arial"/>
                <a:cs typeface="Arial"/>
              </a:defRPr>
            </a:lvl2pPr>
            <a:lvl3pPr algn="ctr">
              <a:defRPr sz="3300" b="1" i="0">
                <a:solidFill>
                  <a:srgbClr val="14243D"/>
                </a:solidFill>
                <a:latin typeface="Arial"/>
                <a:ea typeface="Arial"/>
                <a:cs typeface="Arial"/>
              </a:defRPr>
            </a:lvl3pPr>
            <a:lvl4pPr algn="ctr">
              <a:defRPr sz="3300" b="1" i="0">
                <a:solidFill>
                  <a:srgbClr val="14243D"/>
                </a:solidFill>
                <a:latin typeface="Arial"/>
                <a:ea typeface="Arial"/>
                <a:cs typeface="Arial"/>
              </a:defRPr>
            </a:lvl4pPr>
            <a:lvl5pPr algn="ctr">
              <a:defRPr sz="3300" b="1" i="0">
                <a:solidFill>
                  <a:srgbClr val="14243D"/>
                </a:solidFill>
                <a:latin typeface="Arial"/>
                <a:ea typeface="Arial"/>
                <a:cs typeface="Arial"/>
              </a:defRPr>
            </a:lvl5pPr>
            <a:lvl6pPr algn="ctr">
              <a:defRPr sz="3300" b="1" i="0">
                <a:solidFill>
                  <a:srgbClr val="14243D"/>
                </a:solidFill>
                <a:latin typeface="Arial"/>
                <a:ea typeface="Arial"/>
                <a:cs typeface="Arial"/>
              </a:defRPr>
            </a:lvl6pPr>
            <a:lvl7pPr algn="ctr">
              <a:defRPr sz="3300" b="1" i="0">
                <a:solidFill>
                  <a:srgbClr val="14243D"/>
                </a:solidFill>
                <a:latin typeface="Arial"/>
                <a:ea typeface="Arial"/>
                <a:cs typeface="Arial"/>
              </a:defRPr>
            </a:lvl7pPr>
            <a:lvl8pPr algn="ctr">
              <a:defRPr sz="3300" b="1" i="0">
                <a:solidFill>
                  <a:srgbClr val="14243D"/>
                </a:solidFill>
                <a:latin typeface="Arial"/>
                <a:ea typeface="Arial"/>
                <a:cs typeface="Arial"/>
              </a:defRPr>
            </a:lvl8pPr>
            <a:lvl9pPr algn="ctr">
              <a:defRPr sz="3300" b="1" i="0">
                <a:solidFill>
                  <a:srgbClr val="14243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lnSpc>
                <a:spcPct val="105000"/>
              </a:lnSpc>
              <a:buNone/>
              <a:defRPr sz="3300" b="1" i="0">
                <a:solidFill>
                  <a:srgbClr val="14243D"/>
                </a:solidFill>
                <a:latin typeface="Arial"/>
                <a:ea typeface="Arial"/>
                <a:cs typeface="Arial"/>
              </a:defRPr>
            </a:pPr>
            <a:r>
              <a:rPr sz="3300" b="1" i="0">
                <a:solidFill>
                  <a:srgbClr val="14243D"/>
                </a:solidFill>
                <a:latin typeface="Arial"/>
                <a:ea typeface="Arial"/>
                <a:cs typeface="Arial"/>
              </a:rPr>
              <a:t>487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8AD0C45-1C32-4CF6-8115-6B48EFBA0C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2628900"/>
            <a:ext cx="14287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ctr">
              <a:defRPr sz="1125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defPPr>
            <a:lvl1pPr algn="ctr">
              <a:defRPr sz="1125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lvl1pPr>
            <a:lvl2pPr algn="ctr">
              <a:defRPr sz="1125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lvl2pPr>
            <a:lvl3pPr algn="ctr">
              <a:defRPr sz="1125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lvl3pPr>
            <a:lvl4pPr algn="ctr">
              <a:defRPr sz="1125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lvl4pPr>
            <a:lvl5pPr algn="ctr">
              <a:defRPr sz="1125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lvl5pPr>
            <a:lvl6pPr algn="ctr">
              <a:defRPr sz="1125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lvl6pPr>
            <a:lvl7pPr algn="ctr">
              <a:defRPr sz="1125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lvl7pPr>
            <a:lvl8pPr algn="ctr">
              <a:defRPr sz="1125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lvl8pPr>
            <a:lvl9pPr algn="ctr">
              <a:defRPr sz="1125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lnSpc>
                <a:spcPct val="105000"/>
              </a:lnSpc>
              <a:buNone/>
              <a:defRPr sz="1125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1125" b="0" i="0">
                <a:solidFill>
                  <a:srgbClr val="667085"/>
                </a:solidFill>
                <a:latin typeface="Arial"/>
                <a:ea typeface="Arial"/>
                <a:cs typeface="Arial"/>
              </a:rPr>
              <a:t>con volumen ≥ 100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3D1F96D-F21A-4824-9EAD-15EA1D543A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29050" y="2266950"/>
            <a:ext cx="266700" cy="2095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D9DEE8"/>
          </a:solidFill>
          <a:ln xmlns:a="http://schemas.openxmlformats.org/drawingml/2006/main" w="0">
            <a:solidFill>
              <a:srgbClr val="D9DEE8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508C767-D3CF-42A8-9315-A4759E2A8D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76700" y="2095500"/>
            <a:ext cx="14287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ctr">
              <a:defRPr sz="3300" b="1" i="0">
                <a:solidFill>
                  <a:srgbClr val="6D4AFF"/>
                </a:solidFill>
                <a:latin typeface="Arial"/>
                <a:ea typeface="Arial"/>
                <a:cs typeface="Arial"/>
              </a:defRPr>
            </a:defPPr>
            <a:lvl1pPr algn="ctr">
              <a:defRPr sz="3300" b="1" i="0">
                <a:solidFill>
                  <a:srgbClr val="6D4AFF"/>
                </a:solidFill>
                <a:latin typeface="Arial"/>
                <a:ea typeface="Arial"/>
                <a:cs typeface="Arial"/>
              </a:defRPr>
            </a:lvl1pPr>
            <a:lvl2pPr algn="ctr">
              <a:defRPr sz="3300" b="1" i="0">
                <a:solidFill>
                  <a:srgbClr val="6D4AFF"/>
                </a:solidFill>
                <a:latin typeface="Arial"/>
                <a:ea typeface="Arial"/>
                <a:cs typeface="Arial"/>
              </a:defRPr>
            </a:lvl2pPr>
            <a:lvl3pPr algn="ctr">
              <a:defRPr sz="3300" b="1" i="0">
                <a:solidFill>
                  <a:srgbClr val="6D4AFF"/>
                </a:solidFill>
                <a:latin typeface="Arial"/>
                <a:ea typeface="Arial"/>
                <a:cs typeface="Arial"/>
              </a:defRPr>
            </a:lvl3pPr>
            <a:lvl4pPr algn="ctr">
              <a:defRPr sz="3300" b="1" i="0">
                <a:solidFill>
                  <a:srgbClr val="6D4AFF"/>
                </a:solidFill>
                <a:latin typeface="Arial"/>
                <a:ea typeface="Arial"/>
                <a:cs typeface="Arial"/>
              </a:defRPr>
            </a:lvl4pPr>
            <a:lvl5pPr algn="ctr">
              <a:defRPr sz="3300" b="1" i="0">
                <a:solidFill>
                  <a:srgbClr val="6D4AFF"/>
                </a:solidFill>
                <a:latin typeface="Arial"/>
                <a:ea typeface="Arial"/>
                <a:cs typeface="Arial"/>
              </a:defRPr>
            </a:lvl5pPr>
            <a:lvl6pPr algn="ctr">
              <a:defRPr sz="3300" b="1" i="0">
                <a:solidFill>
                  <a:srgbClr val="6D4AFF"/>
                </a:solidFill>
                <a:latin typeface="Arial"/>
                <a:ea typeface="Arial"/>
                <a:cs typeface="Arial"/>
              </a:defRPr>
            </a:lvl6pPr>
            <a:lvl7pPr algn="ctr">
              <a:defRPr sz="3300" b="1" i="0">
                <a:solidFill>
                  <a:srgbClr val="6D4AFF"/>
                </a:solidFill>
                <a:latin typeface="Arial"/>
                <a:ea typeface="Arial"/>
                <a:cs typeface="Arial"/>
              </a:defRPr>
            </a:lvl7pPr>
            <a:lvl8pPr algn="ctr">
              <a:defRPr sz="3300" b="1" i="0">
                <a:solidFill>
                  <a:srgbClr val="6D4AFF"/>
                </a:solidFill>
                <a:latin typeface="Arial"/>
                <a:ea typeface="Arial"/>
                <a:cs typeface="Arial"/>
              </a:defRPr>
            </a:lvl8pPr>
            <a:lvl9pPr algn="ctr">
              <a:defRPr sz="3300" b="1" i="0">
                <a:solidFill>
                  <a:srgbClr val="6D4A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lnSpc>
                <a:spcPct val="105000"/>
              </a:lnSpc>
              <a:buNone/>
              <a:defRPr sz="3300" b="1" i="0">
                <a:solidFill>
                  <a:srgbClr val="6D4AFF"/>
                </a:solidFill>
                <a:latin typeface="Arial"/>
                <a:ea typeface="Arial"/>
                <a:cs typeface="Arial"/>
              </a:defRPr>
            </a:pPr>
            <a:r>
              <a:rPr sz="3300" b="1" i="0">
                <a:solidFill>
                  <a:srgbClr val="6D4AFF"/>
                </a:solidFill>
                <a:latin typeface="Arial"/>
                <a:ea typeface="Arial"/>
                <a:cs typeface="Arial"/>
              </a:rPr>
              <a:t>480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F353C1E-764E-4635-9CE1-1251DBCE20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76700" y="2628900"/>
            <a:ext cx="14287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ctr">
              <a:defRPr sz="1125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defPPr>
            <a:lvl1pPr algn="ctr">
              <a:defRPr sz="1125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lvl1pPr>
            <a:lvl2pPr algn="ctr">
              <a:defRPr sz="1125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lvl2pPr>
            <a:lvl3pPr algn="ctr">
              <a:defRPr sz="1125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lvl3pPr>
            <a:lvl4pPr algn="ctr">
              <a:defRPr sz="1125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lvl4pPr>
            <a:lvl5pPr algn="ctr">
              <a:defRPr sz="1125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lvl5pPr>
            <a:lvl6pPr algn="ctr">
              <a:defRPr sz="1125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lvl6pPr>
            <a:lvl7pPr algn="ctr">
              <a:defRPr sz="1125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lvl7pPr>
            <a:lvl8pPr algn="ctr">
              <a:defRPr sz="1125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lvl8pPr>
            <a:lvl9pPr algn="ctr">
              <a:defRPr sz="1125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lnSpc>
                <a:spcPct val="105000"/>
              </a:lnSpc>
              <a:buNone/>
              <a:defRPr sz="1125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1125" b="0" i="0">
                <a:solidFill>
                  <a:srgbClr val="667085"/>
                </a:solidFill>
                <a:latin typeface="Arial"/>
                <a:ea typeface="Arial"/>
                <a:cs typeface="Arial"/>
              </a:rPr>
              <a:t>modelados · K = 3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A740A84-D56F-4DA9-A27E-68F95A9282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2990850"/>
            <a:ext cx="1714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ctr">
              <a:defRPr sz="1125" b="1" i="0">
                <a:solidFill>
                  <a:srgbClr val="6D4AFF"/>
                </a:solidFill>
                <a:latin typeface="Arial"/>
                <a:ea typeface="Arial"/>
                <a:cs typeface="Arial"/>
              </a:defRPr>
            </a:defPPr>
            <a:lvl1pPr algn="ctr">
              <a:defRPr sz="1125" b="1" i="0">
                <a:solidFill>
                  <a:srgbClr val="6D4AFF"/>
                </a:solidFill>
                <a:latin typeface="Arial"/>
                <a:ea typeface="Arial"/>
                <a:cs typeface="Arial"/>
              </a:defRPr>
            </a:lvl1pPr>
            <a:lvl2pPr algn="ctr">
              <a:defRPr sz="1125" b="1" i="0">
                <a:solidFill>
                  <a:srgbClr val="6D4AFF"/>
                </a:solidFill>
                <a:latin typeface="Arial"/>
                <a:ea typeface="Arial"/>
                <a:cs typeface="Arial"/>
              </a:defRPr>
            </a:lvl2pPr>
            <a:lvl3pPr algn="ctr">
              <a:defRPr sz="1125" b="1" i="0">
                <a:solidFill>
                  <a:srgbClr val="6D4AFF"/>
                </a:solidFill>
                <a:latin typeface="Arial"/>
                <a:ea typeface="Arial"/>
                <a:cs typeface="Arial"/>
              </a:defRPr>
            </a:lvl3pPr>
            <a:lvl4pPr algn="ctr">
              <a:defRPr sz="1125" b="1" i="0">
                <a:solidFill>
                  <a:srgbClr val="6D4AFF"/>
                </a:solidFill>
                <a:latin typeface="Arial"/>
                <a:ea typeface="Arial"/>
                <a:cs typeface="Arial"/>
              </a:defRPr>
            </a:lvl4pPr>
            <a:lvl5pPr algn="ctr">
              <a:defRPr sz="1125" b="1" i="0">
                <a:solidFill>
                  <a:srgbClr val="6D4AFF"/>
                </a:solidFill>
                <a:latin typeface="Arial"/>
                <a:ea typeface="Arial"/>
                <a:cs typeface="Arial"/>
              </a:defRPr>
            </a:lvl5pPr>
            <a:lvl6pPr algn="ctr">
              <a:defRPr sz="1125" b="1" i="0">
                <a:solidFill>
                  <a:srgbClr val="6D4AFF"/>
                </a:solidFill>
                <a:latin typeface="Arial"/>
                <a:ea typeface="Arial"/>
                <a:cs typeface="Arial"/>
              </a:defRPr>
            </a:lvl6pPr>
            <a:lvl7pPr algn="ctr">
              <a:defRPr sz="1125" b="1" i="0">
                <a:solidFill>
                  <a:srgbClr val="6D4AFF"/>
                </a:solidFill>
                <a:latin typeface="Arial"/>
                <a:ea typeface="Arial"/>
                <a:cs typeface="Arial"/>
              </a:defRPr>
            </a:lvl7pPr>
            <a:lvl8pPr algn="ctr">
              <a:defRPr sz="1125" b="1" i="0">
                <a:solidFill>
                  <a:srgbClr val="6D4AFF"/>
                </a:solidFill>
                <a:latin typeface="Arial"/>
                <a:ea typeface="Arial"/>
                <a:cs typeface="Arial"/>
              </a:defRPr>
            </a:lvl8pPr>
            <a:lvl9pPr algn="ctr">
              <a:defRPr sz="1125" b="1" i="0">
                <a:solidFill>
                  <a:srgbClr val="6D4A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lnSpc>
                <a:spcPct val="105000"/>
              </a:lnSpc>
              <a:buNone/>
              <a:defRPr sz="1125" b="1" i="0">
                <a:solidFill>
                  <a:srgbClr val="6D4AFF"/>
                </a:solidFill>
                <a:latin typeface="Arial"/>
                <a:ea typeface="Arial"/>
                <a:cs typeface="Arial"/>
              </a:defRPr>
            </a:pPr>
            <a:r>
              <a:rPr sz="1125" b="1" i="0">
                <a:solidFill>
                  <a:srgbClr val="6D4AFF"/>
                </a:solidFill>
                <a:latin typeface="Arial"/>
                <a:ea typeface="Arial"/>
                <a:cs typeface="Arial"/>
              </a:rPr>
              <a:t>BI actual: 481 perfiles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98D4145-E761-44AE-8651-8FDAAB1398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209800"/>
            <a:ext cx="2381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00" b="1" i="0">
                <a:solidFill>
                  <a:srgbClr val="6D4AFF"/>
                </a:solidFill>
                <a:latin typeface="Arial"/>
                <a:ea typeface="Arial"/>
                <a:cs typeface="Arial"/>
              </a:defRPr>
            </a:defPPr>
            <a:lvl1pPr algn="l">
              <a:defRPr sz="2100" b="1" i="0">
                <a:solidFill>
                  <a:srgbClr val="6D4AFF"/>
                </a:solidFill>
                <a:latin typeface="Arial"/>
                <a:ea typeface="Arial"/>
                <a:cs typeface="Arial"/>
              </a:defRPr>
            </a:lvl1pPr>
            <a:lvl2pPr algn="l">
              <a:defRPr sz="2100" b="1" i="0">
                <a:solidFill>
                  <a:srgbClr val="6D4AFF"/>
                </a:solidFill>
                <a:latin typeface="Arial"/>
                <a:ea typeface="Arial"/>
                <a:cs typeface="Arial"/>
              </a:defRPr>
            </a:lvl2pPr>
            <a:lvl3pPr algn="l">
              <a:defRPr sz="2100" b="1" i="0">
                <a:solidFill>
                  <a:srgbClr val="6D4AFF"/>
                </a:solidFill>
                <a:latin typeface="Arial"/>
                <a:ea typeface="Arial"/>
                <a:cs typeface="Arial"/>
              </a:defRPr>
            </a:lvl3pPr>
            <a:lvl4pPr algn="l">
              <a:defRPr sz="2100" b="1" i="0">
                <a:solidFill>
                  <a:srgbClr val="6D4AFF"/>
                </a:solidFill>
                <a:latin typeface="Arial"/>
                <a:ea typeface="Arial"/>
                <a:cs typeface="Arial"/>
              </a:defRPr>
            </a:lvl4pPr>
            <a:lvl5pPr algn="l">
              <a:defRPr sz="2100" b="1" i="0">
                <a:solidFill>
                  <a:srgbClr val="6D4AFF"/>
                </a:solidFill>
                <a:latin typeface="Arial"/>
                <a:ea typeface="Arial"/>
                <a:cs typeface="Arial"/>
              </a:defRPr>
            </a:lvl5pPr>
            <a:lvl6pPr algn="l">
              <a:defRPr sz="2100" b="1" i="0">
                <a:solidFill>
                  <a:srgbClr val="6D4AFF"/>
                </a:solidFill>
                <a:latin typeface="Arial"/>
                <a:ea typeface="Arial"/>
                <a:cs typeface="Arial"/>
              </a:defRPr>
            </a:lvl6pPr>
            <a:lvl7pPr algn="l">
              <a:defRPr sz="2100" b="1" i="0">
                <a:solidFill>
                  <a:srgbClr val="6D4AFF"/>
                </a:solidFill>
                <a:latin typeface="Arial"/>
                <a:ea typeface="Arial"/>
                <a:cs typeface="Arial"/>
              </a:defRPr>
            </a:lvl7pPr>
            <a:lvl8pPr algn="l">
              <a:defRPr sz="2100" b="1" i="0">
                <a:solidFill>
                  <a:srgbClr val="6D4AFF"/>
                </a:solidFill>
                <a:latin typeface="Arial"/>
                <a:ea typeface="Arial"/>
                <a:cs typeface="Arial"/>
              </a:defRPr>
            </a:lvl8pPr>
            <a:lvl9pPr algn="l">
              <a:defRPr sz="2100" b="1" i="0">
                <a:solidFill>
                  <a:srgbClr val="6D4A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2100" b="1" i="0">
                <a:solidFill>
                  <a:srgbClr val="6D4AFF"/>
                </a:solidFill>
                <a:latin typeface="Arial"/>
                <a:ea typeface="Arial"/>
                <a:cs typeface="Arial"/>
              </a:defRPr>
            </a:pPr>
            <a:r>
              <a:rPr sz="2100" b="1" i="0">
                <a:solidFill>
                  <a:srgbClr val="6D4AFF"/>
                </a:solidFill>
                <a:latin typeface="Arial"/>
                <a:ea typeface="Arial"/>
                <a:cs typeface="Arial"/>
              </a:rPr>
              <a:t>Silhouette = 0.421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AA5A7B2-6ED7-42EB-A953-F246AC7ED3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609850"/>
            <a:ext cx="3143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275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defPPr>
            <a:lvl1pPr algn="l">
              <a:defRPr sz="1275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lvl1pPr>
            <a:lvl2pPr algn="l">
              <a:defRPr sz="1275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lvl2pPr>
            <a:lvl3pPr algn="l">
              <a:defRPr sz="1275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lvl3pPr>
            <a:lvl4pPr algn="l">
              <a:defRPr sz="1275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lvl4pPr>
            <a:lvl5pPr algn="l">
              <a:defRPr sz="1275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lvl5pPr>
            <a:lvl6pPr algn="l">
              <a:defRPr sz="1275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lvl6pPr>
            <a:lvl7pPr algn="l">
              <a:defRPr sz="1275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lvl7pPr>
            <a:lvl8pPr algn="l">
              <a:defRPr sz="1275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lvl8pPr>
            <a:lvl9pPr algn="l">
              <a:defRPr sz="1275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1275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667085"/>
                </a:solidFill>
                <a:latin typeface="Arial"/>
                <a:ea typeface="Arial"/>
                <a:cs typeface="Arial"/>
              </a:rPr>
              <a:t>separación útil, todavía moderada</a:t>
            </a:r>
          </a:p>
        </p:txBody>
      </p:sp>
      <p:graphicFrame>
        <p:nvGraphicFramePr>
          <p:cNvPr id="17" name="Chart">
            <a:extLst xmlns:a="http://schemas.openxmlformats.org/drawingml/2006/main">
              <a:ext uri="{FF2B5EF4-FFF2-40B4-BE49-F238E27FC236}">
                <a16:creationId xmlns:a16="http://schemas.microsoft.com/office/drawing/2014/main" id="{933F4110-65B0-4A6D-8457-3C3660B527BF}"/>
              </a:ext>
            </a:extLst>
          </p:cNvPr>
          <p:cNvGraphicFramePr/>
          <p:nvPr/>
        </p:nvGraphicFramePr>
        <p:xfrm>
          <a:off xmlns:a="http://schemas.openxmlformats.org/drawingml/2006/main" x="685800" y="3333750"/>
          <a:ext xmlns:a="http://schemas.openxmlformats.org/drawingml/2006/main" cx="10744200" cy="25908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7d07097fc4e948e3"/>
          </a:graphicData>
        </a:graphic>
      </p:graphicFrame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535C12C-BAC1-4566-B641-B34DF055FE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15050"/>
            <a:ext cx="107442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275" b="1" i="0">
                <a:solidFill>
                  <a:srgbClr val="111827"/>
                </a:solidFill>
                <a:latin typeface="Arial"/>
                <a:ea typeface="Arial"/>
                <a:cs typeface="Arial"/>
              </a:defRPr>
            </a:defPPr>
            <a:lvl1pPr algn="l">
              <a:defRPr sz="1275" b="1" i="0">
                <a:solidFill>
                  <a:srgbClr val="111827"/>
                </a:solidFill>
                <a:latin typeface="Arial"/>
                <a:ea typeface="Arial"/>
                <a:cs typeface="Arial"/>
              </a:defRPr>
            </a:lvl1pPr>
            <a:lvl2pPr algn="l">
              <a:defRPr sz="1275" b="1" i="0">
                <a:solidFill>
                  <a:srgbClr val="111827"/>
                </a:solidFill>
                <a:latin typeface="Arial"/>
                <a:ea typeface="Arial"/>
                <a:cs typeface="Arial"/>
              </a:defRPr>
            </a:lvl2pPr>
            <a:lvl3pPr algn="l">
              <a:defRPr sz="1275" b="1" i="0">
                <a:solidFill>
                  <a:srgbClr val="111827"/>
                </a:solidFill>
                <a:latin typeface="Arial"/>
                <a:ea typeface="Arial"/>
                <a:cs typeface="Arial"/>
              </a:defRPr>
            </a:lvl3pPr>
            <a:lvl4pPr algn="l">
              <a:defRPr sz="1275" b="1" i="0">
                <a:solidFill>
                  <a:srgbClr val="111827"/>
                </a:solidFill>
                <a:latin typeface="Arial"/>
                <a:ea typeface="Arial"/>
                <a:cs typeface="Arial"/>
              </a:defRPr>
            </a:lvl4pPr>
            <a:lvl5pPr algn="l">
              <a:defRPr sz="1275" b="1" i="0">
                <a:solidFill>
                  <a:srgbClr val="111827"/>
                </a:solidFill>
                <a:latin typeface="Arial"/>
                <a:ea typeface="Arial"/>
                <a:cs typeface="Arial"/>
              </a:defRPr>
            </a:lvl5pPr>
            <a:lvl6pPr algn="l">
              <a:defRPr sz="1275" b="1" i="0">
                <a:solidFill>
                  <a:srgbClr val="111827"/>
                </a:solidFill>
                <a:latin typeface="Arial"/>
                <a:ea typeface="Arial"/>
                <a:cs typeface="Arial"/>
              </a:defRPr>
            </a:lvl6pPr>
            <a:lvl7pPr algn="l">
              <a:defRPr sz="1275" b="1" i="0">
                <a:solidFill>
                  <a:srgbClr val="111827"/>
                </a:solidFill>
                <a:latin typeface="Arial"/>
                <a:ea typeface="Arial"/>
                <a:cs typeface="Arial"/>
              </a:defRPr>
            </a:lvl7pPr>
            <a:lvl8pPr algn="l">
              <a:defRPr sz="1275" b="1" i="0">
                <a:solidFill>
                  <a:srgbClr val="111827"/>
                </a:solidFill>
                <a:latin typeface="Arial"/>
                <a:ea typeface="Arial"/>
                <a:cs typeface="Arial"/>
              </a:defRPr>
            </a:lvl8pPr>
            <a:lvl9pPr algn="l">
              <a:defRPr sz="1275" b="1" i="0">
                <a:solidFill>
                  <a:srgbClr val="11182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1275" b="1" i="0">
                <a:solidFill>
                  <a:srgbClr val="111827"/>
                </a:solidFill>
                <a:latin typeface="Arial"/>
                <a:ea typeface="Arial"/>
                <a:cs typeface="Arial"/>
              </a:defRPr>
            </a:pPr>
            <a:r>
              <a:rPr sz="1275" b="1" i="0">
                <a:solidFill>
                  <a:srgbClr val="111827"/>
                </a:solidFill>
                <a:latin typeface="Arial"/>
                <a:ea typeface="Arial"/>
                <a:cs typeface="Arial"/>
              </a:rPr>
              <a:t>1,298,155 segmentadas + 14,310 sin perfil = 1,312,465 solicitudes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FEAD39F-4E67-47BA-9738-1141CA02C4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10972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900" b="0" i="0">
                <a:solidFill>
                  <a:srgbClr val="98A2B3"/>
                </a:solidFill>
                <a:latin typeface="Arial"/>
                <a:ea typeface="Arial"/>
                <a:cs typeface="Arial"/>
              </a:defRPr>
            </a:defPPr>
            <a:lvl1pPr algn="l">
              <a:defRPr sz="900" b="0" i="0">
                <a:solidFill>
                  <a:srgbClr val="98A2B3"/>
                </a:solidFill>
                <a:latin typeface="Arial"/>
                <a:ea typeface="Arial"/>
                <a:cs typeface="Arial"/>
              </a:defRPr>
            </a:lvl1pPr>
            <a:lvl2pPr algn="l">
              <a:defRPr sz="900" b="0" i="0">
                <a:solidFill>
                  <a:srgbClr val="98A2B3"/>
                </a:solidFill>
                <a:latin typeface="Arial"/>
                <a:ea typeface="Arial"/>
                <a:cs typeface="Arial"/>
              </a:defRPr>
            </a:lvl2pPr>
            <a:lvl3pPr algn="l">
              <a:defRPr sz="900" b="0" i="0">
                <a:solidFill>
                  <a:srgbClr val="98A2B3"/>
                </a:solidFill>
                <a:latin typeface="Arial"/>
                <a:ea typeface="Arial"/>
                <a:cs typeface="Arial"/>
              </a:defRPr>
            </a:lvl3pPr>
            <a:lvl4pPr algn="l">
              <a:defRPr sz="900" b="0" i="0">
                <a:solidFill>
                  <a:srgbClr val="98A2B3"/>
                </a:solidFill>
                <a:latin typeface="Arial"/>
                <a:ea typeface="Arial"/>
                <a:cs typeface="Arial"/>
              </a:defRPr>
            </a:lvl4pPr>
            <a:lvl5pPr algn="l">
              <a:defRPr sz="900" b="0" i="0">
                <a:solidFill>
                  <a:srgbClr val="98A2B3"/>
                </a:solidFill>
                <a:latin typeface="Arial"/>
                <a:ea typeface="Arial"/>
                <a:cs typeface="Arial"/>
              </a:defRPr>
            </a:lvl5pPr>
            <a:lvl6pPr algn="l">
              <a:defRPr sz="900" b="0" i="0">
                <a:solidFill>
                  <a:srgbClr val="98A2B3"/>
                </a:solidFill>
                <a:latin typeface="Arial"/>
                <a:ea typeface="Arial"/>
                <a:cs typeface="Arial"/>
              </a:defRPr>
            </a:lvl6pPr>
            <a:lvl7pPr algn="l">
              <a:defRPr sz="900" b="0" i="0">
                <a:solidFill>
                  <a:srgbClr val="98A2B3"/>
                </a:solidFill>
                <a:latin typeface="Arial"/>
                <a:ea typeface="Arial"/>
                <a:cs typeface="Arial"/>
              </a:defRPr>
            </a:lvl7pPr>
            <a:lvl8pPr algn="l">
              <a:defRPr sz="900" b="0" i="0">
                <a:solidFill>
                  <a:srgbClr val="98A2B3"/>
                </a:solidFill>
                <a:latin typeface="Arial"/>
                <a:ea typeface="Arial"/>
                <a:cs typeface="Arial"/>
              </a:defRPr>
            </a:lvl8pPr>
            <a:lvl9pPr algn="l">
              <a:defRPr sz="900" b="0" i="0">
                <a:solidFill>
                  <a:srgbClr val="98A2B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900" b="0" i="0">
                <a:solidFill>
                  <a:srgbClr val="98A2B3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98A2B3"/>
                </a:solidFill>
                <a:latin typeface="Arial"/>
                <a:ea typeface="Arial"/>
                <a:cs typeface="Arial"/>
              </a:rPr>
              <a:t>Fuente: validación del modelo BI. La cobertura actual es 98.91%; F2 original documentó 480 perfiles.</a:t>
            </a:r>
          </a:p>
        </p:txBody>
      </p:sp>
    </p:spTree>
    <p:extLst>
      <p:ext uri="{BB962C8B-B14F-4D97-AF65-F5344CB8AC3E}">
        <p14:creationId xmlns:p14="http://schemas.microsoft.com/office/powerpoint/2010/main" val="105880233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7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4F58D75-C4C4-4844-B133-92885239F2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2667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975" b="1" i="0">
                <a:solidFill>
                  <a:srgbClr val="2463EB"/>
                </a:solidFill>
                <a:latin typeface="Arial"/>
                <a:ea typeface="Arial"/>
                <a:cs typeface="Arial"/>
              </a:defRPr>
            </a:defPPr>
            <a:lvl1pPr algn="l">
              <a:defRPr sz="975" b="1" i="0">
                <a:solidFill>
                  <a:srgbClr val="2463EB"/>
                </a:solidFill>
                <a:latin typeface="Arial"/>
                <a:ea typeface="Arial"/>
                <a:cs typeface="Arial"/>
              </a:defRPr>
            </a:lvl1pPr>
            <a:lvl2pPr algn="l">
              <a:defRPr sz="975" b="1" i="0">
                <a:solidFill>
                  <a:srgbClr val="2463EB"/>
                </a:solidFill>
                <a:latin typeface="Arial"/>
                <a:ea typeface="Arial"/>
                <a:cs typeface="Arial"/>
              </a:defRPr>
            </a:lvl2pPr>
            <a:lvl3pPr algn="l">
              <a:defRPr sz="975" b="1" i="0">
                <a:solidFill>
                  <a:srgbClr val="2463EB"/>
                </a:solidFill>
                <a:latin typeface="Arial"/>
                <a:ea typeface="Arial"/>
                <a:cs typeface="Arial"/>
              </a:defRPr>
            </a:lvl3pPr>
            <a:lvl4pPr algn="l">
              <a:defRPr sz="975" b="1" i="0">
                <a:solidFill>
                  <a:srgbClr val="2463EB"/>
                </a:solidFill>
                <a:latin typeface="Arial"/>
                <a:ea typeface="Arial"/>
                <a:cs typeface="Arial"/>
              </a:defRPr>
            </a:lvl4pPr>
            <a:lvl5pPr algn="l">
              <a:defRPr sz="975" b="1" i="0">
                <a:solidFill>
                  <a:srgbClr val="2463EB"/>
                </a:solidFill>
                <a:latin typeface="Arial"/>
                <a:ea typeface="Arial"/>
                <a:cs typeface="Arial"/>
              </a:defRPr>
            </a:lvl5pPr>
            <a:lvl6pPr algn="l">
              <a:defRPr sz="975" b="1" i="0">
                <a:solidFill>
                  <a:srgbClr val="2463EB"/>
                </a:solidFill>
                <a:latin typeface="Arial"/>
                <a:ea typeface="Arial"/>
                <a:cs typeface="Arial"/>
              </a:defRPr>
            </a:lvl6pPr>
            <a:lvl7pPr algn="l">
              <a:defRPr sz="975" b="1" i="0">
                <a:solidFill>
                  <a:srgbClr val="2463EB"/>
                </a:solidFill>
                <a:latin typeface="Arial"/>
                <a:ea typeface="Arial"/>
                <a:cs typeface="Arial"/>
              </a:defRPr>
            </a:lvl7pPr>
            <a:lvl8pPr algn="l">
              <a:defRPr sz="975" b="1" i="0">
                <a:solidFill>
                  <a:srgbClr val="2463EB"/>
                </a:solidFill>
                <a:latin typeface="Arial"/>
                <a:ea typeface="Arial"/>
                <a:cs typeface="Arial"/>
              </a:defRPr>
            </a:lvl8pPr>
            <a:lvl9pPr algn="l">
              <a:defRPr sz="975" b="1" i="0">
                <a:solidFill>
                  <a:srgbClr val="2463E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975" b="1" i="0">
                <a:solidFill>
                  <a:srgbClr val="2463EB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2463EB"/>
                </a:solidFill>
                <a:latin typeface="Arial"/>
                <a:ea typeface="Arial"/>
                <a:cs typeface="Arial"/>
              </a:rPr>
              <a:t>NYC311 / FASE 3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210869B-634B-40BE-A633-02FE2112F1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44200" y="285750"/>
            <a:ext cx="8382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975" b="1" i="0">
                <a:solidFill>
                  <a:srgbClr val="98A2B3"/>
                </a:solidFill>
                <a:latin typeface="Arial"/>
                <a:ea typeface="Arial"/>
                <a:cs typeface="Arial"/>
              </a:defRPr>
            </a:defPPr>
            <a:lvl1pPr algn="r">
              <a:defRPr sz="975" b="1" i="0">
                <a:solidFill>
                  <a:srgbClr val="98A2B3"/>
                </a:solidFill>
                <a:latin typeface="Arial"/>
                <a:ea typeface="Arial"/>
                <a:cs typeface="Arial"/>
              </a:defRPr>
            </a:lvl1pPr>
            <a:lvl2pPr algn="r">
              <a:defRPr sz="975" b="1" i="0">
                <a:solidFill>
                  <a:srgbClr val="98A2B3"/>
                </a:solidFill>
                <a:latin typeface="Arial"/>
                <a:ea typeface="Arial"/>
                <a:cs typeface="Arial"/>
              </a:defRPr>
            </a:lvl2pPr>
            <a:lvl3pPr algn="r">
              <a:defRPr sz="975" b="1" i="0">
                <a:solidFill>
                  <a:srgbClr val="98A2B3"/>
                </a:solidFill>
                <a:latin typeface="Arial"/>
                <a:ea typeface="Arial"/>
                <a:cs typeface="Arial"/>
              </a:defRPr>
            </a:lvl3pPr>
            <a:lvl4pPr algn="r">
              <a:defRPr sz="975" b="1" i="0">
                <a:solidFill>
                  <a:srgbClr val="98A2B3"/>
                </a:solidFill>
                <a:latin typeface="Arial"/>
                <a:ea typeface="Arial"/>
                <a:cs typeface="Arial"/>
              </a:defRPr>
            </a:lvl4pPr>
            <a:lvl5pPr algn="r">
              <a:defRPr sz="975" b="1" i="0">
                <a:solidFill>
                  <a:srgbClr val="98A2B3"/>
                </a:solidFill>
                <a:latin typeface="Arial"/>
                <a:ea typeface="Arial"/>
                <a:cs typeface="Arial"/>
              </a:defRPr>
            </a:lvl5pPr>
            <a:lvl6pPr algn="r">
              <a:defRPr sz="975" b="1" i="0">
                <a:solidFill>
                  <a:srgbClr val="98A2B3"/>
                </a:solidFill>
                <a:latin typeface="Arial"/>
                <a:ea typeface="Arial"/>
                <a:cs typeface="Arial"/>
              </a:defRPr>
            </a:lvl6pPr>
            <a:lvl7pPr algn="r">
              <a:defRPr sz="975" b="1" i="0">
                <a:solidFill>
                  <a:srgbClr val="98A2B3"/>
                </a:solidFill>
                <a:latin typeface="Arial"/>
                <a:ea typeface="Arial"/>
                <a:cs typeface="Arial"/>
              </a:defRPr>
            </a:lvl7pPr>
            <a:lvl8pPr algn="r">
              <a:defRPr sz="975" b="1" i="0">
                <a:solidFill>
                  <a:srgbClr val="98A2B3"/>
                </a:solidFill>
                <a:latin typeface="Arial"/>
                <a:ea typeface="Arial"/>
                <a:cs typeface="Arial"/>
              </a:defRPr>
            </a:lvl8pPr>
            <a:lvl9pPr algn="r">
              <a:defRPr sz="975" b="1" i="0">
                <a:solidFill>
                  <a:srgbClr val="98A2B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r">
              <a:lnSpc>
                <a:spcPct val="105000"/>
              </a:lnSpc>
              <a:buNone/>
              <a:defRPr sz="975" b="1" i="0">
                <a:solidFill>
                  <a:srgbClr val="98A2B3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98A2B3"/>
                </a:solidFill>
                <a:latin typeface="Arial"/>
                <a:ea typeface="Arial"/>
                <a:cs typeface="Arial"/>
              </a:rPr>
              <a:t>07 / 13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8012BC7-E980-4B69-B99A-E841680F7C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"/>
            <a:ext cx="9906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2850" b="1" i="0">
                <a:solidFill>
                  <a:srgbClr val="14243D"/>
                </a:solidFill>
                <a:latin typeface="Arial"/>
                <a:ea typeface="Arial"/>
                <a:cs typeface="Arial"/>
              </a:defRPr>
            </a:defPPr>
            <a:lvl1pPr algn="l">
              <a:defRPr sz="2850" b="1" i="0">
                <a:solidFill>
                  <a:srgbClr val="14243D"/>
                </a:solidFill>
                <a:latin typeface="Arial"/>
                <a:ea typeface="Arial"/>
                <a:cs typeface="Arial"/>
              </a:defRPr>
            </a:lvl1pPr>
            <a:lvl2pPr algn="l">
              <a:defRPr sz="2850" b="1" i="0">
                <a:solidFill>
                  <a:srgbClr val="14243D"/>
                </a:solidFill>
                <a:latin typeface="Arial"/>
                <a:ea typeface="Arial"/>
                <a:cs typeface="Arial"/>
              </a:defRPr>
            </a:lvl2pPr>
            <a:lvl3pPr algn="l">
              <a:defRPr sz="2850" b="1" i="0">
                <a:solidFill>
                  <a:srgbClr val="14243D"/>
                </a:solidFill>
                <a:latin typeface="Arial"/>
                <a:ea typeface="Arial"/>
                <a:cs typeface="Arial"/>
              </a:defRPr>
            </a:lvl3pPr>
            <a:lvl4pPr algn="l">
              <a:defRPr sz="2850" b="1" i="0">
                <a:solidFill>
                  <a:srgbClr val="14243D"/>
                </a:solidFill>
                <a:latin typeface="Arial"/>
                <a:ea typeface="Arial"/>
                <a:cs typeface="Arial"/>
              </a:defRPr>
            </a:lvl4pPr>
            <a:lvl5pPr algn="l">
              <a:defRPr sz="2850" b="1" i="0">
                <a:solidFill>
                  <a:srgbClr val="14243D"/>
                </a:solidFill>
                <a:latin typeface="Arial"/>
                <a:ea typeface="Arial"/>
                <a:cs typeface="Arial"/>
              </a:defRPr>
            </a:lvl5pPr>
            <a:lvl6pPr algn="l">
              <a:defRPr sz="2850" b="1" i="0">
                <a:solidFill>
                  <a:srgbClr val="14243D"/>
                </a:solidFill>
                <a:latin typeface="Arial"/>
                <a:ea typeface="Arial"/>
                <a:cs typeface="Arial"/>
              </a:defRPr>
            </a:lvl6pPr>
            <a:lvl7pPr algn="l">
              <a:defRPr sz="2850" b="1" i="0">
                <a:solidFill>
                  <a:srgbClr val="14243D"/>
                </a:solidFill>
                <a:latin typeface="Arial"/>
                <a:ea typeface="Arial"/>
                <a:cs typeface="Arial"/>
              </a:defRPr>
            </a:lvl7pPr>
            <a:lvl8pPr algn="l">
              <a:defRPr sz="2850" b="1" i="0">
                <a:solidFill>
                  <a:srgbClr val="14243D"/>
                </a:solidFill>
                <a:latin typeface="Arial"/>
                <a:ea typeface="Arial"/>
                <a:cs typeface="Arial"/>
              </a:defRPr>
            </a:lvl8pPr>
            <a:lvl9pPr algn="l">
              <a:defRPr sz="2850" b="1" i="0">
                <a:solidFill>
                  <a:srgbClr val="14243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lnSpc>
                <a:spcPct val="95000"/>
              </a:lnSpc>
              <a:buNone/>
              <a:defRPr sz="2850" b="1" i="0">
                <a:solidFill>
                  <a:srgbClr val="14243D"/>
                </a:solidFill>
                <a:latin typeface="Arial"/>
                <a:ea typeface="Arial"/>
                <a:cs typeface="Arial"/>
              </a:defRPr>
            </a:pPr>
            <a:r>
              <a:rPr sz="2850" b="1" i="0">
                <a:solidFill>
                  <a:srgbClr val="14243D"/>
                </a:solidFill>
                <a:latin typeface="Arial"/>
                <a:ea typeface="Arial"/>
                <a:cs typeface="Arial"/>
              </a:rPr>
              <a:t>El árbol prioriza revisión, pero sus límites siguen visibles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E82293F-D3CD-454F-9357-4F857AB0CA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95400"/>
            <a:ext cx="9906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350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defPPr>
            <a:lvl1pPr algn="l">
              <a:defRPr sz="1350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lvl1pPr>
            <a:lvl2pPr algn="l">
              <a:defRPr sz="1350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lvl2pPr>
            <a:lvl3pPr algn="l">
              <a:defRPr sz="1350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lvl3pPr>
            <a:lvl4pPr algn="l">
              <a:defRPr sz="1350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lvl4pPr>
            <a:lvl5pPr algn="l">
              <a:defRPr sz="1350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lvl5pPr>
            <a:lvl6pPr algn="l">
              <a:defRPr sz="1350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lvl6pPr>
            <a:lvl7pPr algn="l">
              <a:defRPr sz="1350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lvl7pPr>
            <a:lvl8pPr algn="l">
              <a:defRPr sz="1350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lvl8pPr>
            <a:lvl9pPr algn="l">
              <a:defRPr sz="1350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lnSpc>
                <a:spcPct val="100000"/>
              </a:lnSpc>
              <a:buNone/>
              <a:defRPr sz="1350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1350" b="0" i="0">
                <a:solidFill>
                  <a:srgbClr val="667085"/>
                </a:solidFill>
                <a:latin typeface="Arial"/>
                <a:ea typeface="Arial"/>
                <a:cs typeface="Arial"/>
              </a:rPr>
              <a:t>La métrica clave es Recall en prueba. La clasificación histórica no equivale a predicción productiva.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1F04645-4D56-49B6-827F-35561690B2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526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DEE8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C05D368-8D5B-4BC6-86A0-E8386B5923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152650"/>
            <a:ext cx="2857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4650" b="1" i="0">
                <a:solidFill>
                  <a:srgbClr val="6D4AFF"/>
                </a:solidFill>
                <a:latin typeface="Arial"/>
                <a:ea typeface="Arial"/>
                <a:cs typeface="Arial"/>
              </a:defRPr>
            </a:defPPr>
            <a:lvl1pPr algn="l">
              <a:defRPr sz="4650" b="1" i="0">
                <a:solidFill>
                  <a:srgbClr val="6D4AFF"/>
                </a:solidFill>
                <a:latin typeface="Arial"/>
                <a:ea typeface="Arial"/>
                <a:cs typeface="Arial"/>
              </a:defRPr>
            </a:lvl1pPr>
            <a:lvl2pPr algn="l">
              <a:defRPr sz="4650" b="1" i="0">
                <a:solidFill>
                  <a:srgbClr val="6D4AFF"/>
                </a:solidFill>
                <a:latin typeface="Arial"/>
                <a:ea typeface="Arial"/>
                <a:cs typeface="Arial"/>
              </a:defRPr>
            </a:lvl2pPr>
            <a:lvl3pPr algn="l">
              <a:defRPr sz="4650" b="1" i="0">
                <a:solidFill>
                  <a:srgbClr val="6D4AFF"/>
                </a:solidFill>
                <a:latin typeface="Arial"/>
                <a:ea typeface="Arial"/>
                <a:cs typeface="Arial"/>
              </a:defRPr>
            </a:lvl3pPr>
            <a:lvl4pPr algn="l">
              <a:defRPr sz="4650" b="1" i="0">
                <a:solidFill>
                  <a:srgbClr val="6D4AFF"/>
                </a:solidFill>
                <a:latin typeface="Arial"/>
                <a:ea typeface="Arial"/>
                <a:cs typeface="Arial"/>
              </a:defRPr>
            </a:lvl4pPr>
            <a:lvl5pPr algn="l">
              <a:defRPr sz="4650" b="1" i="0">
                <a:solidFill>
                  <a:srgbClr val="6D4AFF"/>
                </a:solidFill>
                <a:latin typeface="Arial"/>
                <a:ea typeface="Arial"/>
                <a:cs typeface="Arial"/>
              </a:defRPr>
            </a:lvl5pPr>
            <a:lvl6pPr algn="l">
              <a:defRPr sz="4650" b="1" i="0">
                <a:solidFill>
                  <a:srgbClr val="6D4AFF"/>
                </a:solidFill>
                <a:latin typeface="Arial"/>
                <a:ea typeface="Arial"/>
                <a:cs typeface="Arial"/>
              </a:defRPr>
            </a:lvl6pPr>
            <a:lvl7pPr algn="l">
              <a:defRPr sz="4650" b="1" i="0">
                <a:solidFill>
                  <a:srgbClr val="6D4AFF"/>
                </a:solidFill>
                <a:latin typeface="Arial"/>
                <a:ea typeface="Arial"/>
                <a:cs typeface="Arial"/>
              </a:defRPr>
            </a:lvl7pPr>
            <a:lvl8pPr algn="l">
              <a:defRPr sz="4650" b="1" i="0">
                <a:solidFill>
                  <a:srgbClr val="6D4AFF"/>
                </a:solidFill>
                <a:latin typeface="Arial"/>
                <a:ea typeface="Arial"/>
                <a:cs typeface="Arial"/>
              </a:defRPr>
            </a:lvl8pPr>
            <a:lvl9pPr algn="l">
              <a:defRPr sz="4650" b="1" i="0">
                <a:solidFill>
                  <a:srgbClr val="6D4A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4650" b="1" i="0">
                <a:solidFill>
                  <a:srgbClr val="6D4AFF"/>
                </a:solidFill>
                <a:latin typeface="Arial"/>
                <a:ea typeface="Arial"/>
                <a:cs typeface="Arial"/>
              </a:defRPr>
            </a:pPr>
            <a:r>
              <a:rPr sz="4650" b="1" i="0">
                <a:solidFill>
                  <a:srgbClr val="6D4AFF"/>
                </a:solidFill>
                <a:latin typeface="Arial"/>
                <a:ea typeface="Arial"/>
                <a:cs typeface="Arial"/>
              </a:rPr>
              <a:t>95.15%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BC28952-8BB5-4D18-9CAA-93D1D8E1FC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838450"/>
            <a:ext cx="2667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00" b="1" i="0">
                <a:solidFill>
                  <a:srgbClr val="14243D"/>
                </a:solidFill>
                <a:latin typeface="Arial"/>
                <a:ea typeface="Arial"/>
                <a:cs typeface="Arial"/>
              </a:defRPr>
            </a:defPPr>
            <a:lvl1pPr algn="l">
              <a:defRPr sz="1500" b="1" i="0">
                <a:solidFill>
                  <a:srgbClr val="14243D"/>
                </a:solidFill>
                <a:latin typeface="Arial"/>
                <a:ea typeface="Arial"/>
                <a:cs typeface="Arial"/>
              </a:defRPr>
            </a:lvl1pPr>
            <a:lvl2pPr algn="l">
              <a:defRPr sz="1500" b="1" i="0">
                <a:solidFill>
                  <a:srgbClr val="14243D"/>
                </a:solidFill>
                <a:latin typeface="Arial"/>
                <a:ea typeface="Arial"/>
                <a:cs typeface="Arial"/>
              </a:defRPr>
            </a:lvl2pPr>
            <a:lvl3pPr algn="l">
              <a:defRPr sz="1500" b="1" i="0">
                <a:solidFill>
                  <a:srgbClr val="14243D"/>
                </a:solidFill>
                <a:latin typeface="Arial"/>
                <a:ea typeface="Arial"/>
                <a:cs typeface="Arial"/>
              </a:defRPr>
            </a:lvl3pPr>
            <a:lvl4pPr algn="l">
              <a:defRPr sz="1500" b="1" i="0">
                <a:solidFill>
                  <a:srgbClr val="14243D"/>
                </a:solidFill>
                <a:latin typeface="Arial"/>
                <a:ea typeface="Arial"/>
                <a:cs typeface="Arial"/>
              </a:defRPr>
            </a:lvl4pPr>
            <a:lvl5pPr algn="l">
              <a:defRPr sz="1500" b="1" i="0">
                <a:solidFill>
                  <a:srgbClr val="14243D"/>
                </a:solidFill>
                <a:latin typeface="Arial"/>
                <a:ea typeface="Arial"/>
                <a:cs typeface="Arial"/>
              </a:defRPr>
            </a:lvl5pPr>
            <a:lvl6pPr algn="l">
              <a:defRPr sz="1500" b="1" i="0">
                <a:solidFill>
                  <a:srgbClr val="14243D"/>
                </a:solidFill>
                <a:latin typeface="Arial"/>
                <a:ea typeface="Arial"/>
                <a:cs typeface="Arial"/>
              </a:defRPr>
            </a:lvl6pPr>
            <a:lvl7pPr algn="l">
              <a:defRPr sz="1500" b="1" i="0">
                <a:solidFill>
                  <a:srgbClr val="14243D"/>
                </a:solidFill>
                <a:latin typeface="Arial"/>
                <a:ea typeface="Arial"/>
                <a:cs typeface="Arial"/>
              </a:defRPr>
            </a:lvl7pPr>
            <a:lvl8pPr algn="l">
              <a:defRPr sz="1500" b="1" i="0">
                <a:solidFill>
                  <a:srgbClr val="14243D"/>
                </a:solidFill>
                <a:latin typeface="Arial"/>
                <a:ea typeface="Arial"/>
                <a:cs typeface="Arial"/>
              </a:defRPr>
            </a:lvl8pPr>
            <a:lvl9pPr algn="l">
              <a:defRPr sz="1500" b="1" i="0">
                <a:solidFill>
                  <a:srgbClr val="14243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1500" b="1" i="0">
                <a:solidFill>
                  <a:srgbClr val="14243D"/>
                </a:solidFill>
                <a:latin typeface="Arial"/>
                <a:ea typeface="Arial"/>
                <a:cs typeface="Arial"/>
              </a:defRPr>
            </a:pPr>
            <a:r>
              <a:rPr sz="1500" b="1" i="0">
                <a:solidFill>
                  <a:srgbClr val="14243D"/>
                </a:solidFill>
                <a:latin typeface="Arial"/>
                <a:ea typeface="Arial"/>
                <a:cs typeface="Arial"/>
              </a:rPr>
              <a:t>Recall en prueba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60B1B2B-06D6-4378-B870-BB22821757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543300"/>
            <a:ext cx="2667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200" b="1" i="0">
                <a:solidFill>
                  <a:srgbClr val="2463EB"/>
                </a:solidFill>
                <a:latin typeface="Arial"/>
                <a:ea typeface="Arial"/>
                <a:cs typeface="Arial"/>
              </a:defRPr>
            </a:defPPr>
            <a:lvl1pPr algn="l">
              <a:defRPr sz="1200" b="1" i="0">
                <a:solidFill>
                  <a:srgbClr val="2463EB"/>
                </a:solidFill>
                <a:latin typeface="Arial"/>
                <a:ea typeface="Arial"/>
                <a:cs typeface="Arial"/>
              </a:defRPr>
            </a:lvl1pPr>
            <a:lvl2pPr algn="l">
              <a:defRPr sz="1200" b="1" i="0">
                <a:solidFill>
                  <a:srgbClr val="2463EB"/>
                </a:solidFill>
                <a:latin typeface="Arial"/>
                <a:ea typeface="Arial"/>
                <a:cs typeface="Arial"/>
              </a:defRPr>
            </a:lvl2pPr>
            <a:lvl3pPr algn="l">
              <a:defRPr sz="1200" b="1" i="0">
                <a:solidFill>
                  <a:srgbClr val="2463EB"/>
                </a:solidFill>
                <a:latin typeface="Arial"/>
                <a:ea typeface="Arial"/>
                <a:cs typeface="Arial"/>
              </a:defRPr>
            </a:lvl3pPr>
            <a:lvl4pPr algn="l">
              <a:defRPr sz="1200" b="1" i="0">
                <a:solidFill>
                  <a:srgbClr val="2463EB"/>
                </a:solidFill>
                <a:latin typeface="Arial"/>
                <a:ea typeface="Arial"/>
                <a:cs typeface="Arial"/>
              </a:defRPr>
            </a:lvl4pPr>
            <a:lvl5pPr algn="l">
              <a:defRPr sz="1200" b="1" i="0">
                <a:solidFill>
                  <a:srgbClr val="2463EB"/>
                </a:solidFill>
                <a:latin typeface="Arial"/>
                <a:ea typeface="Arial"/>
                <a:cs typeface="Arial"/>
              </a:defRPr>
            </a:lvl5pPr>
            <a:lvl6pPr algn="l">
              <a:defRPr sz="1200" b="1" i="0">
                <a:solidFill>
                  <a:srgbClr val="2463EB"/>
                </a:solidFill>
                <a:latin typeface="Arial"/>
                <a:ea typeface="Arial"/>
                <a:cs typeface="Arial"/>
              </a:defRPr>
            </a:lvl6pPr>
            <a:lvl7pPr algn="l">
              <a:defRPr sz="1200" b="1" i="0">
                <a:solidFill>
                  <a:srgbClr val="2463EB"/>
                </a:solidFill>
                <a:latin typeface="Arial"/>
                <a:ea typeface="Arial"/>
                <a:cs typeface="Arial"/>
              </a:defRPr>
            </a:lvl7pPr>
            <a:lvl8pPr algn="l">
              <a:defRPr sz="1200" b="1" i="0">
                <a:solidFill>
                  <a:srgbClr val="2463EB"/>
                </a:solidFill>
                <a:latin typeface="Arial"/>
                <a:ea typeface="Arial"/>
                <a:cs typeface="Arial"/>
              </a:defRPr>
            </a:lvl8pPr>
            <a:lvl9pPr algn="l">
              <a:defRPr sz="1200" b="1" i="0">
                <a:solidFill>
                  <a:srgbClr val="2463E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1200" b="1" i="0">
                <a:solidFill>
                  <a:srgbClr val="2463EB"/>
                </a:solidFill>
                <a:latin typeface="Arial"/>
                <a:ea typeface="Arial"/>
                <a:cs typeface="Arial"/>
              </a:defRPr>
            </a:pPr>
            <a:r>
              <a:rPr sz="1200" b="1" i="0">
                <a:solidFill>
                  <a:srgbClr val="2463EB"/>
                </a:solidFill>
                <a:latin typeface="Arial"/>
                <a:ea typeface="Arial"/>
                <a:cs typeface="Arial"/>
              </a:rPr>
              <a:t>Predictores válidos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8020F30-3FD5-4A6E-A852-C5577217BF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829050"/>
            <a:ext cx="3429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425" b="1" i="0">
                <a:solidFill>
                  <a:srgbClr val="111827"/>
                </a:solidFill>
                <a:latin typeface="Arial"/>
                <a:ea typeface="Arial"/>
                <a:cs typeface="Arial"/>
              </a:defRPr>
            </a:defPPr>
            <a:lvl1pPr algn="l">
              <a:defRPr sz="1425" b="1" i="0">
                <a:solidFill>
                  <a:srgbClr val="111827"/>
                </a:solidFill>
                <a:latin typeface="Arial"/>
                <a:ea typeface="Arial"/>
                <a:cs typeface="Arial"/>
              </a:defRPr>
            </a:lvl1pPr>
            <a:lvl2pPr algn="l">
              <a:defRPr sz="1425" b="1" i="0">
                <a:solidFill>
                  <a:srgbClr val="111827"/>
                </a:solidFill>
                <a:latin typeface="Arial"/>
                <a:ea typeface="Arial"/>
                <a:cs typeface="Arial"/>
              </a:defRPr>
            </a:lvl2pPr>
            <a:lvl3pPr algn="l">
              <a:defRPr sz="1425" b="1" i="0">
                <a:solidFill>
                  <a:srgbClr val="111827"/>
                </a:solidFill>
                <a:latin typeface="Arial"/>
                <a:ea typeface="Arial"/>
                <a:cs typeface="Arial"/>
              </a:defRPr>
            </a:lvl3pPr>
            <a:lvl4pPr algn="l">
              <a:defRPr sz="1425" b="1" i="0">
                <a:solidFill>
                  <a:srgbClr val="111827"/>
                </a:solidFill>
                <a:latin typeface="Arial"/>
                <a:ea typeface="Arial"/>
                <a:cs typeface="Arial"/>
              </a:defRPr>
            </a:lvl4pPr>
            <a:lvl5pPr algn="l">
              <a:defRPr sz="1425" b="1" i="0">
                <a:solidFill>
                  <a:srgbClr val="111827"/>
                </a:solidFill>
                <a:latin typeface="Arial"/>
                <a:ea typeface="Arial"/>
                <a:cs typeface="Arial"/>
              </a:defRPr>
            </a:lvl5pPr>
            <a:lvl6pPr algn="l">
              <a:defRPr sz="1425" b="1" i="0">
                <a:solidFill>
                  <a:srgbClr val="111827"/>
                </a:solidFill>
                <a:latin typeface="Arial"/>
                <a:ea typeface="Arial"/>
                <a:cs typeface="Arial"/>
              </a:defRPr>
            </a:lvl6pPr>
            <a:lvl7pPr algn="l">
              <a:defRPr sz="1425" b="1" i="0">
                <a:solidFill>
                  <a:srgbClr val="111827"/>
                </a:solidFill>
                <a:latin typeface="Arial"/>
                <a:ea typeface="Arial"/>
                <a:cs typeface="Arial"/>
              </a:defRPr>
            </a:lvl7pPr>
            <a:lvl8pPr algn="l">
              <a:defRPr sz="1425" b="1" i="0">
                <a:solidFill>
                  <a:srgbClr val="111827"/>
                </a:solidFill>
                <a:latin typeface="Arial"/>
                <a:ea typeface="Arial"/>
                <a:cs typeface="Arial"/>
              </a:defRPr>
            </a:lvl8pPr>
            <a:lvl9pPr algn="l">
              <a:defRPr sz="1425" b="1" i="0">
                <a:solidFill>
                  <a:srgbClr val="11182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1425" b="1" i="0">
                <a:solidFill>
                  <a:srgbClr val="111827"/>
                </a:solidFill>
                <a:latin typeface="Arial"/>
                <a:ea typeface="Arial"/>
                <a:cs typeface="Arial"/>
              </a:defRPr>
            </a:pPr>
            <a:r>
              <a:rPr sz="1425" b="1" i="0">
                <a:solidFill>
                  <a:srgbClr val="111827"/>
                </a:solidFill>
                <a:latin typeface="Arial"/>
                <a:ea typeface="Arial"/>
                <a:cs typeface="Arial"/>
              </a:rPr>
              <a:t>agency · complaint_type · borough</a:t>
            </a:r>
          </a:p>
          <a:p xmlns:a="http://schemas.openxmlformats.org/drawingml/2006/main">
            <a:pPr algn="l">
              <a:lnSpc>
                <a:spcPct val="105000"/>
              </a:lnSpc>
              <a:buNone/>
              <a:defRPr sz="1425" b="1" i="0">
                <a:solidFill>
                  <a:srgbClr val="111827"/>
                </a:solidFill>
                <a:latin typeface="Arial"/>
                <a:ea typeface="Arial"/>
                <a:cs typeface="Arial"/>
              </a:defRPr>
            </a:pPr>
            <a:r>
              <a:rPr sz="1425" b="1" i="0">
                <a:solidFill>
                  <a:srgbClr val="111827"/>
                </a:solidFill>
                <a:latin typeface="Arial"/>
                <a:ea typeface="Arial"/>
                <a:cs typeface="Arial"/>
              </a:rPr>
              <a:t>canal · mes · día de semana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D1E7837-6D05-4E90-8A70-E5E01BFE9C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724400"/>
            <a:ext cx="3429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275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defPPr>
            <a:lvl1pPr algn="l">
              <a:defRPr sz="1275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lvl1pPr>
            <a:lvl2pPr algn="l">
              <a:defRPr sz="1275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lvl2pPr>
            <a:lvl3pPr algn="l">
              <a:defRPr sz="1275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lvl3pPr>
            <a:lvl4pPr algn="l">
              <a:defRPr sz="1275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lvl4pPr>
            <a:lvl5pPr algn="l">
              <a:defRPr sz="1275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lvl5pPr>
            <a:lvl6pPr algn="l">
              <a:defRPr sz="1275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lvl6pPr>
            <a:lvl7pPr algn="l">
              <a:defRPr sz="1275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lvl7pPr>
            <a:lvl8pPr algn="l">
              <a:defRPr sz="1275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lvl8pPr>
            <a:lvl9pPr algn="l">
              <a:defRPr sz="1275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1275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667085"/>
                </a:solidFill>
                <a:latin typeface="Arial"/>
                <a:ea typeface="Arial"/>
                <a:cs typeface="Arial"/>
              </a:rPr>
              <a:t>Excluidos para evitar fuga: duración, estado, ID y coordenadas</a:t>
            </a:r>
          </a:p>
        </p:txBody>
      </p:sp>
      <p:graphicFrame>
        <p:nvGraphicFramePr>
          <p:cNvPr id="11" name="Chart">
            <a:extLst xmlns:a="http://schemas.openxmlformats.org/drawingml/2006/main">
              <a:ext uri="{FF2B5EF4-FFF2-40B4-BE49-F238E27FC236}">
                <a16:creationId xmlns:a16="http://schemas.microsoft.com/office/drawing/2014/main" id="{F4D7B7DD-6E56-4750-932F-D9A8F0591507}"/>
              </a:ext>
            </a:extLst>
          </p:cNvPr>
          <p:cNvGraphicFramePr/>
          <p:nvPr/>
        </p:nvGraphicFramePr>
        <p:xfrm>
          <a:off xmlns:a="http://schemas.openxmlformats.org/drawingml/2006/main" x="4857750" y="2190750"/>
          <a:ext xmlns:a="http://schemas.openxmlformats.org/drawingml/2006/main" cx="6572250" cy="23812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6ef4859ffa154c7f"/>
          </a:graphicData>
        </a:graphic>
      </p:graphicFrame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B505FDB-6F29-4B93-9408-2DCF6EF6E9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5010150"/>
            <a:ext cx="6572250" cy="9906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EEE9FF"/>
          </a:solidFill>
          <a:ln xmlns:a="http://schemas.openxmlformats.org/drawingml/2006/main" w="0">
            <a:solidFill>
              <a:srgbClr val="EEE9FF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426A1F0-6807-4C29-8CC8-AFB72BDA73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05400" y="5200650"/>
            <a:ext cx="952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200" b="1" i="0">
                <a:solidFill>
                  <a:srgbClr val="6D4AFF"/>
                </a:solidFill>
                <a:latin typeface="Arial"/>
                <a:ea typeface="Arial"/>
                <a:cs typeface="Arial"/>
              </a:defRPr>
            </a:defPPr>
            <a:lvl1pPr algn="l">
              <a:defRPr sz="1200" b="1" i="0">
                <a:solidFill>
                  <a:srgbClr val="6D4AFF"/>
                </a:solidFill>
                <a:latin typeface="Arial"/>
                <a:ea typeface="Arial"/>
                <a:cs typeface="Arial"/>
              </a:defRPr>
            </a:lvl1pPr>
            <a:lvl2pPr algn="l">
              <a:defRPr sz="1200" b="1" i="0">
                <a:solidFill>
                  <a:srgbClr val="6D4AFF"/>
                </a:solidFill>
                <a:latin typeface="Arial"/>
                <a:ea typeface="Arial"/>
                <a:cs typeface="Arial"/>
              </a:defRPr>
            </a:lvl2pPr>
            <a:lvl3pPr algn="l">
              <a:defRPr sz="1200" b="1" i="0">
                <a:solidFill>
                  <a:srgbClr val="6D4AFF"/>
                </a:solidFill>
                <a:latin typeface="Arial"/>
                <a:ea typeface="Arial"/>
                <a:cs typeface="Arial"/>
              </a:defRPr>
            </a:lvl3pPr>
            <a:lvl4pPr algn="l">
              <a:defRPr sz="1200" b="1" i="0">
                <a:solidFill>
                  <a:srgbClr val="6D4AFF"/>
                </a:solidFill>
                <a:latin typeface="Arial"/>
                <a:ea typeface="Arial"/>
                <a:cs typeface="Arial"/>
              </a:defRPr>
            </a:lvl4pPr>
            <a:lvl5pPr algn="l">
              <a:defRPr sz="1200" b="1" i="0">
                <a:solidFill>
                  <a:srgbClr val="6D4AFF"/>
                </a:solidFill>
                <a:latin typeface="Arial"/>
                <a:ea typeface="Arial"/>
                <a:cs typeface="Arial"/>
              </a:defRPr>
            </a:lvl5pPr>
            <a:lvl6pPr algn="l">
              <a:defRPr sz="1200" b="1" i="0">
                <a:solidFill>
                  <a:srgbClr val="6D4AFF"/>
                </a:solidFill>
                <a:latin typeface="Arial"/>
                <a:ea typeface="Arial"/>
                <a:cs typeface="Arial"/>
              </a:defRPr>
            </a:lvl6pPr>
            <a:lvl7pPr algn="l">
              <a:defRPr sz="1200" b="1" i="0">
                <a:solidFill>
                  <a:srgbClr val="6D4AFF"/>
                </a:solidFill>
                <a:latin typeface="Arial"/>
                <a:ea typeface="Arial"/>
                <a:cs typeface="Arial"/>
              </a:defRPr>
            </a:lvl7pPr>
            <a:lvl8pPr algn="l">
              <a:defRPr sz="1200" b="1" i="0">
                <a:solidFill>
                  <a:srgbClr val="6D4AFF"/>
                </a:solidFill>
                <a:latin typeface="Arial"/>
                <a:ea typeface="Arial"/>
                <a:cs typeface="Arial"/>
              </a:defRPr>
            </a:lvl8pPr>
            <a:lvl9pPr algn="l">
              <a:defRPr sz="1200" b="1" i="0">
                <a:solidFill>
                  <a:srgbClr val="6D4A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1200" b="1" i="0">
                <a:solidFill>
                  <a:srgbClr val="6D4AFF"/>
                </a:solidFill>
                <a:latin typeface="Arial"/>
                <a:ea typeface="Arial"/>
                <a:cs typeface="Arial"/>
              </a:defRPr>
            </a:pPr>
            <a:r>
              <a:rPr sz="1200" b="1" i="0">
                <a:solidFill>
                  <a:srgbClr val="6D4AFF"/>
                </a:solidFill>
                <a:latin typeface="Arial"/>
                <a:ea typeface="Arial"/>
                <a:cs typeface="Arial"/>
              </a:rPr>
              <a:t>Límites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199BE88-B2B3-4B5D-8356-833BEC3211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05400" y="5486400"/>
            <a:ext cx="590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87380"/>
          </a:bodyPr>
          <a:lstStyle xmlns:a="http://schemas.openxmlformats.org/drawingml/2006/main">
            <a:defPPr algn="l">
              <a:defRPr sz="1350" b="1" i="0">
                <a:solidFill>
                  <a:srgbClr val="14243D"/>
                </a:solidFill>
                <a:latin typeface="Arial"/>
                <a:ea typeface="Arial"/>
                <a:cs typeface="Arial"/>
              </a:defRPr>
            </a:defPPr>
            <a:lvl1pPr algn="l">
              <a:defRPr sz="1350" b="1" i="0">
                <a:solidFill>
                  <a:srgbClr val="14243D"/>
                </a:solidFill>
                <a:latin typeface="Arial"/>
                <a:ea typeface="Arial"/>
                <a:cs typeface="Arial"/>
              </a:defRPr>
            </a:lvl1pPr>
            <a:lvl2pPr algn="l">
              <a:defRPr sz="1350" b="1" i="0">
                <a:solidFill>
                  <a:srgbClr val="14243D"/>
                </a:solidFill>
                <a:latin typeface="Arial"/>
                <a:ea typeface="Arial"/>
                <a:cs typeface="Arial"/>
              </a:defRPr>
            </a:lvl2pPr>
            <a:lvl3pPr algn="l">
              <a:defRPr sz="1350" b="1" i="0">
                <a:solidFill>
                  <a:srgbClr val="14243D"/>
                </a:solidFill>
                <a:latin typeface="Arial"/>
                <a:ea typeface="Arial"/>
                <a:cs typeface="Arial"/>
              </a:defRPr>
            </a:lvl3pPr>
            <a:lvl4pPr algn="l">
              <a:defRPr sz="1350" b="1" i="0">
                <a:solidFill>
                  <a:srgbClr val="14243D"/>
                </a:solidFill>
                <a:latin typeface="Arial"/>
                <a:ea typeface="Arial"/>
                <a:cs typeface="Arial"/>
              </a:defRPr>
            </a:lvl4pPr>
            <a:lvl5pPr algn="l">
              <a:defRPr sz="1350" b="1" i="0">
                <a:solidFill>
                  <a:srgbClr val="14243D"/>
                </a:solidFill>
                <a:latin typeface="Arial"/>
                <a:ea typeface="Arial"/>
                <a:cs typeface="Arial"/>
              </a:defRPr>
            </a:lvl5pPr>
            <a:lvl6pPr algn="l">
              <a:defRPr sz="1350" b="1" i="0">
                <a:solidFill>
                  <a:srgbClr val="14243D"/>
                </a:solidFill>
                <a:latin typeface="Arial"/>
                <a:ea typeface="Arial"/>
                <a:cs typeface="Arial"/>
              </a:defRPr>
            </a:lvl6pPr>
            <a:lvl7pPr algn="l">
              <a:defRPr sz="1350" b="1" i="0">
                <a:solidFill>
                  <a:srgbClr val="14243D"/>
                </a:solidFill>
                <a:latin typeface="Arial"/>
                <a:ea typeface="Arial"/>
                <a:cs typeface="Arial"/>
              </a:defRPr>
            </a:lvl7pPr>
            <a:lvl8pPr algn="l">
              <a:defRPr sz="1350" b="1" i="0">
                <a:solidFill>
                  <a:srgbClr val="14243D"/>
                </a:solidFill>
                <a:latin typeface="Arial"/>
                <a:ea typeface="Arial"/>
                <a:cs typeface="Arial"/>
              </a:defRPr>
            </a:lvl8pPr>
            <a:lvl9pPr algn="l">
              <a:defRPr sz="1350" b="1" i="0">
                <a:solidFill>
                  <a:srgbClr val="14243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1350" b="1" i="0">
                <a:solidFill>
                  <a:srgbClr val="14243D"/>
                </a:solidFill>
                <a:latin typeface="Arial"/>
                <a:ea typeface="Arial"/>
                <a:cs typeface="Arial"/>
              </a:defRPr>
            </a:pPr>
            <a:r>
              <a:rPr sz="1350" b="1" i="0">
                <a:solidFill>
                  <a:srgbClr val="14243D"/>
                </a:solidFill>
                <a:latin typeface="Arial"/>
                <a:ea typeface="Arial"/>
                <a:cs typeface="Arial"/>
              </a:rPr>
              <a:t>Sin validación temporal · sin prueba causal · sin score por solicitud en producción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F5E12E9-2259-4782-840D-3592AB9EA3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10972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900" b="0" i="0">
                <a:solidFill>
                  <a:srgbClr val="98A2B3"/>
                </a:solidFill>
                <a:latin typeface="Arial"/>
                <a:ea typeface="Arial"/>
                <a:cs typeface="Arial"/>
              </a:defRPr>
            </a:defPPr>
            <a:lvl1pPr algn="l">
              <a:defRPr sz="900" b="0" i="0">
                <a:solidFill>
                  <a:srgbClr val="98A2B3"/>
                </a:solidFill>
                <a:latin typeface="Arial"/>
                <a:ea typeface="Arial"/>
                <a:cs typeface="Arial"/>
              </a:defRPr>
            </a:lvl1pPr>
            <a:lvl2pPr algn="l">
              <a:defRPr sz="900" b="0" i="0">
                <a:solidFill>
                  <a:srgbClr val="98A2B3"/>
                </a:solidFill>
                <a:latin typeface="Arial"/>
                <a:ea typeface="Arial"/>
                <a:cs typeface="Arial"/>
              </a:defRPr>
            </a:lvl2pPr>
            <a:lvl3pPr algn="l">
              <a:defRPr sz="900" b="0" i="0">
                <a:solidFill>
                  <a:srgbClr val="98A2B3"/>
                </a:solidFill>
                <a:latin typeface="Arial"/>
                <a:ea typeface="Arial"/>
                <a:cs typeface="Arial"/>
              </a:defRPr>
            </a:lvl3pPr>
            <a:lvl4pPr algn="l">
              <a:defRPr sz="900" b="0" i="0">
                <a:solidFill>
                  <a:srgbClr val="98A2B3"/>
                </a:solidFill>
                <a:latin typeface="Arial"/>
                <a:ea typeface="Arial"/>
                <a:cs typeface="Arial"/>
              </a:defRPr>
            </a:lvl4pPr>
            <a:lvl5pPr algn="l">
              <a:defRPr sz="900" b="0" i="0">
                <a:solidFill>
                  <a:srgbClr val="98A2B3"/>
                </a:solidFill>
                <a:latin typeface="Arial"/>
                <a:ea typeface="Arial"/>
                <a:cs typeface="Arial"/>
              </a:defRPr>
            </a:lvl5pPr>
            <a:lvl6pPr algn="l">
              <a:defRPr sz="900" b="0" i="0">
                <a:solidFill>
                  <a:srgbClr val="98A2B3"/>
                </a:solidFill>
                <a:latin typeface="Arial"/>
                <a:ea typeface="Arial"/>
                <a:cs typeface="Arial"/>
              </a:defRPr>
            </a:lvl6pPr>
            <a:lvl7pPr algn="l">
              <a:defRPr sz="900" b="0" i="0">
                <a:solidFill>
                  <a:srgbClr val="98A2B3"/>
                </a:solidFill>
                <a:latin typeface="Arial"/>
                <a:ea typeface="Arial"/>
                <a:cs typeface="Arial"/>
              </a:defRPr>
            </a:lvl7pPr>
            <a:lvl8pPr algn="l">
              <a:defRPr sz="900" b="0" i="0">
                <a:solidFill>
                  <a:srgbClr val="98A2B3"/>
                </a:solidFill>
                <a:latin typeface="Arial"/>
                <a:ea typeface="Arial"/>
                <a:cs typeface="Arial"/>
              </a:defRPr>
            </a:lvl8pPr>
            <a:lvl9pPr algn="l">
              <a:defRPr sz="900" b="0" i="0">
                <a:solidFill>
                  <a:srgbClr val="98A2B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900" b="0" i="0">
                <a:solidFill>
                  <a:srgbClr val="98A2B3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98A2B3"/>
                </a:solidFill>
                <a:latin typeface="Arial"/>
                <a:ea typeface="Arial"/>
                <a:cs typeface="Arial"/>
              </a:rPr>
              <a:t>Fuente: informe de Fase 2. Recall, F1 y AUC son métricas del conjunto de prueba.</a:t>
            </a:r>
          </a:p>
        </p:txBody>
      </p:sp>
    </p:spTree>
    <p:extLst>
      <p:ext uri="{BB962C8B-B14F-4D97-AF65-F5344CB8AC3E}">
        <p14:creationId xmlns:p14="http://schemas.microsoft.com/office/powerpoint/2010/main" val="535336449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7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5C395FC-A730-4203-915C-4AD07D1556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2667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975" b="1" i="0">
                <a:solidFill>
                  <a:srgbClr val="2463EB"/>
                </a:solidFill>
                <a:latin typeface="Arial"/>
                <a:ea typeface="Arial"/>
                <a:cs typeface="Arial"/>
              </a:defRPr>
            </a:defPPr>
            <a:lvl1pPr algn="l">
              <a:defRPr sz="975" b="1" i="0">
                <a:solidFill>
                  <a:srgbClr val="2463EB"/>
                </a:solidFill>
                <a:latin typeface="Arial"/>
                <a:ea typeface="Arial"/>
                <a:cs typeface="Arial"/>
              </a:defRPr>
            </a:lvl1pPr>
            <a:lvl2pPr algn="l">
              <a:defRPr sz="975" b="1" i="0">
                <a:solidFill>
                  <a:srgbClr val="2463EB"/>
                </a:solidFill>
                <a:latin typeface="Arial"/>
                <a:ea typeface="Arial"/>
                <a:cs typeface="Arial"/>
              </a:defRPr>
            </a:lvl2pPr>
            <a:lvl3pPr algn="l">
              <a:defRPr sz="975" b="1" i="0">
                <a:solidFill>
                  <a:srgbClr val="2463EB"/>
                </a:solidFill>
                <a:latin typeface="Arial"/>
                <a:ea typeface="Arial"/>
                <a:cs typeface="Arial"/>
              </a:defRPr>
            </a:lvl3pPr>
            <a:lvl4pPr algn="l">
              <a:defRPr sz="975" b="1" i="0">
                <a:solidFill>
                  <a:srgbClr val="2463EB"/>
                </a:solidFill>
                <a:latin typeface="Arial"/>
                <a:ea typeface="Arial"/>
                <a:cs typeface="Arial"/>
              </a:defRPr>
            </a:lvl4pPr>
            <a:lvl5pPr algn="l">
              <a:defRPr sz="975" b="1" i="0">
                <a:solidFill>
                  <a:srgbClr val="2463EB"/>
                </a:solidFill>
                <a:latin typeface="Arial"/>
                <a:ea typeface="Arial"/>
                <a:cs typeface="Arial"/>
              </a:defRPr>
            </a:lvl5pPr>
            <a:lvl6pPr algn="l">
              <a:defRPr sz="975" b="1" i="0">
                <a:solidFill>
                  <a:srgbClr val="2463EB"/>
                </a:solidFill>
                <a:latin typeface="Arial"/>
                <a:ea typeface="Arial"/>
                <a:cs typeface="Arial"/>
              </a:defRPr>
            </a:lvl6pPr>
            <a:lvl7pPr algn="l">
              <a:defRPr sz="975" b="1" i="0">
                <a:solidFill>
                  <a:srgbClr val="2463EB"/>
                </a:solidFill>
                <a:latin typeface="Arial"/>
                <a:ea typeface="Arial"/>
                <a:cs typeface="Arial"/>
              </a:defRPr>
            </a:lvl7pPr>
            <a:lvl8pPr algn="l">
              <a:defRPr sz="975" b="1" i="0">
                <a:solidFill>
                  <a:srgbClr val="2463EB"/>
                </a:solidFill>
                <a:latin typeface="Arial"/>
                <a:ea typeface="Arial"/>
                <a:cs typeface="Arial"/>
              </a:defRPr>
            </a:lvl8pPr>
            <a:lvl9pPr algn="l">
              <a:defRPr sz="975" b="1" i="0">
                <a:solidFill>
                  <a:srgbClr val="2463E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975" b="1" i="0">
                <a:solidFill>
                  <a:srgbClr val="2463EB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2463EB"/>
                </a:solidFill>
                <a:latin typeface="Arial"/>
                <a:ea typeface="Arial"/>
                <a:cs typeface="Arial"/>
              </a:rPr>
              <a:t>NYC311 / FASE 3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F6D7180-5277-4351-900D-78730587AF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44200" y="285750"/>
            <a:ext cx="8382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975" b="1" i="0">
                <a:solidFill>
                  <a:srgbClr val="98A2B3"/>
                </a:solidFill>
                <a:latin typeface="Arial"/>
                <a:ea typeface="Arial"/>
                <a:cs typeface="Arial"/>
              </a:defRPr>
            </a:defPPr>
            <a:lvl1pPr algn="r">
              <a:defRPr sz="975" b="1" i="0">
                <a:solidFill>
                  <a:srgbClr val="98A2B3"/>
                </a:solidFill>
                <a:latin typeface="Arial"/>
                <a:ea typeface="Arial"/>
                <a:cs typeface="Arial"/>
              </a:defRPr>
            </a:lvl1pPr>
            <a:lvl2pPr algn="r">
              <a:defRPr sz="975" b="1" i="0">
                <a:solidFill>
                  <a:srgbClr val="98A2B3"/>
                </a:solidFill>
                <a:latin typeface="Arial"/>
                <a:ea typeface="Arial"/>
                <a:cs typeface="Arial"/>
              </a:defRPr>
            </a:lvl2pPr>
            <a:lvl3pPr algn="r">
              <a:defRPr sz="975" b="1" i="0">
                <a:solidFill>
                  <a:srgbClr val="98A2B3"/>
                </a:solidFill>
                <a:latin typeface="Arial"/>
                <a:ea typeface="Arial"/>
                <a:cs typeface="Arial"/>
              </a:defRPr>
            </a:lvl3pPr>
            <a:lvl4pPr algn="r">
              <a:defRPr sz="975" b="1" i="0">
                <a:solidFill>
                  <a:srgbClr val="98A2B3"/>
                </a:solidFill>
                <a:latin typeface="Arial"/>
                <a:ea typeface="Arial"/>
                <a:cs typeface="Arial"/>
              </a:defRPr>
            </a:lvl4pPr>
            <a:lvl5pPr algn="r">
              <a:defRPr sz="975" b="1" i="0">
                <a:solidFill>
                  <a:srgbClr val="98A2B3"/>
                </a:solidFill>
                <a:latin typeface="Arial"/>
                <a:ea typeface="Arial"/>
                <a:cs typeface="Arial"/>
              </a:defRPr>
            </a:lvl5pPr>
            <a:lvl6pPr algn="r">
              <a:defRPr sz="975" b="1" i="0">
                <a:solidFill>
                  <a:srgbClr val="98A2B3"/>
                </a:solidFill>
                <a:latin typeface="Arial"/>
                <a:ea typeface="Arial"/>
                <a:cs typeface="Arial"/>
              </a:defRPr>
            </a:lvl6pPr>
            <a:lvl7pPr algn="r">
              <a:defRPr sz="975" b="1" i="0">
                <a:solidFill>
                  <a:srgbClr val="98A2B3"/>
                </a:solidFill>
                <a:latin typeface="Arial"/>
                <a:ea typeface="Arial"/>
                <a:cs typeface="Arial"/>
              </a:defRPr>
            </a:lvl7pPr>
            <a:lvl8pPr algn="r">
              <a:defRPr sz="975" b="1" i="0">
                <a:solidFill>
                  <a:srgbClr val="98A2B3"/>
                </a:solidFill>
                <a:latin typeface="Arial"/>
                <a:ea typeface="Arial"/>
                <a:cs typeface="Arial"/>
              </a:defRPr>
            </a:lvl8pPr>
            <a:lvl9pPr algn="r">
              <a:defRPr sz="975" b="1" i="0">
                <a:solidFill>
                  <a:srgbClr val="98A2B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r">
              <a:lnSpc>
                <a:spcPct val="105000"/>
              </a:lnSpc>
              <a:buNone/>
              <a:defRPr sz="975" b="1" i="0">
                <a:solidFill>
                  <a:srgbClr val="98A2B3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98A2B3"/>
                </a:solidFill>
                <a:latin typeface="Arial"/>
                <a:ea typeface="Arial"/>
                <a:cs typeface="Arial"/>
              </a:rPr>
              <a:t>08 / 13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D7597BD-1AEB-481A-B972-DCCE39DC69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"/>
            <a:ext cx="9906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2850" b="1" i="0">
                <a:solidFill>
                  <a:srgbClr val="14243D"/>
                </a:solidFill>
                <a:latin typeface="Arial"/>
                <a:ea typeface="Arial"/>
                <a:cs typeface="Arial"/>
              </a:defRPr>
            </a:defPPr>
            <a:lvl1pPr algn="l">
              <a:defRPr sz="2850" b="1" i="0">
                <a:solidFill>
                  <a:srgbClr val="14243D"/>
                </a:solidFill>
                <a:latin typeface="Arial"/>
                <a:ea typeface="Arial"/>
                <a:cs typeface="Arial"/>
              </a:defRPr>
            </a:lvl1pPr>
            <a:lvl2pPr algn="l">
              <a:defRPr sz="2850" b="1" i="0">
                <a:solidFill>
                  <a:srgbClr val="14243D"/>
                </a:solidFill>
                <a:latin typeface="Arial"/>
                <a:ea typeface="Arial"/>
                <a:cs typeface="Arial"/>
              </a:defRPr>
            </a:lvl2pPr>
            <a:lvl3pPr algn="l">
              <a:defRPr sz="2850" b="1" i="0">
                <a:solidFill>
                  <a:srgbClr val="14243D"/>
                </a:solidFill>
                <a:latin typeface="Arial"/>
                <a:ea typeface="Arial"/>
                <a:cs typeface="Arial"/>
              </a:defRPr>
            </a:lvl3pPr>
            <a:lvl4pPr algn="l">
              <a:defRPr sz="2850" b="1" i="0">
                <a:solidFill>
                  <a:srgbClr val="14243D"/>
                </a:solidFill>
                <a:latin typeface="Arial"/>
                <a:ea typeface="Arial"/>
                <a:cs typeface="Arial"/>
              </a:defRPr>
            </a:lvl4pPr>
            <a:lvl5pPr algn="l">
              <a:defRPr sz="2850" b="1" i="0">
                <a:solidFill>
                  <a:srgbClr val="14243D"/>
                </a:solidFill>
                <a:latin typeface="Arial"/>
                <a:ea typeface="Arial"/>
                <a:cs typeface="Arial"/>
              </a:defRPr>
            </a:lvl5pPr>
            <a:lvl6pPr algn="l">
              <a:defRPr sz="2850" b="1" i="0">
                <a:solidFill>
                  <a:srgbClr val="14243D"/>
                </a:solidFill>
                <a:latin typeface="Arial"/>
                <a:ea typeface="Arial"/>
                <a:cs typeface="Arial"/>
              </a:defRPr>
            </a:lvl6pPr>
            <a:lvl7pPr algn="l">
              <a:defRPr sz="2850" b="1" i="0">
                <a:solidFill>
                  <a:srgbClr val="14243D"/>
                </a:solidFill>
                <a:latin typeface="Arial"/>
                <a:ea typeface="Arial"/>
                <a:cs typeface="Arial"/>
              </a:defRPr>
            </a:lvl7pPr>
            <a:lvl8pPr algn="l">
              <a:defRPr sz="2850" b="1" i="0">
                <a:solidFill>
                  <a:srgbClr val="14243D"/>
                </a:solidFill>
                <a:latin typeface="Arial"/>
                <a:ea typeface="Arial"/>
                <a:cs typeface="Arial"/>
              </a:defRPr>
            </a:lvl8pPr>
            <a:lvl9pPr algn="l">
              <a:defRPr sz="2850" b="1" i="0">
                <a:solidFill>
                  <a:srgbClr val="14243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lnSpc>
                <a:spcPct val="95000"/>
              </a:lnSpc>
              <a:buNone/>
              <a:defRPr sz="2850" b="1" i="0">
                <a:solidFill>
                  <a:srgbClr val="14243D"/>
                </a:solidFill>
                <a:latin typeface="Arial"/>
                <a:ea typeface="Arial"/>
                <a:cs typeface="Arial"/>
              </a:defRPr>
            </a:pPr>
            <a:r>
              <a:rPr sz="2850" b="1" i="0">
                <a:solidFill>
                  <a:srgbClr val="14243D"/>
                </a:solidFill>
                <a:latin typeface="Arial"/>
                <a:ea typeface="Arial"/>
                <a:cs typeface="Arial"/>
              </a:rPr>
              <a:t>Panorama Power BI: una lectura del universo completo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6795C82-A58D-4135-8A73-113A3867AF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95400"/>
            <a:ext cx="9906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350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defPPr>
            <a:lvl1pPr algn="l">
              <a:defRPr sz="1350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lvl1pPr>
            <a:lvl2pPr algn="l">
              <a:defRPr sz="1350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lvl2pPr>
            <a:lvl3pPr algn="l">
              <a:defRPr sz="1350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lvl3pPr>
            <a:lvl4pPr algn="l">
              <a:defRPr sz="1350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lvl4pPr>
            <a:lvl5pPr algn="l">
              <a:defRPr sz="1350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lvl5pPr>
            <a:lvl6pPr algn="l">
              <a:defRPr sz="1350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lvl6pPr>
            <a:lvl7pPr algn="l">
              <a:defRPr sz="1350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lvl7pPr>
            <a:lvl8pPr algn="l">
              <a:defRPr sz="1350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lvl8pPr>
            <a:lvl9pPr algn="l">
              <a:defRPr sz="1350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lnSpc>
                <a:spcPct val="100000"/>
              </a:lnSpc>
              <a:buNone/>
              <a:defRPr sz="1350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1350" b="0" i="0">
                <a:solidFill>
                  <a:srgbClr val="667085"/>
                </a:solidFill>
                <a:latin typeface="Arial"/>
                <a:ea typeface="Arial"/>
                <a:cs typeface="Arial"/>
              </a:rPr>
              <a:t>La página 1 combina volumen, mediana observada, demora alta y solicitudes sin duración.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F41BF6A-8A8D-478C-ACBA-328452C7E8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526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DEE8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74AECAD-761C-4717-A6CC-F8D4E3F97B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66950"/>
            <a:ext cx="3429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3450" b="1" i="0">
                <a:solidFill>
                  <a:srgbClr val="14243D"/>
                </a:solidFill>
                <a:latin typeface="Arial"/>
                <a:ea typeface="Arial"/>
                <a:cs typeface="Arial"/>
              </a:defRPr>
            </a:defPPr>
            <a:lvl1pPr algn="l">
              <a:defRPr sz="3450" b="1" i="0">
                <a:solidFill>
                  <a:srgbClr val="14243D"/>
                </a:solidFill>
                <a:latin typeface="Arial"/>
                <a:ea typeface="Arial"/>
                <a:cs typeface="Arial"/>
              </a:defRPr>
            </a:lvl1pPr>
            <a:lvl2pPr algn="l">
              <a:defRPr sz="3450" b="1" i="0">
                <a:solidFill>
                  <a:srgbClr val="14243D"/>
                </a:solidFill>
                <a:latin typeface="Arial"/>
                <a:ea typeface="Arial"/>
                <a:cs typeface="Arial"/>
              </a:defRPr>
            </a:lvl2pPr>
            <a:lvl3pPr algn="l">
              <a:defRPr sz="3450" b="1" i="0">
                <a:solidFill>
                  <a:srgbClr val="14243D"/>
                </a:solidFill>
                <a:latin typeface="Arial"/>
                <a:ea typeface="Arial"/>
                <a:cs typeface="Arial"/>
              </a:defRPr>
            </a:lvl3pPr>
            <a:lvl4pPr algn="l">
              <a:defRPr sz="3450" b="1" i="0">
                <a:solidFill>
                  <a:srgbClr val="14243D"/>
                </a:solidFill>
                <a:latin typeface="Arial"/>
                <a:ea typeface="Arial"/>
                <a:cs typeface="Arial"/>
              </a:defRPr>
            </a:lvl4pPr>
            <a:lvl5pPr algn="l">
              <a:defRPr sz="3450" b="1" i="0">
                <a:solidFill>
                  <a:srgbClr val="14243D"/>
                </a:solidFill>
                <a:latin typeface="Arial"/>
                <a:ea typeface="Arial"/>
                <a:cs typeface="Arial"/>
              </a:defRPr>
            </a:lvl5pPr>
            <a:lvl6pPr algn="l">
              <a:defRPr sz="3450" b="1" i="0">
                <a:solidFill>
                  <a:srgbClr val="14243D"/>
                </a:solidFill>
                <a:latin typeface="Arial"/>
                <a:ea typeface="Arial"/>
                <a:cs typeface="Arial"/>
              </a:defRPr>
            </a:lvl6pPr>
            <a:lvl7pPr algn="l">
              <a:defRPr sz="3450" b="1" i="0">
                <a:solidFill>
                  <a:srgbClr val="14243D"/>
                </a:solidFill>
                <a:latin typeface="Arial"/>
                <a:ea typeface="Arial"/>
                <a:cs typeface="Arial"/>
              </a:defRPr>
            </a:lvl7pPr>
            <a:lvl8pPr algn="l">
              <a:defRPr sz="3450" b="1" i="0">
                <a:solidFill>
                  <a:srgbClr val="14243D"/>
                </a:solidFill>
                <a:latin typeface="Arial"/>
                <a:ea typeface="Arial"/>
                <a:cs typeface="Arial"/>
              </a:defRPr>
            </a:lvl8pPr>
            <a:lvl9pPr algn="l">
              <a:defRPr sz="3450" b="1" i="0">
                <a:solidFill>
                  <a:srgbClr val="14243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3450" b="1" i="0">
                <a:solidFill>
                  <a:srgbClr val="14243D"/>
                </a:solidFill>
                <a:latin typeface="Arial"/>
                <a:ea typeface="Arial"/>
                <a:cs typeface="Arial"/>
              </a:defRPr>
            </a:pPr>
            <a:r>
              <a:rPr sz="3450" b="1" i="0">
                <a:solidFill>
                  <a:srgbClr val="14243D"/>
                </a:solidFill>
                <a:latin typeface="Arial"/>
                <a:ea typeface="Arial"/>
                <a:cs typeface="Arial"/>
              </a:rPr>
              <a:t>1,312,465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32987FA-866E-41DA-9099-97D38EA684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19400"/>
            <a:ext cx="3429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200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defPPr>
            <a:lvl1pPr algn="l">
              <a:defRPr sz="1200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lvl1pPr>
            <a:lvl2pPr algn="l">
              <a:defRPr sz="1200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lvl2pPr>
            <a:lvl3pPr algn="l">
              <a:defRPr sz="1200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lvl3pPr>
            <a:lvl4pPr algn="l">
              <a:defRPr sz="1200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lvl4pPr>
            <a:lvl5pPr algn="l">
              <a:defRPr sz="1200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lvl5pPr>
            <a:lvl6pPr algn="l">
              <a:defRPr sz="1200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lvl6pPr>
            <a:lvl7pPr algn="l">
              <a:defRPr sz="1200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lvl7pPr>
            <a:lvl8pPr algn="l">
              <a:defRPr sz="1200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lvl8pPr>
            <a:lvl9pPr algn="l">
              <a:defRPr sz="1200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1200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1200" b="0" i="0">
                <a:solidFill>
                  <a:srgbClr val="667085"/>
                </a:solidFill>
                <a:latin typeface="Arial"/>
                <a:ea typeface="Arial"/>
                <a:cs typeface="Arial"/>
              </a:rPr>
              <a:t>solicitudes distintas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8362489-16A6-4777-AAD5-9E58AACA00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429000"/>
            <a:ext cx="3429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3450" b="1" i="0">
                <a:solidFill>
                  <a:srgbClr val="6D4AFF"/>
                </a:solidFill>
                <a:latin typeface="Arial"/>
                <a:ea typeface="Arial"/>
                <a:cs typeface="Arial"/>
              </a:defRPr>
            </a:defPPr>
            <a:lvl1pPr algn="l">
              <a:defRPr sz="3450" b="1" i="0">
                <a:solidFill>
                  <a:srgbClr val="6D4AFF"/>
                </a:solidFill>
                <a:latin typeface="Arial"/>
                <a:ea typeface="Arial"/>
                <a:cs typeface="Arial"/>
              </a:defRPr>
            </a:lvl1pPr>
            <a:lvl2pPr algn="l">
              <a:defRPr sz="3450" b="1" i="0">
                <a:solidFill>
                  <a:srgbClr val="6D4AFF"/>
                </a:solidFill>
                <a:latin typeface="Arial"/>
                <a:ea typeface="Arial"/>
                <a:cs typeface="Arial"/>
              </a:defRPr>
            </a:lvl2pPr>
            <a:lvl3pPr algn="l">
              <a:defRPr sz="3450" b="1" i="0">
                <a:solidFill>
                  <a:srgbClr val="6D4AFF"/>
                </a:solidFill>
                <a:latin typeface="Arial"/>
                <a:ea typeface="Arial"/>
                <a:cs typeface="Arial"/>
              </a:defRPr>
            </a:lvl3pPr>
            <a:lvl4pPr algn="l">
              <a:defRPr sz="3450" b="1" i="0">
                <a:solidFill>
                  <a:srgbClr val="6D4AFF"/>
                </a:solidFill>
                <a:latin typeface="Arial"/>
                <a:ea typeface="Arial"/>
                <a:cs typeface="Arial"/>
              </a:defRPr>
            </a:lvl4pPr>
            <a:lvl5pPr algn="l">
              <a:defRPr sz="3450" b="1" i="0">
                <a:solidFill>
                  <a:srgbClr val="6D4AFF"/>
                </a:solidFill>
                <a:latin typeface="Arial"/>
                <a:ea typeface="Arial"/>
                <a:cs typeface="Arial"/>
              </a:defRPr>
            </a:lvl5pPr>
            <a:lvl6pPr algn="l">
              <a:defRPr sz="3450" b="1" i="0">
                <a:solidFill>
                  <a:srgbClr val="6D4AFF"/>
                </a:solidFill>
                <a:latin typeface="Arial"/>
                <a:ea typeface="Arial"/>
                <a:cs typeface="Arial"/>
              </a:defRPr>
            </a:lvl6pPr>
            <a:lvl7pPr algn="l">
              <a:defRPr sz="3450" b="1" i="0">
                <a:solidFill>
                  <a:srgbClr val="6D4AFF"/>
                </a:solidFill>
                <a:latin typeface="Arial"/>
                <a:ea typeface="Arial"/>
                <a:cs typeface="Arial"/>
              </a:defRPr>
            </a:lvl7pPr>
            <a:lvl8pPr algn="l">
              <a:defRPr sz="3450" b="1" i="0">
                <a:solidFill>
                  <a:srgbClr val="6D4AFF"/>
                </a:solidFill>
                <a:latin typeface="Arial"/>
                <a:ea typeface="Arial"/>
                <a:cs typeface="Arial"/>
              </a:defRPr>
            </a:lvl8pPr>
            <a:lvl9pPr algn="l">
              <a:defRPr sz="3450" b="1" i="0">
                <a:solidFill>
                  <a:srgbClr val="6D4A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3450" b="1" i="0">
                <a:solidFill>
                  <a:srgbClr val="6D4AFF"/>
                </a:solidFill>
                <a:latin typeface="Arial"/>
                <a:ea typeface="Arial"/>
                <a:cs typeface="Arial"/>
              </a:defRPr>
            </a:pPr>
            <a:r>
              <a:rPr sz="3450" b="1" i="0">
                <a:solidFill>
                  <a:srgbClr val="6D4AFF"/>
                </a:solidFill>
                <a:latin typeface="Arial"/>
                <a:ea typeface="Arial"/>
                <a:cs typeface="Arial"/>
              </a:rPr>
              <a:t>330 min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B806CCF-0B5A-4498-9D71-01FA2BBEB6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981450"/>
            <a:ext cx="3429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200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defPPr>
            <a:lvl1pPr algn="l">
              <a:defRPr sz="1200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lvl1pPr>
            <a:lvl2pPr algn="l">
              <a:defRPr sz="1200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lvl2pPr>
            <a:lvl3pPr algn="l">
              <a:defRPr sz="1200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lvl3pPr>
            <a:lvl4pPr algn="l">
              <a:defRPr sz="1200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lvl4pPr>
            <a:lvl5pPr algn="l">
              <a:defRPr sz="1200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lvl5pPr>
            <a:lvl6pPr algn="l">
              <a:defRPr sz="1200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lvl6pPr>
            <a:lvl7pPr algn="l">
              <a:defRPr sz="1200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lvl7pPr>
            <a:lvl8pPr algn="l">
              <a:defRPr sz="1200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lvl8pPr>
            <a:lvl9pPr algn="l">
              <a:defRPr sz="1200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1200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1200" b="0" i="0">
                <a:solidFill>
                  <a:srgbClr val="667085"/>
                </a:solidFill>
                <a:latin typeface="Arial"/>
                <a:ea typeface="Arial"/>
                <a:cs typeface="Arial"/>
              </a:rPr>
              <a:t>mediana observada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803494E-9E59-4B38-92E0-56A1FB4FD6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19650"/>
            <a:ext cx="333375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350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defPPr>
            <a:lvl1pPr algn="l">
              <a:defRPr sz="1350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lvl1pPr>
            <a:lvl2pPr algn="l">
              <a:defRPr sz="1350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lvl2pPr>
            <a:lvl3pPr algn="l">
              <a:defRPr sz="1350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lvl3pPr>
            <a:lvl4pPr algn="l">
              <a:defRPr sz="1350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lvl4pPr>
            <a:lvl5pPr algn="l">
              <a:defRPr sz="1350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lvl5pPr>
            <a:lvl6pPr algn="l">
              <a:defRPr sz="1350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lvl6pPr>
            <a:lvl7pPr algn="l">
              <a:defRPr sz="1350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lvl7pPr>
            <a:lvl8pPr algn="l">
              <a:defRPr sz="1350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lvl8pPr>
            <a:lvl9pPr algn="l">
              <a:defRPr sz="1350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lnSpc>
                <a:spcPct val="108000"/>
              </a:lnSpc>
              <a:buNone/>
              <a:defRPr sz="1350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1350" b="0" i="0">
                <a:solidFill>
                  <a:srgbClr val="667085"/>
                </a:solidFill>
                <a:latin typeface="Arial"/>
                <a:ea typeface="Arial"/>
                <a:cs typeface="Arial"/>
              </a:rPr>
              <a:t>La primera lectura debe responder tres preguntas: cuánto entra, cuánto tarda y qué parte no puede clasificarse por falta de duración.</a:t>
            </a:r>
          </a:p>
        </p:txBody>
      </p:sp>
      <p:graphicFrame>
        <p:nvGraphicFramePr>
          <p:cNvPr id="11" name="Chart">
            <a:extLst xmlns:a="http://schemas.openxmlformats.org/drawingml/2006/main">
              <a:ext uri="{FF2B5EF4-FFF2-40B4-BE49-F238E27FC236}">
                <a16:creationId xmlns:a16="http://schemas.microsoft.com/office/drawing/2014/main" id="{4959E949-CC9D-437D-8B8A-7AEF95218D07}"/>
              </a:ext>
            </a:extLst>
          </p:cNvPr>
          <p:cNvGraphicFramePr/>
          <p:nvPr/>
        </p:nvGraphicFramePr>
        <p:xfrm>
          <a:off xmlns:a="http://schemas.openxmlformats.org/drawingml/2006/main" x="4686300" y="2038350"/>
          <a:ext xmlns:a="http://schemas.openxmlformats.org/drawingml/2006/main" cx="6953250" cy="28575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ee32305d393b4d8e"/>
          </a:graphicData>
        </a:graphic>
      </p:graphicFrame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E092B78-EF50-4669-9563-7C166F3D9E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6300" y="5219700"/>
            <a:ext cx="6953250" cy="1066800"/>
          </a:xfrm>
          <a:prstGeom xmlns:a="http://schemas.openxmlformats.org/drawingml/2006/main" prst="roundRect">
            <a:avLst>
              <a:gd name="adj" fmla="val 10714"/>
            </a:avLst>
          </a:prstGeom>
          <a:solidFill xmlns:a="http://schemas.openxmlformats.org/drawingml/2006/main">
            <a:srgbClr val="DCE8FF"/>
          </a:solidFill>
          <a:ln xmlns:a="http://schemas.openxmlformats.org/drawingml/2006/main" w="0">
            <a:solidFill>
              <a:srgbClr val="DCE8FF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AF23A97-595A-47D9-A94B-47B6D8DC80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5410200"/>
            <a:ext cx="209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200" b="1" i="0">
                <a:solidFill>
                  <a:srgbClr val="2463EB"/>
                </a:solidFill>
                <a:latin typeface="Arial"/>
                <a:ea typeface="Arial"/>
                <a:cs typeface="Arial"/>
              </a:defRPr>
            </a:defPPr>
            <a:lvl1pPr algn="l">
              <a:defRPr sz="1200" b="1" i="0">
                <a:solidFill>
                  <a:srgbClr val="2463EB"/>
                </a:solidFill>
                <a:latin typeface="Arial"/>
                <a:ea typeface="Arial"/>
                <a:cs typeface="Arial"/>
              </a:defRPr>
            </a:lvl1pPr>
            <a:lvl2pPr algn="l">
              <a:defRPr sz="1200" b="1" i="0">
                <a:solidFill>
                  <a:srgbClr val="2463EB"/>
                </a:solidFill>
                <a:latin typeface="Arial"/>
                <a:ea typeface="Arial"/>
                <a:cs typeface="Arial"/>
              </a:defRPr>
            </a:lvl2pPr>
            <a:lvl3pPr algn="l">
              <a:defRPr sz="1200" b="1" i="0">
                <a:solidFill>
                  <a:srgbClr val="2463EB"/>
                </a:solidFill>
                <a:latin typeface="Arial"/>
                <a:ea typeface="Arial"/>
                <a:cs typeface="Arial"/>
              </a:defRPr>
            </a:lvl3pPr>
            <a:lvl4pPr algn="l">
              <a:defRPr sz="1200" b="1" i="0">
                <a:solidFill>
                  <a:srgbClr val="2463EB"/>
                </a:solidFill>
                <a:latin typeface="Arial"/>
                <a:ea typeface="Arial"/>
                <a:cs typeface="Arial"/>
              </a:defRPr>
            </a:lvl4pPr>
            <a:lvl5pPr algn="l">
              <a:defRPr sz="1200" b="1" i="0">
                <a:solidFill>
                  <a:srgbClr val="2463EB"/>
                </a:solidFill>
                <a:latin typeface="Arial"/>
                <a:ea typeface="Arial"/>
                <a:cs typeface="Arial"/>
              </a:defRPr>
            </a:lvl5pPr>
            <a:lvl6pPr algn="l">
              <a:defRPr sz="1200" b="1" i="0">
                <a:solidFill>
                  <a:srgbClr val="2463EB"/>
                </a:solidFill>
                <a:latin typeface="Arial"/>
                <a:ea typeface="Arial"/>
                <a:cs typeface="Arial"/>
              </a:defRPr>
            </a:lvl6pPr>
            <a:lvl7pPr algn="l">
              <a:defRPr sz="1200" b="1" i="0">
                <a:solidFill>
                  <a:srgbClr val="2463EB"/>
                </a:solidFill>
                <a:latin typeface="Arial"/>
                <a:ea typeface="Arial"/>
                <a:cs typeface="Arial"/>
              </a:defRPr>
            </a:lvl7pPr>
            <a:lvl8pPr algn="l">
              <a:defRPr sz="1200" b="1" i="0">
                <a:solidFill>
                  <a:srgbClr val="2463EB"/>
                </a:solidFill>
                <a:latin typeface="Arial"/>
                <a:ea typeface="Arial"/>
                <a:cs typeface="Arial"/>
              </a:defRPr>
            </a:lvl8pPr>
            <a:lvl9pPr algn="l">
              <a:defRPr sz="1200" b="1" i="0">
                <a:solidFill>
                  <a:srgbClr val="2463E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1200" b="1" i="0">
                <a:solidFill>
                  <a:srgbClr val="2463EB"/>
                </a:solidFill>
                <a:latin typeface="Arial"/>
                <a:ea typeface="Arial"/>
                <a:cs typeface="Arial"/>
              </a:defRPr>
            </a:pPr>
            <a:r>
              <a:rPr sz="1200" b="1" i="0">
                <a:solidFill>
                  <a:srgbClr val="2463EB"/>
                </a:solidFill>
                <a:latin typeface="Arial"/>
                <a:ea typeface="Arial"/>
                <a:cs typeface="Arial"/>
              </a:rPr>
              <a:t>Lectura de gestión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53BC8B9-8BED-4FCD-86DB-3172DCF593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5695950"/>
            <a:ext cx="6191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79365"/>
          </a:bodyPr>
          <a:lstStyle xmlns:a="http://schemas.openxmlformats.org/drawingml/2006/main">
            <a:defPPr algn="l">
              <a:defRPr sz="1350" b="1" i="0">
                <a:solidFill>
                  <a:srgbClr val="14243D"/>
                </a:solidFill>
                <a:latin typeface="Arial"/>
                <a:ea typeface="Arial"/>
                <a:cs typeface="Arial"/>
              </a:defRPr>
            </a:defPPr>
            <a:lvl1pPr algn="l">
              <a:defRPr sz="1350" b="1" i="0">
                <a:solidFill>
                  <a:srgbClr val="14243D"/>
                </a:solidFill>
                <a:latin typeface="Arial"/>
                <a:ea typeface="Arial"/>
                <a:cs typeface="Arial"/>
              </a:defRPr>
            </a:lvl1pPr>
            <a:lvl2pPr algn="l">
              <a:defRPr sz="1350" b="1" i="0">
                <a:solidFill>
                  <a:srgbClr val="14243D"/>
                </a:solidFill>
                <a:latin typeface="Arial"/>
                <a:ea typeface="Arial"/>
                <a:cs typeface="Arial"/>
              </a:defRPr>
            </a:lvl2pPr>
            <a:lvl3pPr algn="l">
              <a:defRPr sz="1350" b="1" i="0">
                <a:solidFill>
                  <a:srgbClr val="14243D"/>
                </a:solidFill>
                <a:latin typeface="Arial"/>
                <a:ea typeface="Arial"/>
                <a:cs typeface="Arial"/>
              </a:defRPr>
            </a:lvl3pPr>
            <a:lvl4pPr algn="l">
              <a:defRPr sz="1350" b="1" i="0">
                <a:solidFill>
                  <a:srgbClr val="14243D"/>
                </a:solidFill>
                <a:latin typeface="Arial"/>
                <a:ea typeface="Arial"/>
                <a:cs typeface="Arial"/>
              </a:defRPr>
            </a:lvl4pPr>
            <a:lvl5pPr algn="l">
              <a:defRPr sz="1350" b="1" i="0">
                <a:solidFill>
                  <a:srgbClr val="14243D"/>
                </a:solidFill>
                <a:latin typeface="Arial"/>
                <a:ea typeface="Arial"/>
                <a:cs typeface="Arial"/>
              </a:defRPr>
            </a:lvl5pPr>
            <a:lvl6pPr algn="l">
              <a:defRPr sz="1350" b="1" i="0">
                <a:solidFill>
                  <a:srgbClr val="14243D"/>
                </a:solidFill>
                <a:latin typeface="Arial"/>
                <a:ea typeface="Arial"/>
                <a:cs typeface="Arial"/>
              </a:defRPr>
            </a:lvl6pPr>
            <a:lvl7pPr algn="l">
              <a:defRPr sz="1350" b="1" i="0">
                <a:solidFill>
                  <a:srgbClr val="14243D"/>
                </a:solidFill>
                <a:latin typeface="Arial"/>
                <a:ea typeface="Arial"/>
                <a:cs typeface="Arial"/>
              </a:defRPr>
            </a:lvl7pPr>
            <a:lvl8pPr algn="l">
              <a:defRPr sz="1350" b="1" i="0">
                <a:solidFill>
                  <a:srgbClr val="14243D"/>
                </a:solidFill>
                <a:latin typeface="Arial"/>
                <a:ea typeface="Arial"/>
                <a:cs typeface="Arial"/>
              </a:defRPr>
            </a:lvl8pPr>
            <a:lvl9pPr algn="l">
              <a:defRPr sz="1350" b="1" i="0">
                <a:solidFill>
                  <a:srgbClr val="14243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1350" b="1" i="0">
                <a:solidFill>
                  <a:srgbClr val="14243D"/>
                </a:solidFill>
                <a:latin typeface="Arial"/>
                <a:ea typeface="Arial"/>
                <a:cs typeface="Arial"/>
              </a:defRPr>
            </a:pPr>
            <a:r>
              <a:rPr sz="1350" b="1" i="0">
                <a:solidFill>
                  <a:srgbClr val="14243D"/>
                </a:solidFill>
                <a:latin typeface="Arial"/>
                <a:ea typeface="Arial"/>
                <a:cs typeface="Arial"/>
              </a:rPr>
              <a:t>La demora alta se calcula solo sobre cierres observados; los 63,467 casos sin duración permanecen como sin clasificar.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79BB0D2-6BF3-4786-89E8-308958C1DD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10972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900" b="0" i="0">
                <a:solidFill>
                  <a:srgbClr val="98A2B3"/>
                </a:solidFill>
                <a:latin typeface="Arial"/>
                <a:ea typeface="Arial"/>
                <a:cs typeface="Arial"/>
              </a:defRPr>
            </a:defPPr>
            <a:lvl1pPr algn="l">
              <a:defRPr sz="900" b="0" i="0">
                <a:solidFill>
                  <a:srgbClr val="98A2B3"/>
                </a:solidFill>
                <a:latin typeface="Arial"/>
                <a:ea typeface="Arial"/>
                <a:cs typeface="Arial"/>
              </a:defRPr>
            </a:lvl1pPr>
            <a:lvl2pPr algn="l">
              <a:defRPr sz="900" b="0" i="0">
                <a:solidFill>
                  <a:srgbClr val="98A2B3"/>
                </a:solidFill>
                <a:latin typeface="Arial"/>
                <a:ea typeface="Arial"/>
                <a:cs typeface="Arial"/>
              </a:defRPr>
            </a:lvl2pPr>
            <a:lvl3pPr algn="l">
              <a:defRPr sz="900" b="0" i="0">
                <a:solidFill>
                  <a:srgbClr val="98A2B3"/>
                </a:solidFill>
                <a:latin typeface="Arial"/>
                <a:ea typeface="Arial"/>
                <a:cs typeface="Arial"/>
              </a:defRPr>
            </a:lvl3pPr>
            <a:lvl4pPr algn="l">
              <a:defRPr sz="900" b="0" i="0">
                <a:solidFill>
                  <a:srgbClr val="98A2B3"/>
                </a:solidFill>
                <a:latin typeface="Arial"/>
                <a:ea typeface="Arial"/>
                <a:cs typeface="Arial"/>
              </a:defRPr>
            </a:lvl4pPr>
            <a:lvl5pPr algn="l">
              <a:defRPr sz="900" b="0" i="0">
                <a:solidFill>
                  <a:srgbClr val="98A2B3"/>
                </a:solidFill>
                <a:latin typeface="Arial"/>
                <a:ea typeface="Arial"/>
                <a:cs typeface="Arial"/>
              </a:defRPr>
            </a:lvl5pPr>
            <a:lvl6pPr algn="l">
              <a:defRPr sz="900" b="0" i="0">
                <a:solidFill>
                  <a:srgbClr val="98A2B3"/>
                </a:solidFill>
                <a:latin typeface="Arial"/>
                <a:ea typeface="Arial"/>
                <a:cs typeface="Arial"/>
              </a:defRPr>
            </a:lvl6pPr>
            <a:lvl7pPr algn="l">
              <a:defRPr sz="900" b="0" i="0">
                <a:solidFill>
                  <a:srgbClr val="98A2B3"/>
                </a:solidFill>
                <a:latin typeface="Arial"/>
                <a:ea typeface="Arial"/>
                <a:cs typeface="Arial"/>
              </a:defRPr>
            </a:lvl7pPr>
            <a:lvl8pPr algn="l">
              <a:defRPr sz="900" b="0" i="0">
                <a:solidFill>
                  <a:srgbClr val="98A2B3"/>
                </a:solidFill>
                <a:latin typeface="Arial"/>
                <a:ea typeface="Arial"/>
                <a:cs typeface="Arial"/>
              </a:defRPr>
            </a:lvl8pPr>
            <a:lvl9pPr algn="l">
              <a:defRPr sz="900" b="0" i="0">
                <a:solidFill>
                  <a:srgbClr val="98A2B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900" b="0" i="0">
                <a:solidFill>
                  <a:srgbClr val="98A2B3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98A2B3"/>
                </a:solidFill>
                <a:latin typeface="Arial"/>
                <a:ea typeface="Arial"/>
                <a:cs typeface="Arial"/>
              </a:rPr>
              <a:t>Fuente: PBIX final y validación del modelo. Las cifras se presentan como conteos del universo, no como captura de pantalla.</a:t>
            </a:r>
          </a:p>
        </p:txBody>
      </p:sp>
    </p:spTree>
    <p:extLst>
      <p:ext uri="{BB962C8B-B14F-4D97-AF65-F5344CB8AC3E}">
        <p14:creationId xmlns:p14="http://schemas.microsoft.com/office/powerpoint/2010/main" val="35156535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7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3E33838-0141-49FC-B12B-E922C0EB74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2667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975" b="1" i="0">
                <a:solidFill>
                  <a:srgbClr val="2463EB"/>
                </a:solidFill>
                <a:latin typeface="Arial"/>
                <a:ea typeface="Arial"/>
                <a:cs typeface="Arial"/>
              </a:defRPr>
            </a:defPPr>
            <a:lvl1pPr algn="l">
              <a:defRPr sz="975" b="1" i="0">
                <a:solidFill>
                  <a:srgbClr val="2463EB"/>
                </a:solidFill>
                <a:latin typeface="Arial"/>
                <a:ea typeface="Arial"/>
                <a:cs typeface="Arial"/>
              </a:defRPr>
            </a:lvl1pPr>
            <a:lvl2pPr algn="l">
              <a:defRPr sz="975" b="1" i="0">
                <a:solidFill>
                  <a:srgbClr val="2463EB"/>
                </a:solidFill>
                <a:latin typeface="Arial"/>
                <a:ea typeface="Arial"/>
                <a:cs typeface="Arial"/>
              </a:defRPr>
            </a:lvl2pPr>
            <a:lvl3pPr algn="l">
              <a:defRPr sz="975" b="1" i="0">
                <a:solidFill>
                  <a:srgbClr val="2463EB"/>
                </a:solidFill>
                <a:latin typeface="Arial"/>
                <a:ea typeface="Arial"/>
                <a:cs typeface="Arial"/>
              </a:defRPr>
            </a:lvl3pPr>
            <a:lvl4pPr algn="l">
              <a:defRPr sz="975" b="1" i="0">
                <a:solidFill>
                  <a:srgbClr val="2463EB"/>
                </a:solidFill>
                <a:latin typeface="Arial"/>
                <a:ea typeface="Arial"/>
                <a:cs typeface="Arial"/>
              </a:defRPr>
            </a:lvl4pPr>
            <a:lvl5pPr algn="l">
              <a:defRPr sz="975" b="1" i="0">
                <a:solidFill>
                  <a:srgbClr val="2463EB"/>
                </a:solidFill>
                <a:latin typeface="Arial"/>
                <a:ea typeface="Arial"/>
                <a:cs typeface="Arial"/>
              </a:defRPr>
            </a:lvl5pPr>
            <a:lvl6pPr algn="l">
              <a:defRPr sz="975" b="1" i="0">
                <a:solidFill>
                  <a:srgbClr val="2463EB"/>
                </a:solidFill>
                <a:latin typeface="Arial"/>
                <a:ea typeface="Arial"/>
                <a:cs typeface="Arial"/>
              </a:defRPr>
            </a:lvl6pPr>
            <a:lvl7pPr algn="l">
              <a:defRPr sz="975" b="1" i="0">
                <a:solidFill>
                  <a:srgbClr val="2463EB"/>
                </a:solidFill>
                <a:latin typeface="Arial"/>
                <a:ea typeface="Arial"/>
                <a:cs typeface="Arial"/>
              </a:defRPr>
            </a:lvl7pPr>
            <a:lvl8pPr algn="l">
              <a:defRPr sz="975" b="1" i="0">
                <a:solidFill>
                  <a:srgbClr val="2463EB"/>
                </a:solidFill>
                <a:latin typeface="Arial"/>
                <a:ea typeface="Arial"/>
                <a:cs typeface="Arial"/>
              </a:defRPr>
            </a:lvl8pPr>
            <a:lvl9pPr algn="l">
              <a:defRPr sz="975" b="1" i="0">
                <a:solidFill>
                  <a:srgbClr val="2463E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975" b="1" i="0">
                <a:solidFill>
                  <a:srgbClr val="2463EB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2463EB"/>
                </a:solidFill>
                <a:latin typeface="Arial"/>
                <a:ea typeface="Arial"/>
                <a:cs typeface="Arial"/>
              </a:rPr>
              <a:t>NYC311 / FASE 3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06BEA14-4002-4284-8AE4-97952ADB83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44200" y="285750"/>
            <a:ext cx="8382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975" b="1" i="0">
                <a:solidFill>
                  <a:srgbClr val="98A2B3"/>
                </a:solidFill>
                <a:latin typeface="Arial"/>
                <a:ea typeface="Arial"/>
                <a:cs typeface="Arial"/>
              </a:defRPr>
            </a:defPPr>
            <a:lvl1pPr algn="r">
              <a:defRPr sz="975" b="1" i="0">
                <a:solidFill>
                  <a:srgbClr val="98A2B3"/>
                </a:solidFill>
                <a:latin typeface="Arial"/>
                <a:ea typeface="Arial"/>
                <a:cs typeface="Arial"/>
              </a:defRPr>
            </a:lvl1pPr>
            <a:lvl2pPr algn="r">
              <a:defRPr sz="975" b="1" i="0">
                <a:solidFill>
                  <a:srgbClr val="98A2B3"/>
                </a:solidFill>
                <a:latin typeface="Arial"/>
                <a:ea typeface="Arial"/>
                <a:cs typeface="Arial"/>
              </a:defRPr>
            </a:lvl2pPr>
            <a:lvl3pPr algn="r">
              <a:defRPr sz="975" b="1" i="0">
                <a:solidFill>
                  <a:srgbClr val="98A2B3"/>
                </a:solidFill>
                <a:latin typeface="Arial"/>
                <a:ea typeface="Arial"/>
                <a:cs typeface="Arial"/>
              </a:defRPr>
            </a:lvl3pPr>
            <a:lvl4pPr algn="r">
              <a:defRPr sz="975" b="1" i="0">
                <a:solidFill>
                  <a:srgbClr val="98A2B3"/>
                </a:solidFill>
                <a:latin typeface="Arial"/>
                <a:ea typeface="Arial"/>
                <a:cs typeface="Arial"/>
              </a:defRPr>
            </a:lvl4pPr>
            <a:lvl5pPr algn="r">
              <a:defRPr sz="975" b="1" i="0">
                <a:solidFill>
                  <a:srgbClr val="98A2B3"/>
                </a:solidFill>
                <a:latin typeface="Arial"/>
                <a:ea typeface="Arial"/>
                <a:cs typeface="Arial"/>
              </a:defRPr>
            </a:lvl5pPr>
            <a:lvl6pPr algn="r">
              <a:defRPr sz="975" b="1" i="0">
                <a:solidFill>
                  <a:srgbClr val="98A2B3"/>
                </a:solidFill>
                <a:latin typeface="Arial"/>
                <a:ea typeface="Arial"/>
                <a:cs typeface="Arial"/>
              </a:defRPr>
            </a:lvl6pPr>
            <a:lvl7pPr algn="r">
              <a:defRPr sz="975" b="1" i="0">
                <a:solidFill>
                  <a:srgbClr val="98A2B3"/>
                </a:solidFill>
                <a:latin typeface="Arial"/>
                <a:ea typeface="Arial"/>
                <a:cs typeface="Arial"/>
              </a:defRPr>
            </a:lvl7pPr>
            <a:lvl8pPr algn="r">
              <a:defRPr sz="975" b="1" i="0">
                <a:solidFill>
                  <a:srgbClr val="98A2B3"/>
                </a:solidFill>
                <a:latin typeface="Arial"/>
                <a:ea typeface="Arial"/>
                <a:cs typeface="Arial"/>
              </a:defRPr>
            </a:lvl8pPr>
            <a:lvl9pPr algn="r">
              <a:defRPr sz="975" b="1" i="0">
                <a:solidFill>
                  <a:srgbClr val="98A2B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r">
              <a:lnSpc>
                <a:spcPct val="105000"/>
              </a:lnSpc>
              <a:buNone/>
              <a:defRPr sz="975" b="1" i="0">
                <a:solidFill>
                  <a:srgbClr val="98A2B3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98A2B3"/>
                </a:solidFill>
                <a:latin typeface="Arial"/>
                <a:ea typeface="Arial"/>
                <a:cs typeface="Arial"/>
              </a:rPr>
              <a:t>09 / 13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EFEFCA8-5C70-4B50-A31E-A8CBCF3F57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"/>
            <a:ext cx="9906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2850" b="1" i="0">
                <a:solidFill>
                  <a:srgbClr val="14243D"/>
                </a:solidFill>
                <a:latin typeface="Arial"/>
                <a:ea typeface="Arial"/>
                <a:cs typeface="Arial"/>
              </a:defRPr>
            </a:defPPr>
            <a:lvl1pPr algn="l">
              <a:defRPr sz="2850" b="1" i="0">
                <a:solidFill>
                  <a:srgbClr val="14243D"/>
                </a:solidFill>
                <a:latin typeface="Arial"/>
                <a:ea typeface="Arial"/>
                <a:cs typeface="Arial"/>
              </a:defRPr>
            </a:lvl1pPr>
            <a:lvl2pPr algn="l">
              <a:defRPr sz="2850" b="1" i="0">
                <a:solidFill>
                  <a:srgbClr val="14243D"/>
                </a:solidFill>
                <a:latin typeface="Arial"/>
                <a:ea typeface="Arial"/>
                <a:cs typeface="Arial"/>
              </a:defRPr>
            </a:lvl2pPr>
            <a:lvl3pPr algn="l">
              <a:defRPr sz="2850" b="1" i="0">
                <a:solidFill>
                  <a:srgbClr val="14243D"/>
                </a:solidFill>
                <a:latin typeface="Arial"/>
                <a:ea typeface="Arial"/>
                <a:cs typeface="Arial"/>
              </a:defRPr>
            </a:lvl3pPr>
            <a:lvl4pPr algn="l">
              <a:defRPr sz="2850" b="1" i="0">
                <a:solidFill>
                  <a:srgbClr val="14243D"/>
                </a:solidFill>
                <a:latin typeface="Arial"/>
                <a:ea typeface="Arial"/>
                <a:cs typeface="Arial"/>
              </a:defRPr>
            </a:lvl4pPr>
            <a:lvl5pPr algn="l">
              <a:defRPr sz="2850" b="1" i="0">
                <a:solidFill>
                  <a:srgbClr val="14243D"/>
                </a:solidFill>
                <a:latin typeface="Arial"/>
                <a:ea typeface="Arial"/>
                <a:cs typeface="Arial"/>
              </a:defRPr>
            </a:lvl5pPr>
            <a:lvl6pPr algn="l">
              <a:defRPr sz="2850" b="1" i="0">
                <a:solidFill>
                  <a:srgbClr val="14243D"/>
                </a:solidFill>
                <a:latin typeface="Arial"/>
                <a:ea typeface="Arial"/>
                <a:cs typeface="Arial"/>
              </a:defRPr>
            </a:lvl6pPr>
            <a:lvl7pPr algn="l">
              <a:defRPr sz="2850" b="1" i="0">
                <a:solidFill>
                  <a:srgbClr val="14243D"/>
                </a:solidFill>
                <a:latin typeface="Arial"/>
                <a:ea typeface="Arial"/>
                <a:cs typeface="Arial"/>
              </a:defRPr>
            </a:lvl7pPr>
            <a:lvl8pPr algn="l">
              <a:defRPr sz="2850" b="1" i="0">
                <a:solidFill>
                  <a:srgbClr val="14243D"/>
                </a:solidFill>
                <a:latin typeface="Arial"/>
                <a:ea typeface="Arial"/>
                <a:cs typeface="Arial"/>
              </a:defRPr>
            </a:lvl8pPr>
            <a:lvl9pPr algn="l">
              <a:defRPr sz="2850" b="1" i="0">
                <a:solidFill>
                  <a:srgbClr val="14243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lnSpc>
                <a:spcPct val="95000"/>
              </a:lnSpc>
              <a:buNone/>
              <a:defRPr sz="2850" b="1" i="0">
                <a:solidFill>
                  <a:srgbClr val="14243D"/>
                </a:solidFill>
                <a:latin typeface="Arial"/>
                <a:ea typeface="Arial"/>
                <a:cs typeface="Arial"/>
              </a:defRPr>
            </a:pPr>
            <a:r>
              <a:rPr sz="2850" b="1" i="0">
                <a:solidFill>
                  <a:srgbClr val="14243D"/>
                </a:solidFill>
                <a:latin typeface="Arial"/>
                <a:ea typeface="Arial"/>
                <a:cs typeface="Arial"/>
              </a:rPr>
              <a:t>Diagnóstico operativo: dónde concentrar capacidad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7C57B9D-C59F-4186-A402-FF211F031D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95400"/>
            <a:ext cx="9906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350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defPPr>
            <a:lvl1pPr algn="l">
              <a:defRPr sz="1350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lvl1pPr>
            <a:lvl2pPr algn="l">
              <a:defRPr sz="1350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lvl2pPr>
            <a:lvl3pPr algn="l">
              <a:defRPr sz="1350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lvl3pPr>
            <a:lvl4pPr algn="l">
              <a:defRPr sz="1350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lvl4pPr>
            <a:lvl5pPr algn="l">
              <a:defRPr sz="1350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lvl5pPr>
            <a:lvl6pPr algn="l">
              <a:defRPr sz="1350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lvl6pPr>
            <a:lvl7pPr algn="l">
              <a:defRPr sz="1350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lvl7pPr>
            <a:lvl8pPr algn="l">
              <a:defRPr sz="1350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lvl8pPr>
            <a:lvl9pPr algn="l">
              <a:defRPr sz="1350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lnSpc>
                <a:spcPct val="100000"/>
              </a:lnSpc>
              <a:buNone/>
              <a:defRPr sz="1350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1350" b="0" i="0">
                <a:solidFill>
                  <a:srgbClr val="667085"/>
                </a:solidFill>
                <a:latin typeface="Arial"/>
                <a:ea typeface="Arial"/>
                <a:cs typeface="Arial"/>
              </a:rPr>
              <a:t>La página 2 cruza mediana observada, borough, canal y estado sin convertir NULL en demora normal.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E9C796C-3ED5-4FAB-86CC-DEE166099B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526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DEE8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87ECBB1-2980-422C-AFB7-67F8DF58A7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66950"/>
            <a:ext cx="2857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3450" b="1" i="0">
                <a:solidFill>
                  <a:srgbClr val="14243D"/>
                </a:solidFill>
                <a:latin typeface="Arial"/>
                <a:ea typeface="Arial"/>
                <a:cs typeface="Arial"/>
              </a:defRPr>
            </a:defPPr>
            <a:lvl1pPr algn="l">
              <a:defRPr sz="3450" b="1" i="0">
                <a:solidFill>
                  <a:srgbClr val="14243D"/>
                </a:solidFill>
                <a:latin typeface="Arial"/>
                <a:ea typeface="Arial"/>
                <a:cs typeface="Arial"/>
              </a:defRPr>
            </a:lvl1pPr>
            <a:lvl2pPr algn="l">
              <a:defRPr sz="3450" b="1" i="0">
                <a:solidFill>
                  <a:srgbClr val="14243D"/>
                </a:solidFill>
                <a:latin typeface="Arial"/>
                <a:ea typeface="Arial"/>
                <a:cs typeface="Arial"/>
              </a:defRPr>
            </a:lvl2pPr>
            <a:lvl3pPr algn="l">
              <a:defRPr sz="3450" b="1" i="0">
                <a:solidFill>
                  <a:srgbClr val="14243D"/>
                </a:solidFill>
                <a:latin typeface="Arial"/>
                <a:ea typeface="Arial"/>
                <a:cs typeface="Arial"/>
              </a:defRPr>
            </a:lvl3pPr>
            <a:lvl4pPr algn="l">
              <a:defRPr sz="3450" b="1" i="0">
                <a:solidFill>
                  <a:srgbClr val="14243D"/>
                </a:solidFill>
                <a:latin typeface="Arial"/>
                <a:ea typeface="Arial"/>
                <a:cs typeface="Arial"/>
              </a:defRPr>
            </a:lvl4pPr>
            <a:lvl5pPr algn="l">
              <a:defRPr sz="3450" b="1" i="0">
                <a:solidFill>
                  <a:srgbClr val="14243D"/>
                </a:solidFill>
                <a:latin typeface="Arial"/>
                <a:ea typeface="Arial"/>
                <a:cs typeface="Arial"/>
              </a:defRPr>
            </a:lvl5pPr>
            <a:lvl6pPr algn="l">
              <a:defRPr sz="3450" b="1" i="0">
                <a:solidFill>
                  <a:srgbClr val="14243D"/>
                </a:solidFill>
                <a:latin typeface="Arial"/>
                <a:ea typeface="Arial"/>
                <a:cs typeface="Arial"/>
              </a:defRPr>
            </a:lvl6pPr>
            <a:lvl7pPr algn="l">
              <a:defRPr sz="3450" b="1" i="0">
                <a:solidFill>
                  <a:srgbClr val="14243D"/>
                </a:solidFill>
                <a:latin typeface="Arial"/>
                <a:ea typeface="Arial"/>
                <a:cs typeface="Arial"/>
              </a:defRPr>
            </a:lvl7pPr>
            <a:lvl8pPr algn="l">
              <a:defRPr sz="3450" b="1" i="0">
                <a:solidFill>
                  <a:srgbClr val="14243D"/>
                </a:solidFill>
                <a:latin typeface="Arial"/>
                <a:ea typeface="Arial"/>
                <a:cs typeface="Arial"/>
              </a:defRPr>
            </a:lvl8pPr>
            <a:lvl9pPr algn="l">
              <a:defRPr sz="3450" b="1" i="0">
                <a:solidFill>
                  <a:srgbClr val="14243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3450" b="1" i="0">
                <a:solidFill>
                  <a:srgbClr val="14243D"/>
                </a:solidFill>
                <a:latin typeface="Arial"/>
                <a:ea typeface="Arial"/>
                <a:cs typeface="Arial"/>
              </a:defRPr>
            </a:pPr>
            <a:r>
              <a:rPr sz="3450" b="1" i="0">
                <a:solidFill>
                  <a:srgbClr val="14243D"/>
                </a:solidFill>
                <a:latin typeface="Arial"/>
                <a:ea typeface="Arial"/>
                <a:cs typeface="Arial"/>
              </a:rPr>
              <a:t>330 min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66AD89A-7108-48DD-BA32-830C2A4D57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19400"/>
            <a:ext cx="2857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200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defPPr>
            <a:lvl1pPr algn="l">
              <a:defRPr sz="1200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lvl1pPr>
            <a:lvl2pPr algn="l">
              <a:defRPr sz="1200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lvl2pPr>
            <a:lvl3pPr algn="l">
              <a:defRPr sz="1200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lvl3pPr>
            <a:lvl4pPr algn="l">
              <a:defRPr sz="1200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lvl4pPr>
            <a:lvl5pPr algn="l">
              <a:defRPr sz="1200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lvl5pPr>
            <a:lvl6pPr algn="l">
              <a:defRPr sz="1200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lvl6pPr>
            <a:lvl7pPr algn="l">
              <a:defRPr sz="1200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lvl7pPr>
            <a:lvl8pPr algn="l">
              <a:defRPr sz="1200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lvl8pPr>
            <a:lvl9pPr algn="l">
              <a:defRPr sz="1200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1200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1200" b="0" i="0">
                <a:solidFill>
                  <a:srgbClr val="667085"/>
                </a:solidFill>
                <a:latin typeface="Arial"/>
                <a:ea typeface="Arial"/>
                <a:cs typeface="Arial"/>
              </a:rPr>
              <a:t>mediana global observada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8AD0808-E578-4E6A-BE2A-5A88023502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2266950"/>
            <a:ext cx="2857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3450" b="1" i="0">
                <a:solidFill>
                  <a:srgbClr val="6D4AFF"/>
                </a:solidFill>
                <a:latin typeface="Arial"/>
                <a:ea typeface="Arial"/>
                <a:cs typeface="Arial"/>
              </a:defRPr>
            </a:defPPr>
            <a:lvl1pPr algn="l">
              <a:defRPr sz="3450" b="1" i="0">
                <a:solidFill>
                  <a:srgbClr val="6D4AFF"/>
                </a:solidFill>
                <a:latin typeface="Arial"/>
                <a:ea typeface="Arial"/>
                <a:cs typeface="Arial"/>
              </a:defRPr>
            </a:lvl1pPr>
            <a:lvl2pPr algn="l">
              <a:defRPr sz="3450" b="1" i="0">
                <a:solidFill>
                  <a:srgbClr val="6D4AFF"/>
                </a:solidFill>
                <a:latin typeface="Arial"/>
                <a:ea typeface="Arial"/>
                <a:cs typeface="Arial"/>
              </a:defRPr>
            </a:lvl2pPr>
            <a:lvl3pPr algn="l">
              <a:defRPr sz="3450" b="1" i="0">
                <a:solidFill>
                  <a:srgbClr val="6D4AFF"/>
                </a:solidFill>
                <a:latin typeface="Arial"/>
                <a:ea typeface="Arial"/>
                <a:cs typeface="Arial"/>
              </a:defRPr>
            </a:lvl3pPr>
            <a:lvl4pPr algn="l">
              <a:defRPr sz="3450" b="1" i="0">
                <a:solidFill>
                  <a:srgbClr val="6D4AFF"/>
                </a:solidFill>
                <a:latin typeface="Arial"/>
                <a:ea typeface="Arial"/>
                <a:cs typeface="Arial"/>
              </a:defRPr>
            </a:lvl4pPr>
            <a:lvl5pPr algn="l">
              <a:defRPr sz="3450" b="1" i="0">
                <a:solidFill>
                  <a:srgbClr val="6D4AFF"/>
                </a:solidFill>
                <a:latin typeface="Arial"/>
                <a:ea typeface="Arial"/>
                <a:cs typeface="Arial"/>
              </a:defRPr>
            </a:lvl5pPr>
            <a:lvl6pPr algn="l">
              <a:defRPr sz="3450" b="1" i="0">
                <a:solidFill>
                  <a:srgbClr val="6D4AFF"/>
                </a:solidFill>
                <a:latin typeface="Arial"/>
                <a:ea typeface="Arial"/>
                <a:cs typeface="Arial"/>
              </a:defRPr>
            </a:lvl6pPr>
            <a:lvl7pPr algn="l">
              <a:defRPr sz="3450" b="1" i="0">
                <a:solidFill>
                  <a:srgbClr val="6D4AFF"/>
                </a:solidFill>
                <a:latin typeface="Arial"/>
                <a:ea typeface="Arial"/>
                <a:cs typeface="Arial"/>
              </a:defRPr>
            </a:lvl7pPr>
            <a:lvl8pPr algn="l">
              <a:defRPr sz="3450" b="1" i="0">
                <a:solidFill>
                  <a:srgbClr val="6D4AFF"/>
                </a:solidFill>
                <a:latin typeface="Arial"/>
                <a:ea typeface="Arial"/>
                <a:cs typeface="Arial"/>
              </a:defRPr>
            </a:lvl8pPr>
            <a:lvl9pPr algn="l">
              <a:defRPr sz="3450" b="1" i="0">
                <a:solidFill>
                  <a:srgbClr val="6D4A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3450" b="1" i="0">
                <a:solidFill>
                  <a:srgbClr val="6D4AFF"/>
                </a:solidFill>
                <a:latin typeface="Arial"/>
                <a:ea typeface="Arial"/>
                <a:cs typeface="Arial"/>
              </a:defRPr>
            </a:pPr>
            <a:r>
              <a:rPr sz="3450" b="1" i="0">
                <a:solidFill>
                  <a:srgbClr val="6D4AFF"/>
                </a:solidFill>
                <a:latin typeface="Arial"/>
                <a:ea typeface="Arial"/>
                <a:cs typeface="Arial"/>
              </a:rPr>
              <a:t>4,329 min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268F83B-7854-4852-906B-6DB3DAC19F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2819400"/>
            <a:ext cx="2857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200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defPPr>
            <a:lvl1pPr algn="l">
              <a:defRPr sz="1200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lvl1pPr>
            <a:lvl2pPr algn="l">
              <a:defRPr sz="1200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lvl2pPr>
            <a:lvl3pPr algn="l">
              <a:defRPr sz="1200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lvl3pPr>
            <a:lvl4pPr algn="l">
              <a:defRPr sz="1200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lvl4pPr>
            <a:lvl5pPr algn="l">
              <a:defRPr sz="1200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lvl5pPr>
            <a:lvl6pPr algn="l">
              <a:defRPr sz="1200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lvl6pPr>
            <a:lvl7pPr algn="l">
              <a:defRPr sz="1200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lvl7pPr>
            <a:lvl8pPr algn="l">
              <a:defRPr sz="1200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lvl8pPr>
            <a:lvl9pPr algn="l">
              <a:defRPr sz="1200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1200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1200" b="0" i="0">
                <a:solidFill>
                  <a:srgbClr val="667085"/>
                </a:solidFill>
                <a:latin typeface="Arial"/>
                <a:ea typeface="Arial"/>
                <a:cs typeface="Arial"/>
              </a:rPr>
              <a:t>P75 histórico; no es SLA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BB372B3-18EB-40B1-94CC-4697246A44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2266950"/>
            <a:ext cx="2857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3450" b="1" i="0">
                <a:solidFill>
                  <a:srgbClr val="B85C68"/>
                </a:solidFill>
                <a:latin typeface="Arial"/>
                <a:ea typeface="Arial"/>
                <a:cs typeface="Arial"/>
              </a:defRPr>
            </a:defPPr>
            <a:lvl1pPr algn="l">
              <a:defRPr sz="3450" b="1" i="0">
                <a:solidFill>
                  <a:srgbClr val="B85C68"/>
                </a:solidFill>
                <a:latin typeface="Arial"/>
                <a:ea typeface="Arial"/>
                <a:cs typeface="Arial"/>
              </a:defRPr>
            </a:lvl1pPr>
            <a:lvl2pPr algn="l">
              <a:defRPr sz="3450" b="1" i="0">
                <a:solidFill>
                  <a:srgbClr val="B85C68"/>
                </a:solidFill>
                <a:latin typeface="Arial"/>
                <a:ea typeface="Arial"/>
                <a:cs typeface="Arial"/>
              </a:defRPr>
            </a:lvl2pPr>
            <a:lvl3pPr algn="l">
              <a:defRPr sz="3450" b="1" i="0">
                <a:solidFill>
                  <a:srgbClr val="B85C68"/>
                </a:solidFill>
                <a:latin typeface="Arial"/>
                <a:ea typeface="Arial"/>
                <a:cs typeface="Arial"/>
              </a:defRPr>
            </a:lvl3pPr>
            <a:lvl4pPr algn="l">
              <a:defRPr sz="3450" b="1" i="0">
                <a:solidFill>
                  <a:srgbClr val="B85C68"/>
                </a:solidFill>
                <a:latin typeface="Arial"/>
                <a:ea typeface="Arial"/>
                <a:cs typeface="Arial"/>
              </a:defRPr>
            </a:lvl4pPr>
            <a:lvl5pPr algn="l">
              <a:defRPr sz="3450" b="1" i="0">
                <a:solidFill>
                  <a:srgbClr val="B85C68"/>
                </a:solidFill>
                <a:latin typeface="Arial"/>
                <a:ea typeface="Arial"/>
                <a:cs typeface="Arial"/>
              </a:defRPr>
            </a:lvl5pPr>
            <a:lvl6pPr algn="l">
              <a:defRPr sz="3450" b="1" i="0">
                <a:solidFill>
                  <a:srgbClr val="B85C68"/>
                </a:solidFill>
                <a:latin typeface="Arial"/>
                <a:ea typeface="Arial"/>
                <a:cs typeface="Arial"/>
              </a:defRPr>
            </a:lvl6pPr>
            <a:lvl7pPr algn="l">
              <a:defRPr sz="3450" b="1" i="0">
                <a:solidFill>
                  <a:srgbClr val="B85C68"/>
                </a:solidFill>
                <a:latin typeface="Arial"/>
                <a:ea typeface="Arial"/>
                <a:cs typeface="Arial"/>
              </a:defRPr>
            </a:lvl7pPr>
            <a:lvl8pPr algn="l">
              <a:defRPr sz="3450" b="1" i="0">
                <a:solidFill>
                  <a:srgbClr val="B85C68"/>
                </a:solidFill>
                <a:latin typeface="Arial"/>
                <a:ea typeface="Arial"/>
                <a:cs typeface="Arial"/>
              </a:defRPr>
            </a:lvl8pPr>
            <a:lvl9pPr algn="l">
              <a:defRPr sz="3450" b="1" i="0">
                <a:solidFill>
                  <a:srgbClr val="B85C68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3450" b="1" i="0">
                <a:solidFill>
                  <a:srgbClr val="B85C68"/>
                </a:solidFill>
                <a:latin typeface="Arial"/>
                <a:ea typeface="Arial"/>
                <a:cs typeface="Arial"/>
              </a:defRPr>
            </a:pPr>
            <a:r>
              <a:rPr sz="3450" b="1" i="0">
                <a:solidFill>
                  <a:srgbClr val="B85C68"/>
                </a:solidFill>
                <a:latin typeface="Arial"/>
                <a:ea typeface="Arial"/>
                <a:cs typeface="Arial"/>
              </a:rPr>
              <a:t>63,467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D610EE9-8579-4BA6-9568-0E8F9FC171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2819400"/>
            <a:ext cx="2857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200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defPPr>
            <a:lvl1pPr algn="l">
              <a:defRPr sz="1200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lvl1pPr>
            <a:lvl2pPr algn="l">
              <a:defRPr sz="1200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lvl2pPr>
            <a:lvl3pPr algn="l">
              <a:defRPr sz="1200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lvl3pPr>
            <a:lvl4pPr algn="l">
              <a:defRPr sz="1200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lvl4pPr>
            <a:lvl5pPr algn="l">
              <a:defRPr sz="1200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lvl5pPr>
            <a:lvl6pPr algn="l">
              <a:defRPr sz="1200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lvl6pPr>
            <a:lvl7pPr algn="l">
              <a:defRPr sz="1200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lvl7pPr>
            <a:lvl8pPr algn="l">
              <a:defRPr sz="1200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lvl8pPr>
            <a:lvl9pPr algn="l">
              <a:defRPr sz="1200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1200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1200" b="0" i="0">
                <a:solidFill>
                  <a:srgbClr val="667085"/>
                </a:solidFill>
                <a:latin typeface="Arial"/>
                <a:ea typeface="Arial"/>
                <a:cs typeface="Arial"/>
              </a:rPr>
              <a:t>sin duración observada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00CF88A-428B-4BDB-8F4B-71FE55C728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810000"/>
            <a:ext cx="10763250" cy="2305050"/>
          </a:xfrm>
          <a:prstGeom xmlns:a="http://schemas.openxmlformats.org/drawingml/2006/main" prst="roundRect">
            <a:avLst>
              <a:gd name="adj" fmla="val 495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EE8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51A137B-A480-42D7-A0A1-ED5E8577E7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4076700"/>
            <a:ext cx="3810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350" b="1" i="0">
                <a:solidFill>
                  <a:srgbClr val="2463EB"/>
                </a:solidFill>
                <a:latin typeface="Arial"/>
                <a:ea typeface="Arial"/>
                <a:cs typeface="Arial"/>
              </a:defRPr>
            </a:defPPr>
            <a:lvl1pPr algn="l">
              <a:defRPr sz="1350" b="1" i="0">
                <a:solidFill>
                  <a:srgbClr val="2463EB"/>
                </a:solidFill>
                <a:latin typeface="Arial"/>
                <a:ea typeface="Arial"/>
                <a:cs typeface="Arial"/>
              </a:defRPr>
            </a:lvl1pPr>
            <a:lvl2pPr algn="l">
              <a:defRPr sz="1350" b="1" i="0">
                <a:solidFill>
                  <a:srgbClr val="2463EB"/>
                </a:solidFill>
                <a:latin typeface="Arial"/>
                <a:ea typeface="Arial"/>
                <a:cs typeface="Arial"/>
              </a:defRPr>
            </a:lvl2pPr>
            <a:lvl3pPr algn="l">
              <a:defRPr sz="1350" b="1" i="0">
                <a:solidFill>
                  <a:srgbClr val="2463EB"/>
                </a:solidFill>
                <a:latin typeface="Arial"/>
                <a:ea typeface="Arial"/>
                <a:cs typeface="Arial"/>
              </a:defRPr>
            </a:lvl3pPr>
            <a:lvl4pPr algn="l">
              <a:defRPr sz="1350" b="1" i="0">
                <a:solidFill>
                  <a:srgbClr val="2463EB"/>
                </a:solidFill>
                <a:latin typeface="Arial"/>
                <a:ea typeface="Arial"/>
                <a:cs typeface="Arial"/>
              </a:defRPr>
            </a:lvl4pPr>
            <a:lvl5pPr algn="l">
              <a:defRPr sz="1350" b="1" i="0">
                <a:solidFill>
                  <a:srgbClr val="2463EB"/>
                </a:solidFill>
                <a:latin typeface="Arial"/>
                <a:ea typeface="Arial"/>
                <a:cs typeface="Arial"/>
              </a:defRPr>
            </a:lvl5pPr>
            <a:lvl6pPr algn="l">
              <a:defRPr sz="1350" b="1" i="0">
                <a:solidFill>
                  <a:srgbClr val="2463EB"/>
                </a:solidFill>
                <a:latin typeface="Arial"/>
                <a:ea typeface="Arial"/>
                <a:cs typeface="Arial"/>
              </a:defRPr>
            </a:lvl6pPr>
            <a:lvl7pPr algn="l">
              <a:defRPr sz="1350" b="1" i="0">
                <a:solidFill>
                  <a:srgbClr val="2463EB"/>
                </a:solidFill>
                <a:latin typeface="Arial"/>
                <a:ea typeface="Arial"/>
                <a:cs typeface="Arial"/>
              </a:defRPr>
            </a:lvl7pPr>
            <a:lvl8pPr algn="l">
              <a:defRPr sz="1350" b="1" i="0">
                <a:solidFill>
                  <a:srgbClr val="2463EB"/>
                </a:solidFill>
                <a:latin typeface="Arial"/>
                <a:ea typeface="Arial"/>
                <a:cs typeface="Arial"/>
              </a:defRPr>
            </a:lvl8pPr>
            <a:lvl9pPr algn="l">
              <a:defRPr sz="1350" b="1" i="0">
                <a:solidFill>
                  <a:srgbClr val="2463E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1350" b="1" i="0">
                <a:solidFill>
                  <a:srgbClr val="2463EB"/>
                </a:solidFill>
                <a:latin typeface="Arial"/>
                <a:ea typeface="Arial"/>
                <a:cs typeface="Arial"/>
              </a:defRPr>
            </a:pPr>
            <a:r>
              <a:rPr sz="1350" b="1" i="0">
                <a:solidFill>
                  <a:srgbClr val="2463EB"/>
                </a:solidFill>
                <a:latin typeface="Arial"/>
                <a:ea typeface="Arial"/>
                <a:cs typeface="Arial"/>
              </a:rPr>
              <a:t>Ejemplo de drilldown interactivo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4A0E353-509C-4DB8-9D60-6E20BB8711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4514850"/>
            <a:ext cx="3429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950" b="1" i="0">
                <a:solidFill>
                  <a:srgbClr val="14243D"/>
                </a:solidFill>
                <a:latin typeface="Arial"/>
                <a:ea typeface="Arial"/>
                <a:cs typeface="Arial"/>
              </a:defRPr>
            </a:defPPr>
            <a:lvl1pPr algn="l">
              <a:defRPr sz="1950" b="1" i="0">
                <a:solidFill>
                  <a:srgbClr val="14243D"/>
                </a:solidFill>
                <a:latin typeface="Arial"/>
                <a:ea typeface="Arial"/>
                <a:cs typeface="Arial"/>
              </a:defRPr>
            </a:lvl1pPr>
            <a:lvl2pPr algn="l">
              <a:defRPr sz="1950" b="1" i="0">
                <a:solidFill>
                  <a:srgbClr val="14243D"/>
                </a:solidFill>
                <a:latin typeface="Arial"/>
                <a:ea typeface="Arial"/>
                <a:cs typeface="Arial"/>
              </a:defRPr>
            </a:lvl2pPr>
            <a:lvl3pPr algn="l">
              <a:defRPr sz="1950" b="1" i="0">
                <a:solidFill>
                  <a:srgbClr val="14243D"/>
                </a:solidFill>
                <a:latin typeface="Arial"/>
                <a:ea typeface="Arial"/>
                <a:cs typeface="Arial"/>
              </a:defRPr>
            </a:lvl3pPr>
            <a:lvl4pPr algn="l">
              <a:defRPr sz="1950" b="1" i="0">
                <a:solidFill>
                  <a:srgbClr val="14243D"/>
                </a:solidFill>
                <a:latin typeface="Arial"/>
                <a:ea typeface="Arial"/>
                <a:cs typeface="Arial"/>
              </a:defRPr>
            </a:lvl4pPr>
            <a:lvl5pPr algn="l">
              <a:defRPr sz="1950" b="1" i="0">
                <a:solidFill>
                  <a:srgbClr val="14243D"/>
                </a:solidFill>
                <a:latin typeface="Arial"/>
                <a:ea typeface="Arial"/>
                <a:cs typeface="Arial"/>
              </a:defRPr>
            </a:lvl5pPr>
            <a:lvl6pPr algn="l">
              <a:defRPr sz="1950" b="1" i="0">
                <a:solidFill>
                  <a:srgbClr val="14243D"/>
                </a:solidFill>
                <a:latin typeface="Arial"/>
                <a:ea typeface="Arial"/>
                <a:cs typeface="Arial"/>
              </a:defRPr>
            </a:lvl6pPr>
            <a:lvl7pPr algn="l">
              <a:defRPr sz="1950" b="1" i="0">
                <a:solidFill>
                  <a:srgbClr val="14243D"/>
                </a:solidFill>
                <a:latin typeface="Arial"/>
                <a:ea typeface="Arial"/>
                <a:cs typeface="Arial"/>
              </a:defRPr>
            </a:lvl7pPr>
            <a:lvl8pPr algn="l">
              <a:defRPr sz="1950" b="1" i="0">
                <a:solidFill>
                  <a:srgbClr val="14243D"/>
                </a:solidFill>
                <a:latin typeface="Arial"/>
                <a:ea typeface="Arial"/>
                <a:cs typeface="Arial"/>
              </a:defRPr>
            </a:lvl8pPr>
            <a:lvl9pPr algn="l">
              <a:defRPr sz="1950" b="1" i="0">
                <a:solidFill>
                  <a:srgbClr val="14243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1950" b="1" i="0">
                <a:solidFill>
                  <a:srgbClr val="14243D"/>
                </a:solidFill>
                <a:latin typeface="Arial"/>
                <a:ea typeface="Arial"/>
                <a:cs typeface="Arial"/>
              </a:defRPr>
            </a:pPr>
            <a:r>
              <a:rPr sz="1950" b="1" i="0">
                <a:solidFill>
                  <a:srgbClr val="14243D"/>
                </a:solidFill>
                <a:latin typeface="Arial"/>
                <a:ea typeface="Arial"/>
                <a:cs typeface="Arial"/>
              </a:rPr>
              <a:t>Borough / agencia / canal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DB05F97-5366-4BC7-800E-A4DEF53F1E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4953000"/>
            <a:ext cx="4572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425" b="1" i="0">
                <a:solidFill>
                  <a:srgbClr val="111827"/>
                </a:solidFill>
                <a:latin typeface="Arial"/>
                <a:ea typeface="Arial"/>
                <a:cs typeface="Arial"/>
              </a:defRPr>
            </a:defPPr>
            <a:lvl1pPr algn="l">
              <a:defRPr sz="1425" b="1" i="0">
                <a:solidFill>
                  <a:srgbClr val="111827"/>
                </a:solidFill>
                <a:latin typeface="Arial"/>
                <a:ea typeface="Arial"/>
                <a:cs typeface="Arial"/>
              </a:defRPr>
            </a:lvl1pPr>
            <a:lvl2pPr algn="l">
              <a:defRPr sz="1425" b="1" i="0">
                <a:solidFill>
                  <a:srgbClr val="111827"/>
                </a:solidFill>
                <a:latin typeface="Arial"/>
                <a:ea typeface="Arial"/>
                <a:cs typeface="Arial"/>
              </a:defRPr>
            </a:lvl2pPr>
            <a:lvl3pPr algn="l">
              <a:defRPr sz="1425" b="1" i="0">
                <a:solidFill>
                  <a:srgbClr val="111827"/>
                </a:solidFill>
                <a:latin typeface="Arial"/>
                <a:ea typeface="Arial"/>
                <a:cs typeface="Arial"/>
              </a:defRPr>
            </a:lvl3pPr>
            <a:lvl4pPr algn="l">
              <a:defRPr sz="1425" b="1" i="0">
                <a:solidFill>
                  <a:srgbClr val="111827"/>
                </a:solidFill>
                <a:latin typeface="Arial"/>
                <a:ea typeface="Arial"/>
                <a:cs typeface="Arial"/>
              </a:defRPr>
            </a:lvl4pPr>
            <a:lvl5pPr algn="l">
              <a:defRPr sz="1425" b="1" i="0">
                <a:solidFill>
                  <a:srgbClr val="111827"/>
                </a:solidFill>
                <a:latin typeface="Arial"/>
                <a:ea typeface="Arial"/>
                <a:cs typeface="Arial"/>
              </a:defRPr>
            </a:lvl5pPr>
            <a:lvl6pPr algn="l">
              <a:defRPr sz="1425" b="1" i="0">
                <a:solidFill>
                  <a:srgbClr val="111827"/>
                </a:solidFill>
                <a:latin typeface="Arial"/>
                <a:ea typeface="Arial"/>
                <a:cs typeface="Arial"/>
              </a:defRPr>
            </a:lvl6pPr>
            <a:lvl7pPr algn="l">
              <a:defRPr sz="1425" b="1" i="0">
                <a:solidFill>
                  <a:srgbClr val="111827"/>
                </a:solidFill>
                <a:latin typeface="Arial"/>
                <a:ea typeface="Arial"/>
                <a:cs typeface="Arial"/>
              </a:defRPr>
            </a:lvl7pPr>
            <a:lvl8pPr algn="l">
              <a:defRPr sz="1425" b="1" i="0">
                <a:solidFill>
                  <a:srgbClr val="111827"/>
                </a:solidFill>
                <a:latin typeface="Arial"/>
                <a:ea typeface="Arial"/>
                <a:cs typeface="Arial"/>
              </a:defRPr>
            </a:lvl8pPr>
            <a:lvl9pPr algn="l">
              <a:defRPr sz="1425" b="1" i="0">
                <a:solidFill>
                  <a:srgbClr val="11182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1425" b="1" i="0">
                <a:solidFill>
                  <a:srgbClr val="111827"/>
                </a:solidFill>
                <a:latin typeface="Arial"/>
                <a:ea typeface="Arial"/>
                <a:cs typeface="Arial"/>
              </a:defRPr>
            </a:pPr>
            <a:r>
              <a:rPr sz="1425" b="1" i="0">
                <a:solidFill>
                  <a:srgbClr val="111827"/>
                </a:solidFill>
                <a:latin typeface="Arial"/>
                <a:ea typeface="Arial"/>
                <a:cs typeface="Arial"/>
              </a:rPr>
              <a:t>Aplicar un filtro y leer el volumen y la mediana observada resultantes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10009C7-5DAB-4333-8413-D9BF601389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0" y="4171950"/>
            <a:ext cx="19050" cy="1657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D9DEE8"/>
          </a:solidFill>
          <a:ln xmlns:a="http://schemas.openxmlformats.org/drawingml/2006/main" w="0">
            <a:solidFill>
              <a:srgbClr val="D9DEE8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CEB7A64-EFF3-443A-909F-2434DE2FCE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4076700"/>
            <a:ext cx="4000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350" b="1" i="0">
                <a:solidFill>
                  <a:srgbClr val="2463EB"/>
                </a:solidFill>
                <a:latin typeface="Arial"/>
                <a:ea typeface="Arial"/>
                <a:cs typeface="Arial"/>
              </a:defRPr>
            </a:defPPr>
            <a:lvl1pPr algn="l">
              <a:defRPr sz="1350" b="1" i="0">
                <a:solidFill>
                  <a:srgbClr val="2463EB"/>
                </a:solidFill>
                <a:latin typeface="Arial"/>
                <a:ea typeface="Arial"/>
                <a:cs typeface="Arial"/>
              </a:defRPr>
            </a:lvl1pPr>
            <a:lvl2pPr algn="l">
              <a:defRPr sz="1350" b="1" i="0">
                <a:solidFill>
                  <a:srgbClr val="2463EB"/>
                </a:solidFill>
                <a:latin typeface="Arial"/>
                <a:ea typeface="Arial"/>
                <a:cs typeface="Arial"/>
              </a:defRPr>
            </a:lvl2pPr>
            <a:lvl3pPr algn="l">
              <a:defRPr sz="1350" b="1" i="0">
                <a:solidFill>
                  <a:srgbClr val="2463EB"/>
                </a:solidFill>
                <a:latin typeface="Arial"/>
                <a:ea typeface="Arial"/>
                <a:cs typeface="Arial"/>
              </a:defRPr>
            </a:lvl3pPr>
            <a:lvl4pPr algn="l">
              <a:defRPr sz="1350" b="1" i="0">
                <a:solidFill>
                  <a:srgbClr val="2463EB"/>
                </a:solidFill>
                <a:latin typeface="Arial"/>
                <a:ea typeface="Arial"/>
                <a:cs typeface="Arial"/>
              </a:defRPr>
            </a:lvl4pPr>
            <a:lvl5pPr algn="l">
              <a:defRPr sz="1350" b="1" i="0">
                <a:solidFill>
                  <a:srgbClr val="2463EB"/>
                </a:solidFill>
                <a:latin typeface="Arial"/>
                <a:ea typeface="Arial"/>
                <a:cs typeface="Arial"/>
              </a:defRPr>
            </a:lvl5pPr>
            <a:lvl6pPr algn="l">
              <a:defRPr sz="1350" b="1" i="0">
                <a:solidFill>
                  <a:srgbClr val="2463EB"/>
                </a:solidFill>
                <a:latin typeface="Arial"/>
                <a:ea typeface="Arial"/>
                <a:cs typeface="Arial"/>
              </a:defRPr>
            </a:lvl6pPr>
            <a:lvl7pPr algn="l">
              <a:defRPr sz="1350" b="1" i="0">
                <a:solidFill>
                  <a:srgbClr val="2463EB"/>
                </a:solidFill>
                <a:latin typeface="Arial"/>
                <a:ea typeface="Arial"/>
                <a:cs typeface="Arial"/>
              </a:defRPr>
            </a:lvl7pPr>
            <a:lvl8pPr algn="l">
              <a:defRPr sz="1350" b="1" i="0">
                <a:solidFill>
                  <a:srgbClr val="2463EB"/>
                </a:solidFill>
                <a:latin typeface="Arial"/>
                <a:ea typeface="Arial"/>
                <a:cs typeface="Arial"/>
              </a:defRPr>
            </a:lvl8pPr>
            <a:lvl9pPr algn="l">
              <a:defRPr sz="1350" b="1" i="0">
                <a:solidFill>
                  <a:srgbClr val="2463E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1350" b="1" i="0">
                <a:solidFill>
                  <a:srgbClr val="2463EB"/>
                </a:solidFill>
                <a:latin typeface="Arial"/>
                <a:ea typeface="Arial"/>
                <a:cs typeface="Arial"/>
              </a:defRPr>
            </a:pPr>
            <a:r>
              <a:rPr sz="1350" b="1" i="0">
                <a:solidFill>
                  <a:srgbClr val="2463EB"/>
                </a:solidFill>
                <a:latin typeface="Arial"/>
                <a:ea typeface="Arial"/>
                <a:cs typeface="Arial"/>
              </a:rPr>
              <a:t>Preguntas que responde el tablero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8E44B1F-D1E1-43FA-96AB-646CB4A3CE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4514850"/>
            <a:ext cx="45720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350" b="1" i="0">
                <a:solidFill>
                  <a:srgbClr val="14243D"/>
                </a:solidFill>
                <a:latin typeface="Arial"/>
                <a:ea typeface="Arial"/>
                <a:cs typeface="Arial"/>
              </a:defRPr>
            </a:defPPr>
            <a:lvl1pPr algn="l">
              <a:defRPr sz="1350" b="1" i="0">
                <a:solidFill>
                  <a:srgbClr val="14243D"/>
                </a:solidFill>
                <a:latin typeface="Arial"/>
                <a:ea typeface="Arial"/>
                <a:cs typeface="Arial"/>
              </a:defRPr>
            </a:lvl1pPr>
            <a:lvl2pPr algn="l">
              <a:defRPr sz="1350" b="1" i="0">
                <a:solidFill>
                  <a:srgbClr val="14243D"/>
                </a:solidFill>
                <a:latin typeface="Arial"/>
                <a:ea typeface="Arial"/>
                <a:cs typeface="Arial"/>
              </a:defRPr>
            </a:lvl2pPr>
            <a:lvl3pPr algn="l">
              <a:defRPr sz="1350" b="1" i="0">
                <a:solidFill>
                  <a:srgbClr val="14243D"/>
                </a:solidFill>
                <a:latin typeface="Arial"/>
                <a:ea typeface="Arial"/>
                <a:cs typeface="Arial"/>
              </a:defRPr>
            </a:lvl3pPr>
            <a:lvl4pPr algn="l">
              <a:defRPr sz="1350" b="1" i="0">
                <a:solidFill>
                  <a:srgbClr val="14243D"/>
                </a:solidFill>
                <a:latin typeface="Arial"/>
                <a:ea typeface="Arial"/>
                <a:cs typeface="Arial"/>
              </a:defRPr>
            </a:lvl4pPr>
            <a:lvl5pPr algn="l">
              <a:defRPr sz="1350" b="1" i="0">
                <a:solidFill>
                  <a:srgbClr val="14243D"/>
                </a:solidFill>
                <a:latin typeface="Arial"/>
                <a:ea typeface="Arial"/>
                <a:cs typeface="Arial"/>
              </a:defRPr>
            </a:lvl5pPr>
            <a:lvl6pPr algn="l">
              <a:defRPr sz="1350" b="1" i="0">
                <a:solidFill>
                  <a:srgbClr val="14243D"/>
                </a:solidFill>
                <a:latin typeface="Arial"/>
                <a:ea typeface="Arial"/>
                <a:cs typeface="Arial"/>
              </a:defRPr>
            </a:lvl6pPr>
            <a:lvl7pPr algn="l">
              <a:defRPr sz="1350" b="1" i="0">
                <a:solidFill>
                  <a:srgbClr val="14243D"/>
                </a:solidFill>
                <a:latin typeface="Arial"/>
                <a:ea typeface="Arial"/>
                <a:cs typeface="Arial"/>
              </a:defRPr>
            </a:lvl7pPr>
            <a:lvl8pPr algn="l">
              <a:defRPr sz="1350" b="1" i="0">
                <a:solidFill>
                  <a:srgbClr val="14243D"/>
                </a:solidFill>
                <a:latin typeface="Arial"/>
                <a:ea typeface="Arial"/>
                <a:cs typeface="Arial"/>
              </a:defRPr>
            </a:lvl8pPr>
            <a:lvl9pPr algn="l">
              <a:defRPr sz="1350" b="1" i="0">
                <a:solidFill>
                  <a:srgbClr val="14243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lnSpc>
                <a:spcPct val="118000"/>
              </a:lnSpc>
              <a:buNone/>
              <a:defRPr sz="1350" b="1" i="0">
                <a:solidFill>
                  <a:srgbClr val="14243D"/>
                </a:solidFill>
                <a:latin typeface="Arial"/>
                <a:ea typeface="Arial"/>
                <a:cs typeface="Arial"/>
              </a:defRPr>
            </a:pPr>
            <a:r>
              <a:rPr sz="1350" b="1" i="0">
                <a:solidFill>
                  <a:srgbClr val="14243D"/>
                </a:solidFill>
                <a:latin typeface="Arial"/>
                <a:ea typeface="Arial"/>
                <a:cs typeface="Arial"/>
              </a:rPr>
              <a:t>¿Qué borough, agencia o canal concentra volumen?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1" i="0">
                <a:solidFill>
                  <a:srgbClr val="14243D"/>
                </a:solidFill>
                <a:latin typeface="Arial"/>
                <a:ea typeface="Arial"/>
                <a:cs typeface="Arial"/>
              </a:defRPr>
            </a:pPr>
            <a:r>
              <a:rPr sz="1350" b="1" i="0">
                <a:solidFill>
                  <a:srgbClr val="14243D"/>
                </a:solidFill>
                <a:latin typeface="Arial"/>
                <a:ea typeface="Arial"/>
                <a:cs typeface="Arial"/>
              </a:rPr>
              <a:t>¿Dónde sube la mediana observada?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1" i="0">
                <a:solidFill>
                  <a:srgbClr val="14243D"/>
                </a:solidFill>
                <a:latin typeface="Arial"/>
                <a:ea typeface="Arial"/>
                <a:cs typeface="Arial"/>
              </a:defRPr>
            </a:pPr>
            <a:r>
              <a:rPr sz="1350" b="1" i="0">
                <a:solidFill>
                  <a:srgbClr val="14243D"/>
                </a:solidFill>
                <a:latin typeface="Arial"/>
                <a:ea typeface="Arial"/>
                <a:cs typeface="Arial"/>
              </a:rPr>
              <a:t>¿Qué casos requieren revisión por falta de duración?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E63E17F-91E5-4A99-8E7C-752ADBE81C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10972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900" b="0" i="0">
                <a:solidFill>
                  <a:srgbClr val="98A2B3"/>
                </a:solidFill>
                <a:latin typeface="Arial"/>
                <a:ea typeface="Arial"/>
                <a:cs typeface="Arial"/>
              </a:defRPr>
            </a:defPPr>
            <a:lvl1pPr algn="l">
              <a:defRPr sz="900" b="0" i="0">
                <a:solidFill>
                  <a:srgbClr val="98A2B3"/>
                </a:solidFill>
                <a:latin typeface="Arial"/>
                <a:ea typeface="Arial"/>
                <a:cs typeface="Arial"/>
              </a:defRPr>
            </a:lvl1pPr>
            <a:lvl2pPr algn="l">
              <a:defRPr sz="900" b="0" i="0">
                <a:solidFill>
                  <a:srgbClr val="98A2B3"/>
                </a:solidFill>
                <a:latin typeface="Arial"/>
                <a:ea typeface="Arial"/>
                <a:cs typeface="Arial"/>
              </a:defRPr>
            </a:lvl2pPr>
            <a:lvl3pPr algn="l">
              <a:defRPr sz="900" b="0" i="0">
                <a:solidFill>
                  <a:srgbClr val="98A2B3"/>
                </a:solidFill>
                <a:latin typeface="Arial"/>
                <a:ea typeface="Arial"/>
                <a:cs typeface="Arial"/>
              </a:defRPr>
            </a:lvl3pPr>
            <a:lvl4pPr algn="l">
              <a:defRPr sz="900" b="0" i="0">
                <a:solidFill>
                  <a:srgbClr val="98A2B3"/>
                </a:solidFill>
                <a:latin typeface="Arial"/>
                <a:ea typeface="Arial"/>
                <a:cs typeface="Arial"/>
              </a:defRPr>
            </a:lvl4pPr>
            <a:lvl5pPr algn="l">
              <a:defRPr sz="900" b="0" i="0">
                <a:solidFill>
                  <a:srgbClr val="98A2B3"/>
                </a:solidFill>
                <a:latin typeface="Arial"/>
                <a:ea typeface="Arial"/>
                <a:cs typeface="Arial"/>
              </a:defRPr>
            </a:lvl5pPr>
            <a:lvl6pPr algn="l">
              <a:defRPr sz="900" b="0" i="0">
                <a:solidFill>
                  <a:srgbClr val="98A2B3"/>
                </a:solidFill>
                <a:latin typeface="Arial"/>
                <a:ea typeface="Arial"/>
                <a:cs typeface="Arial"/>
              </a:defRPr>
            </a:lvl6pPr>
            <a:lvl7pPr algn="l">
              <a:defRPr sz="900" b="0" i="0">
                <a:solidFill>
                  <a:srgbClr val="98A2B3"/>
                </a:solidFill>
                <a:latin typeface="Arial"/>
                <a:ea typeface="Arial"/>
                <a:cs typeface="Arial"/>
              </a:defRPr>
            </a:lvl7pPr>
            <a:lvl8pPr algn="l">
              <a:defRPr sz="900" b="0" i="0">
                <a:solidFill>
                  <a:srgbClr val="98A2B3"/>
                </a:solidFill>
                <a:latin typeface="Arial"/>
                <a:ea typeface="Arial"/>
                <a:cs typeface="Arial"/>
              </a:defRPr>
            </a:lvl8pPr>
            <a:lvl9pPr algn="l">
              <a:defRPr sz="900" b="0" i="0">
                <a:solidFill>
                  <a:srgbClr val="98A2B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900" b="0" i="0">
                <a:solidFill>
                  <a:srgbClr val="98A2B3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98A2B3"/>
                </a:solidFill>
                <a:latin typeface="Arial"/>
                <a:ea typeface="Arial"/>
                <a:cs typeface="Arial"/>
              </a:rPr>
              <a:t>Fuente: PBIX final y validación del modelo. El drilldown de Bronx es un ejemplo de lectura, no una conclusión causal.</a:t>
            </a:r>
          </a:p>
        </p:txBody>
      </p:sp>
    </p:spTree>
    <p:extLst>
      <p:ext uri="{BB962C8B-B14F-4D97-AF65-F5344CB8AC3E}">
        <p14:creationId xmlns:p14="http://schemas.microsoft.com/office/powerpoint/2010/main" val="901017936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7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C9D51C9-AE11-4A63-B7EE-5E1A73BDD5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2667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975" b="1" i="0">
                <a:solidFill>
                  <a:srgbClr val="2463EB"/>
                </a:solidFill>
                <a:latin typeface="Arial"/>
                <a:ea typeface="Arial"/>
                <a:cs typeface="Arial"/>
              </a:defRPr>
            </a:defPPr>
            <a:lvl1pPr algn="l">
              <a:defRPr sz="975" b="1" i="0">
                <a:solidFill>
                  <a:srgbClr val="2463EB"/>
                </a:solidFill>
                <a:latin typeface="Arial"/>
                <a:ea typeface="Arial"/>
                <a:cs typeface="Arial"/>
              </a:defRPr>
            </a:lvl1pPr>
            <a:lvl2pPr algn="l">
              <a:defRPr sz="975" b="1" i="0">
                <a:solidFill>
                  <a:srgbClr val="2463EB"/>
                </a:solidFill>
                <a:latin typeface="Arial"/>
                <a:ea typeface="Arial"/>
                <a:cs typeface="Arial"/>
              </a:defRPr>
            </a:lvl2pPr>
            <a:lvl3pPr algn="l">
              <a:defRPr sz="975" b="1" i="0">
                <a:solidFill>
                  <a:srgbClr val="2463EB"/>
                </a:solidFill>
                <a:latin typeface="Arial"/>
                <a:ea typeface="Arial"/>
                <a:cs typeface="Arial"/>
              </a:defRPr>
            </a:lvl3pPr>
            <a:lvl4pPr algn="l">
              <a:defRPr sz="975" b="1" i="0">
                <a:solidFill>
                  <a:srgbClr val="2463EB"/>
                </a:solidFill>
                <a:latin typeface="Arial"/>
                <a:ea typeface="Arial"/>
                <a:cs typeface="Arial"/>
              </a:defRPr>
            </a:lvl4pPr>
            <a:lvl5pPr algn="l">
              <a:defRPr sz="975" b="1" i="0">
                <a:solidFill>
                  <a:srgbClr val="2463EB"/>
                </a:solidFill>
                <a:latin typeface="Arial"/>
                <a:ea typeface="Arial"/>
                <a:cs typeface="Arial"/>
              </a:defRPr>
            </a:lvl5pPr>
            <a:lvl6pPr algn="l">
              <a:defRPr sz="975" b="1" i="0">
                <a:solidFill>
                  <a:srgbClr val="2463EB"/>
                </a:solidFill>
                <a:latin typeface="Arial"/>
                <a:ea typeface="Arial"/>
                <a:cs typeface="Arial"/>
              </a:defRPr>
            </a:lvl6pPr>
            <a:lvl7pPr algn="l">
              <a:defRPr sz="975" b="1" i="0">
                <a:solidFill>
                  <a:srgbClr val="2463EB"/>
                </a:solidFill>
                <a:latin typeface="Arial"/>
                <a:ea typeface="Arial"/>
                <a:cs typeface="Arial"/>
              </a:defRPr>
            </a:lvl7pPr>
            <a:lvl8pPr algn="l">
              <a:defRPr sz="975" b="1" i="0">
                <a:solidFill>
                  <a:srgbClr val="2463EB"/>
                </a:solidFill>
                <a:latin typeface="Arial"/>
                <a:ea typeface="Arial"/>
                <a:cs typeface="Arial"/>
              </a:defRPr>
            </a:lvl8pPr>
            <a:lvl9pPr algn="l">
              <a:defRPr sz="975" b="1" i="0">
                <a:solidFill>
                  <a:srgbClr val="2463E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975" b="1" i="0">
                <a:solidFill>
                  <a:srgbClr val="2463EB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2463EB"/>
                </a:solidFill>
                <a:latin typeface="Arial"/>
                <a:ea typeface="Arial"/>
                <a:cs typeface="Arial"/>
              </a:rPr>
              <a:t>NYC311 / FASE 3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B52311E-826D-414E-9DC9-23CBC4417E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44200" y="285750"/>
            <a:ext cx="8382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975" b="1" i="0">
                <a:solidFill>
                  <a:srgbClr val="98A2B3"/>
                </a:solidFill>
                <a:latin typeface="Arial"/>
                <a:ea typeface="Arial"/>
                <a:cs typeface="Arial"/>
              </a:defRPr>
            </a:defPPr>
            <a:lvl1pPr algn="r">
              <a:defRPr sz="975" b="1" i="0">
                <a:solidFill>
                  <a:srgbClr val="98A2B3"/>
                </a:solidFill>
                <a:latin typeface="Arial"/>
                <a:ea typeface="Arial"/>
                <a:cs typeface="Arial"/>
              </a:defRPr>
            </a:lvl1pPr>
            <a:lvl2pPr algn="r">
              <a:defRPr sz="975" b="1" i="0">
                <a:solidFill>
                  <a:srgbClr val="98A2B3"/>
                </a:solidFill>
                <a:latin typeface="Arial"/>
                <a:ea typeface="Arial"/>
                <a:cs typeface="Arial"/>
              </a:defRPr>
            </a:lvl2pPr>
            <a:lvl3pPr algn="r">
              <a:defRPr sz="975" b="1" i="0">
                <a:solidFill>
                  <a:srgbClr val="98A2B3"/>
                </a:solidFill>
                <a:latin typeface="Arial"/>
                <a:ea typeface="Arial"/>
                <a:cs typeface="Arial"/>
              </a:defRPr>
            </a:lvl3pPr>
            <a:lvl4pPr algn="r">
              <a:defRPr sz="975" b="1" i="0">
                <a:solidFill>
                  <a:srgbClr val="98A2B3"/>
                </a:solidFill>
                <a:latin typeface="Arial"/>
                <a:ea typeface="Arial"/>
                <a:cs typeface="Arial"/>
              </a:defRPr>
            </a:lvl4pPr>
            <a:lvl5pPr algn="r">
              <a:defRPr sz="975" b="1" i="0">
                <a:solidFill>
                  <a:srgbClr val="98A2B3"/>
                </a:solidFill>
                <a:latin typeface="Arial"/>
                <a:ea typeface="Arial"/>
                <a:cs typeface="Arial"/>
              </a:defRPr>
            </a:lvl5pPr>
            <a:lvl6pPr algn="r">
              <a:defRPr sz="975" b="1" i="0">
                <a:solidFill>
                  <a:srgbClr val="98A2B3"/>
                </a:solidFill>
                <a:latin typeface="Arial"/>
                <a:ea typeface="Arial"/>
                <a:cs typeface="Arial"/>
              </a:defRPr>
            </a:lvl6pPr>
            <a:lvl7pPr algn="r">
              <a:defRPr sz="975" b="1" i="0">
                <a:solidFill>
                  <a:srgbClr val="98A2B3"/>
                </a:solidFill>
                <a:latin typeface="Arial"/>
                <a:ea typeface="Arial"/>
                <a:cs typeface="Arial"/>
              </a:defRPr>
            </a:lvl7pPr>
            <a:lvl8pPr algn="r">
              <a:defRPr sz="975" b="1" i="0">
                <a:solidFill>
                  <a:srgbClr val="98A2B3"/>
                </a:solidFill>
                <a:latin typeface="Arial"/>
                <a:ea typeface="Arial"/>
                <a:cs typeface="Arial"/>
              </a:defRPr>
            </a:lvl8pPr>
            <a:lvl9pPr algn="r">
              <a:defRPr sz="975" b="1" i="0">
                <a:solidFill>
                  <a:srgbClr val="98A2B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r">
              <a:lnSpc>
                <a:spcPct val="105000"/>
              </a:lnSpc>
              <a:buNone/>
              <a:defRPr sz="975" b="1" i="0">
                <a:solidFill>
                  <a:srgbClr val="98A2B3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98A2B3"/>
                </a:solidFill>
                <a:latin typeface="Arial"/>
                <a:ea typeface="Arial"/>
                <a:cs typeface="Arial"/>
              </a:rPr>
              <a:t>10 / 13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6164DD0-B605-4FCF-A76A-F16BAB6882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"/>
            <a:ext cx="9906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2850" b="1" i="0">
                <a:solidFill>
                  <a:srgbClr val="14243D"/>
                </a:solidFill>
                <a:latin typeface="Arial"/>
                <a:ea typeface="Arial"/>
                <a:cs typeface="Arial"/>
              </a:defRPr>
            </a:defPPr>
            <a:lvl1pPr algn="l">
              <a:defRPr sz="2850" b="1" i="0">
                <a:solidFill>
                  <a:srgbClr val="14243D"/>
                </a:solidFill>
                <a:latin typeface="Arial"/>
                <a:ea typeface="Arial"/>
                <a:cs typeface="Arial"/>
              </a:defRPr>
            </a:lvl1pPr>
            <a:lvl2pPr algn="l">
              <a:defRPr sz="2850" b="1" i="0">
                <a:solidFill>
                  <a:srgbClr val="14243D"/>
                </a:solidFill>
                <a:latin typeface="Arial"/>
                <a:ea typeface="Arial"/>
                <a:cs typeface="Arial"/>
              </a:defRPr>
            </a:lvl2pPr>
            <a:lvl3pPr algn="l">
              <a:defRPr sz="2850" b="1" i="0">
                <a:solidFill>
                  <a:srgbClr val="14243D"/>
                </a:solidFill>
                <a:latin typeface="Arial"/>
                <a:ea typeface="Arial"/>
                <a:cs typeface="Arial"/>
              </a:defRPr>
            </a:lvl3pPr>
            <a:lvl4pPr algn="l">
              <a:defRPr sz="2850" b="1" i="0">
                <a:solidFill>
                  <a:srgbClr val="14243D"/>
                </a:solidFill>
                <a:latin typeface="Arial"/>
                <a:ea typeface="Arial"/>
                <a:cs typeface="Arial"/>
              </a:defRPr>
            </a:lvl4pPr>
            <a:lvl5pPr algn="l">
              <a:defRPr sz="2850" b="1" i="0">
                <a:solidFill>
                  <a:srgbClr val="14243D"/>
                </a:solidFill>
                <a:latin typeface="Arial"/>
                <a:ea typeface="Arial"/>
                <a:cs typeface="Arial"/>
              </a:defRPr>
            </a:lvl5pPr>
            <a:lvl6pPr algn="l">
              <a:defRPr sz="2850" b="1" i="0">
                <a:solidFill>
                  <a:srgbClr val="14243D"/>
                </a:solidFill>
                <a:latin typeface="Arial"/>
                <a:ea typeface="Arial"/>
                <a:cs typeface="Arial"/>
              </a:defRPr>
            </a:lvl6pPr>
            <a:lvl7pPr algn="l">
              <a:defRPr sz="2850" b="1" i="0">
                <a:solidFill>
                  <a:srgbClr val="14243D"/>
                </a:solidFill>
                <a:latin typeface="Arial"/>
                <a:ea typeface="Arial"/>
                <a:cs typeface="Arial"/>
              </a:defRPr>
            </a:lvl7pPr>
            <a:lvl8pPr algn="l">
              <a:defRPr sz="2850" b="1" i="0">
                <a:solidFill>
                  <a:srgbClr val="14243D"/>
                </a:solidFill>
                <a:latin typeface="Arial"/>
                <a:ea typeface="Arial"/>
                <a:cs typeface="Arial"/>
              </a:defRPr>
            </a:lvl8pPr>
            <a:lvl9pPr algn="l">
              <a:defRPr sz="2850" b="1" i="0">
                <a:solidFill>
                  <a:srgbClr val="14243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lnSpc>
                <a:spcPct val="95000"/>
              </a:lnSpc>
              <a:buNone/>
              <a:defRPr sz="2850" b="1" i="0">
                <a:solidFill>
                  <a:srgbClr val="14243D"/>
                </a:solidFill>
                <a:latin typeface="Arial"/>
                <a:ea typeface="Arial"/>
                <a:cs typeface="Arial"/>
              </a:defRPr>
            </a:pPr>
            <a:r>
              <a:rPr sz="2850" b="1" i="0">
                <a:solidFill>
                  <a:srgbClr val="14243D"/>
                </a:solidFill>
                <a:latin typeface="Arial"/>
                <a:ea typeface="Arial"/>
                <a:cs typeface="Arial"/>
              </a:rPr>
              <a:t>Segmentación: cobertura alta, universo completo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5D03595-1798-4C5B-B6D6-BC6220B62C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95400"/>
            <a:ext cx="9906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350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defPPr>
            <a:lvl1pPr algn="l">
              <a:defRPr sz="1350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lvl1pPr>
            <a:lvl2pPr algn="l">
              <a:defRPr sz="1350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lvl2pPr>
            <a:lvl3pPr algn="l">
              <a:defRPr sz="1350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lvl3pPr>
            <a:lvl4pPr algn="l">
              <a:defRPr sz="1350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lvl4pPr>
            <a:lvl5pPr algn="l">
              <a:defRPr sz="1350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lvl5pPr>
            <a:lvl6pPr algn="l">
              <a:defRPr sz="1350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lvl6pPr>
            <a:lvl7pPr algn="l">
              <a:defRPr sz="1350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lvl7pPr>
            <a:lvl8pPr algn="l">
              <a:defRPr sz="1350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lvl8pPr>
            <a:lvl9pPr algn="l">
              <a:defRPr sz="1350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lnSpc>
                <a:spcPct val="100000"/>
              </a:lnSpc>
              <a:buNone/>
              <a:defRPr sz="1350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1350" b="0" i="0">
                <a:solidFill>
                  <a:srgbClr val="667085"/>
                </a:solidFill>
                <a:latin typeface="Arial"/>
                <a:ea typeface="Arial"/>
                <a:cs typeface="Arial"/>
              </a:rPr>
              <a:t>Los tres perfiles sirven para orientar investigación y capacidad. El cuarto renglón solo identifica casos fuera de perfil.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6EBCE6C-FACF-4369-9F1A-F19CF17757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526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DEE8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4782709-08B5-4FC6-A87C-D56FDC0F8C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133600"/>
            <a:ext cx="2667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3450" b="1" i="0">
                <a:solidFill>
                  <a:srgbClr val="6D4AFF"/>
                </a:solidFill>
                <a:latin typeface="Arial"/>
                <a:ea typeface="Arial"/>
                <a:cs typeface="Arial"/>
              </a:defRPr>
            </a:defPPr>
            <a:lvl1pPr algn="l">
              <a:defRPr sz="3450" b="1" i="0">
                <a:solidFill>
                  <a:srgbClr val="6D4AFF"/>
                </a:solidFill>
                <a:latin typeface="Arial"/>
                <a:ea typeface="Arial"/>
                <a:cs typeface="Arial"/>
              </a:defRPr>
            </a:lvl1pPr>
            <a:lvl2pPr algn="l">
              <a:defRPr sz="3450" b="1" i="0">
                <a:solidFill>
                  <a:srgbClr val="6D4AFF"/>
                </a:solidFill>
                <a:latin typeface="Arial"/>
                <a:ea typeface="Arial"/>
                <a:cs typeface="Arial"/>
              </a:defRPr>
            </a:lvl2pPr>
            <a:lvl3pPr algn="l">
              <a:defRPr sz="3450" b="1" i="0">
                <a:solidFill>
                  <a:srgbClr val="6D4AFF"/>
                </a:solidFill>
                <a:latin typeface="Arial"/>
                <a:ea typeface="Arial"/>
                <a:cs typeface="Arial"/>
              </a:defRPr>
            </a:lvl3pPr>
            <a:lvl4pPr algn="l">
              <a:defRPr sz="3450" b="1" i="0">
                <a:solidFill>
                  <a:srgbClr val="6D4AFF"/>
                </a:solidFill>
                <a:latin typeface="Arial"/>
                <a:ea typeface="Arial"/>
                <a:cs typeface="Arial"/>
              </a:defRPr>
            </a:lvl4pPr>
            <a:lvl5pPr algn="l">
              <a:defRPr sz="3450" b="1" i="0">
                <a:solidFill>
                  <a:srgbClr val="6D4AFF"/>
                </a:solidFill>
                <a:latin typeface="Arial"/>
                <a:ea typeface="Arial"/>
                <a:cs typeface="Arial"/>
              </a:defRPr>
            </a:lvl5pPr>
            <a:lvl6pPr algn="l">
              <a:defRPr sz="3450" b="1" i="0">
                <a:solidFill>
                  <a:srgbClr val="6D4AFF"/>
                </a:solidFill>
                <a:latin typeface="Arial"/>
                <a:ea typeface="Arial"/>
                <a:cs typeface="Arial"/>
              </a:defRPr>
            </a:lvl6pPr>
            <a:lvl7pPr algn="l">
              <a:defRPr sz="3450" b="1" i="0">
                <a:solidFill>
                  <a:srgbClr val="6D4AFF"/>
                </a:solidFill>
                <a:latin typeface="Arial"/>
                <a:ea typeface="Arial"/>
                <a:cs typeface="Arial"/>
              </a:defRPr>
            </a:lvl7pPr>
            <a:lvl8pPr algn="l">
              <a:defRPr sz="3450" b="1" i="0">
                <a:solidFill>
                  <a:srgbClr val="6D4AFF"/>
                </a:solidFill>
                <a:latin typeface="Arial"/>
                <a:ea typeface="Arial"/>
                <a:cs typeface="Arial"/>
              </a:defRPr>
            </a:lvl8pPr>
            <a:lvl9pPr algn="l">
              <a:defRPr sz="3450" b="1" i="0">
                <a:solidFill>
                  <a:srgbClr val="6D4A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3450" b="1" i="0">
                <a:solidFill>
                  <a:srgbClr val="6D4AFF"/>
                </a:solidFill>
                <a:latin typeface="Arial"/>
                <a:ea typeface="Arial"/>
                <a:cs typeface="Arial"/>
              </a:defRPr>
            </a:pPr>
            <a:r>
              <a:rPr sz="3450" b="1" i="0">
                <a:solidFill>
                  <a:srgbClr val="6D4AFF"/>
                </a:solidFill>
                <a:latin typeface="Arial"/>
                <a:ea typeface="Arial"/>
                <a:cs typeface="Arial"/>
              </a:rPr>
              <a:t>481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D28A18C-2657-4085-9E4A-65EB86A3B6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86050"/>
            <a:ext cx="2667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200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defPPr>
            <a:lvl1pPr algn="l">
              <a:defRPr sz="1200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lvl1pPr>
            <a:lvl2pPr algn="l">
              <a:defRPr sz="1200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lvl2pPr>
            <a:lvl3pPr algn="l">
              <a:defRPr sz="1200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lvl3pPr>
            <a:lvl4pPr algn="l">
              <a:defRPr sz="1200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lvl4pPr>
            <a:lvl5pPr algn="l">
              <a:defRPr sz="1200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lvl5pPr>
            <a:lvl6pPr algn="l">
              <a:defRPr sz="1200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lvl6pPr>
            <a:lvl7pPr algn="l">
              <a:defRPr sz="1200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lvl7pPr>
            <a:lvl8pPr algn="l">
              <a:defRPr sz="1200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lvl8pPr>
            <a:lvl9pPr algn="l">
              <a:defRPr sz="1200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1200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1200" b="0" i="0">
                <a:solidFill>
                  <a:srgbClr val="667085"/>
                </a:solidFill>
                <a:latin typeface="Arial"/>
                <a:ea typeface="Arial"/>
                <a:cs typeface="Arial"/>
              </a:rPr>
              <a:t>perfiles modelados en BI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6A4BDA7-4A1D-476C-AC07-D344F1C0EA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2133600"/>
            <a:ext cx="3048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3450" b="1" i="0">
                <a:solidFill>
                  <a:srgbClr val="14243D"/>
                </a:solidFill>
                <a:latin typeface="Arial"/>
                <a:ea typeface="Arial"/>
                <a:cs typeface="Arial"/>
              </a:defRPr>
            </a:defPPr>
            <a:lvl1pPr algn="l">
              <a:defRPr sz="3450" b="1" i="0">
                <a:solidFill>
                  <a:srgbClr val="14243D"/>
                </a:solidFill>
                <a:latin typeface="Arial"/>
                <a:ea typeface="Arial"/>
                <a:cs typeface="Arial"/>
              </a:defRPr>
            </a:lvl1pPr>
            <a:lvl2pPr algn="l">
              <a:defRPr sz="3450" b="1" i="0">
                <a:solidFill>
                  <a:srgbClr val="14243D"/>
                </a:solidFill>
                <a:latin typeface="Arial"/>
                <a:ea typeface="Arial"/>
                <a:cs typeface="Arial"/>
              </a:defRPr>
            </a:lvl2pPr>
            <a:lvl3pPr algn="l">
              <a:defRPr sz="3450" b="1" i="0">
                <a:solidFill>
                  <a:srgbClr val="14243D"/>
                </a:solidFill>
                <a:latin typeface="Arial"/>
                <a:ea typeface="Arial"/>
                <a:cs typeface="Arial"/>
              </a:defRPr>
            </a:lvl3pPr>
            <a:lvl4pPr algn="l">
              <a:defRPr sz="3450" b="1" i="0">
                <a:solidFill>
                  <a:srgbClr val="14243D"/>
                </a:solidFill>
                <a:latin typeface="Arial"/>
                <a:ea typeface="Arial"/>
                <a:cs typeface="Arial"/>
              </a:defRPr>
            </a:lvl4pPr>
            <a:lvl5pPr algn="l">
              <a:defRPr sz="3450" b="1" i="0">
                <a:solidFill>
                  <a:srgbClr val="14243D"/>
                </a:solidFill>
                <a:latin typeface="Arial"/>
                <a:ea typeface="Arial"/>
                <a:cs typeface="Arial"/>
              </a:defRPr>
            </a:lvl5pPr>
            <a:lvl6pPr algn="l">
              <a:defRPr sz="3450" b="1" i="0">
                <a:solidFill>
                  <a:srgbClr val="14243D"/>
                </a:solidFill>
                <a:latin typeface="Arial"/>
                <a:ea typeface="Arial"/>
                <a:cs typeface="Arial"/>
              </a:defRPr>
            </a:lvl6pPr>
            <a:lvl7pPr algn="l">
              <a:defRPr sz="3450" b="1" i="0">
                <a:solidFill>
                  <a:srgbClr val="14243D"/>
                </a:solidFill>
                <a:latin typeface="Arial"/>
                <a:ea typeface="Arial"/>
                <a:cs typeface="Arial"/>
              </a:defRPr>
            </a:lvl7pPr>
            <a:lvl8pPr algn="l">
              <a:defRPr sz="3450" b="1" i="0">
                <a:solidFill>
                  <a:srgbClr val="14243D"/>
                </a:solidFill>
                <a:latin typeface="Arial"/>
                <a:ea typeface="Arial"/>
                <a:cs typeface="Arial"/>
              </a:defRPr>
            </a:lvl8pPr>
            <a:lvl9pPr algn="l">
              <a:defRPr sz="3450" b="1" i="0">
                <a:solidFill>
                  <a:srgbClr val="14243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3450" b="1" i="0">
                <a:solidFill>
                  <a:srgbClr val="14243D"/>
                </a:solidFill>
                <a:latin typeface="Arial"/>
                <a:ea typeface="Arial"/>
                <a:cs typeface="Arial"/>
              </a:defRPr>
            </a:pPr>
            <a:r>
              <a:rPr sz="3450" b="1" i="0">
                <a:solidFill>
                  <a:srgbClr val="14243D"/>
                </a:solidFill>
                <a:latin typeface="Arial"/>
                <a:ea typeface="Arial"/>
                <a:cs typeface="Arial"/>
              </a:rPr>
              <a:t>98.91%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25E3E55-32C7-4E23-A39B-ADFE428780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2686050"/>
            <a:ext cx="3048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200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defPPr>
            <a:lvl1pPr algn="l">
              <a:defRPr sz="1200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lvl1pPr>
            <a:lvl2pPr algn="l">
              <a:defRPr sz="1200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lvl2pPr>
            <a:lvl3pPr algn="l">
              <a:defRPr sz="1200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lvl3pPr>
            <a:lvl4pPr algn="l">
              <a:defRPr sz="1200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lvl4pPr>
            <a:lvl5pPr algn="l">
              <a:defRPr sz="1200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lvl5pPr>
            <a:lvl6pPr algn="l">
              <a:defRPr sz="1200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lvl6pPr>
            <a:lvl7pPr algn="l">
              <a:defRPr sz="1200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lvl7pPr>
            <a:lvl8pPr algn="l">
              <a:defRPr sz="1200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lvl8pPr>
            <a:lvl9pPr algn="l">
              <a:defRPr sz="1200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1200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1200" b="0" i="0">
                <a:solidFill>
                  <a:srgbClr val="667085"/>
                </a:solidFill>
                <a:latin typeface="Arial"/>
                <a:ea typeface="Arial"/>
                <a:cs typeface="Arial"/>
              </a:rPr>
              <a:t>cobertura de solicitudes</a:t>
            </a:r>
          </a:p>
        </p:txBody>
      </p:sp>
      <p:graphicFrame>
        <p:nvGraphicFramePr>
          <p:cNvPr id="10" name="Chart">
            <a:extLst xmlns:a="http://schemas.openxmlformats.org/drawingml/2006/main">
              <a:ext uri="{FF2B5EF4-FFF2-40B4-BE49-F238E27FC236}">
                <a16:creationId xmlns:a16="http://schemas.microsoft.com/office/drawing/2014/main" id="{945CE552-18D1-42B9-A15C-D853F4AAE2F9}"/>
              </a:ext>
            </a:extLst>
          </p:cNvPr>
          <p:cNvGraphicFramePr/>
          <p:nvPr/>
        </p:nvGraphicFramePr>
        <p:xfrm>
          <a:off xmlns:a="http://schemas.openxmlformats.org/drawingml/2006/main" x="685800" y="3333750"/>
          <a:ext xmlns:a="http://schemas.openxmlformats.org/drawingml/2006/main" cx="7334250" cy="27051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efccc1a1268c42c2"/>
          </a:graphicData>
        </a:graphic>
      </p:graphicFrame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E6BC818-09C7-45D4-AC53-CC9EBCC368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3333750"/>
            <a:ext cx="2781300" cy="2705100"/>
          </a:xfrm>
          <a:prstGeom xmlns:a="http://schemas.openxmlformats.org/drawingml/2006/main" prst="roundRect">
            <a:avLst>
              <a:gd name="adj" fmla="val 4225"/>
            </a:avLst>
          </a:prstGeom>
          <a:solidFill xmlns:a="http://schemas.openxmlformats.org/drawingml/2006/main">
            <a:srgbClr val="14243D"/>
          </a:solidFill>
          <a:ln xmlns:a="http://schemas.openxmlformats.org/drawingml/2006/main" w="0">
            <a:solidFill>
              <a:srgbClr val="14243D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BDDECE1-790A-4E01-8131-FC4E4C2D7B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3619500"/>
            <a:ext cx="2095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275" b="1" i="0">
                <a:solidFill>
                  <a:srgbClr val="DCE8FF"/>
                </a:solidFill>
                <a:latin typeface="Arial"/>
                <a:ea typeface="Arial"/>
                <a:cs typeface="Arial"/>
              </a:defRPr>
            </a:defPPr>
            <a:lvl1pPr algn="l">
              <a:defRPr sz="1275" b="1" i="0">
                <a:solidFill>
                  <a:srgbClr val="DCE8FF"/>
                </a:solidFill>
                <a:latin typeface="Arial"/>
                <a:ea typeface="Arial"/>
                <a:cs typeface="Arial"/>
              </a:defRPr>
            </a:lvl1pPr>
            <a:lvl2pPr algn="l">
              <a:defRPr sz="1275" b="1" i="0">
                <a:solidFill>
                  <a:srgbClr val="DCE8FF"/>
                </a:solidFill>
                <a:latin typeface="Arial"/>
                <a:ea typeface="Arial"/>
                <a:cs typeface="Arial"/>
              </a:defRPr>
            </a:lvl2pPr>
            <a:lvl3pPr algn="l">
              <a:defRPr sz="1275" b="1" i="0">
                <a:solidFill>
                  <a:srgbClr val="DCE8FF"/>
                </a:solidFill>
                <a:latin typeface="Arial"/>
                <a:ea typeface="Arial"/>
                <a:cs typeface="Arial"/>
              </a:defRPr>
            </a:lvl3pPr>
            <a:lvl4pPr algn="l">
              <a:defRPr sz="1275" b="1" i="0">
                <a:solidFill>
                  <a:srgbClr val="DCE8FF"/>
                </a:solidFill>
                <a:latin typeface="Arial"/>
                <a:ea typeface="Arial"/>
                <a:cs typeface="Arial"/>
              </a:defRPr>
            </a:lvl4pPr>
            <a:lvl5pPr algn="l">
              <a:defRPr sz="1275" b="1" i="0">
                <a:solidFill>
                  <a:srgbClr val="DCE8FF"/>
                </a:solidFill>
                <a:latin typeface="Arial"/>
                <a:ea typeface="Arial"/>
                <a:cs typeface="Arial"/>
              </a:defRPr>
            </a:lvl5pPr>
            <a:lvl6pPr algn="l">
              <a:defRPr sz="1275" b="1" i="0">
                <a:solidFill>
                  <a:srgbClr val="DCE8FF"/>
                </a:solidFill>
                <a:latin typeface="Arial"/>
                <a:ea typeface="Arial"/>
                <a:cs typeface="Arial"/>
              </a:defRPr>
            </a:lvl6pPr>
            <a:lvl7pPr algn="l">
              <a:defRPr sz="1275" b="1" i="0">
                <a:solidFill>
                  <a:srgbClr val="DCE8FF"/>
                </a:solidFill>
                <a:latin typeface="Arial"/>
                <a:ea typeface="Arial"/>
                <a:cs typeface="Arial"/>
              </a:defRPr>
            </a:lvl7pPr>
            <a:lvl8pPr algn="l">
              <a:defRPr sz="1275" b="1" i="0">
                <a:solidFill>
                  <a:srgbClr val="DCE8FF"/>
                </a:solidFill>
                <a:latin typeface="Arial"/>
                <a:ea typeface="Arial"/>
                <a:cs typeface="Arial"/>
              </a:defRPr>
            </a:lvl8pPr>
            <a:lvl9pPr algn="l">
              <a:defRPr sz="1275" b="1" i="0">
                <a:solidFill>
                  <a:srgbClr val="DCE8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1275" b="1" i="0">
                <a:solidFill>
                  <a:srgbClr val="DCE8FF"/>
                </a:solidFill>
                <a:latin typeface="Arial"/>
                <a:ea typeface="Arial"/>
                <a:cs typeface="Arial"/>
              </a:defRPr>
            </a:pPr>
            <a:r>
              <a:rPr sz="1275" b="1" i="0">
                <a:solidFill>
                  <a:srgbClr val="DCE8FF"/>
                </a:solidFill>
                <a:latin typeface="Arial"/>
                <a:ea typeface="Arial"/>
                <a:cs typeface="Arial"/>
              </a:rPr>
              <a:t>Cuadratura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3DA93F2-4BC0-48CD-96ED-574D78B28F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4076700"/>
            <a:ext cx="20955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25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 algn="l">
              <a:defRPr sz="225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 algn="l">
              <a:defRPr sz="225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 algn="l">
              <a:defRPr sz="225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 algn="l">
              <a:defRPr sz="225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 algn="l">
              <a:defRPr sz="225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 algn="l">
              <a:defRPr sz="225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 algn="l">
              <a:defRPr sz="225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 algn="l">
              <a:defRPr sz="225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 algn="l">
              <a:defRPr sz="225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lnSpc>
                <a:spcPct val="90000"/>
              </a:lnSpc>
              <a:buNone/>
              <a:defRPr sz="225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25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1,298,155</a:t>
            </a:r>
          </a:p>
          <a:p xmlns:a="http://schemas.openxmlformats.org/drawingml/2006/main">
            <a:pPr algn="l">
              <a:lnSpc>
                <a:spcPct val="90000"/>
              </a:lnSpc>
              <a:buNone/>
              <a:defRPr sz="225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25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segmentadas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827F58C-FB8D-403E-8A56-E19C3F7E3C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4972050"/>
            <a:ext cx="2000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6D4AFF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852F503-E8C9-4A74-AAFD-96E011FABA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5219700"/>
            <a:ext cx="2095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 algn="l">
              <a:defRPr sz="180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 algn="l">
              <a:defRPr sz="180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 algn="l">
              <a:defRPr sz="180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 algn="l">
              <a:defRPr sz="180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 algn="l">
              <a:defRPr sz="180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 algn="l">
              <a:defRPr sz="180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 algn="l">
              <a:defRPr sz="180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 algn="l">
              <a:defRPr sz="180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 algn="l">
              <a:defRPr sz="180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lnSpc>
                <a:spcPct val="92000"/>
              </a:lnSpc>
              <a:buNone/>
              <a:defRPr sz="180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80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+ 14,310</a:t>
            </a:r>
          </a:p>
          <a:p xmlns:a="http://schemas.openxmlformats.org/drawingml/2006/main">
            <a:pPr algn="l">
              <a:lnSpc>
                <a:spcPct val="92000"/>
              </a:lnSpc>
              <a:buNone/>
              <a:defRPr sz="180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80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sin perfil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6B52223-FEFE-458E-B6C4-417FD26060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10972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900" b="0" i="0">
                <a:solidFill>
                  <a:srgbClr val="98A2B3"/>
                </a:solidFill>
                <a:latin typeface="Arial"/>
                <a:ea typeface="Arial"/>
                <a:cs typeface="Arial"/>
              </a:defRPr>
            </a:defPPr>
            <a:lvl1pPr algn="l">
              <a:defRPr sz="900" b="0" i="0">
                <a:solidFill>
                  <a:srgbClr val="98A2B3"/>
                </a:solidFill>
                <a:latin typeface="Arial"/>
                <a:ea typeface="Arial"/>
                <a:cs typeface="Arial"/>
              </a:defRPr>
            </a:lvl1pPr>
            <a:lvl2pPr algn="l">
              <a:defRPr sz="900" b="0" i="0">
                <a:solidFill>
                  <a:srgbClr val="98A2B3"/>
                </a:solidFill>
                <a:latin typeface="Arial"/>
                <a:ea typeface="Arial"/>
                <a:cs typeface="Arial"/>
              </a:defRPr>
            </a:lvl2pPr>
            <a:lvl3pPr algn="l">
              <a:defRPr sz="900" b="0" i="0">
                <a:solidFill>
                  <a:srgbClr val="98A2B3"/>
                </a:solidFill>
                <a:latin typeface="Arial"/>
                <a:ea typeface="Arial"/>
                <a:cs typeface="Arial"/>
              </a:defRPr>
            </a:lvl3pPr>
            <a:lvl4pPr algn="l">
              <a:defRPr sz="900" b="0" i="0">
                <a:solidFill>
                  <a:srgbClr val="98A2B3"/>
                </a:solidFill>
                <a:latin typeface="Arial"/>
                <a:ea typeface="Arial"/>
                <a:cs typeface="Arial"/>
              </a:defRPr>
            </a:lvl4pPr>
            <a:lvl5pPr algn="l">
              <a:defRPr sz="900" b="0" i="0">
                <a:solidFill>
                  <a:srgbClr val="98A2B3"/>
                </a:solidFill>
                <a:latin typeface="Arial"/>
                <a:ea typeface="Arial"/>
                <a:cs typeface="Arial"/>
              </a:defRPr>
            </a:lvl5pPr>
            <a:lvl6pPr algn="l">
              <a:defRPr sz="900" b="0" i="0">
                <a:solidFill>
                  <a:srgbClr val="98A2B3"/>
                </a:solidFill>
                <a:latin typeface="Arial"/>
                <a:ea typeface="Arial"/>
                <a:cs typeface="Arial"/>
              </a:defRPr>
            </a:lvl6pPr>
            <a:lvl7pPr algn="l">
              <a:defRPr sz="900" b="0" i="0">
                <a:solidFill>
                  <a:srgbClr val="98A2B3"/>
                </a:solidFill>
                <a:latin typeface="Arial"/>
                <a:ea typeface="Arial"/>
                <a:cs typeface="Arial"/>
              </a:defRPr>
            </a:lvl7pPr>
            <a:lvl8pPr algn="l">
              <a:defRPr sz="900" b="0" i="0">
                <a:solidFill>
                  <a:srgbClr val="98A2B3"/>
                </a:solidFill>
                <a:latin typeface="Arial"/>
                <a:ea typeface="Arial"/>
                <a:cs typeface="Arial"/>
              </a:defRPr>
            </a:lvl8pPr>
            <a:lvl9pPr algn="l">
              <a:defRPr sz="900" b="0" i="0">
                <a:solidFill>
                  <a:srgbClr val="98A2B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900" b="0" i="0">
                <a:solidFill>
                  <a:srgbClr val="98A2B3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98A2B3"/>
                </a:solidFill>
                <a:latin typeface="Arial"/>
                <a:ea typeface="Arial"/>
                <a:cs typeface="Arial"/>
              </a:rPr>
              <a:t>Fuente: modelo de perfiles K-Means y validación BI. `Sin perfil K-Means` preserva el 100% del universo.</a:t>
            </a:r>
          </a:p>
        </p:txBody>
      </p:sp>
    </p:spTree>
    <p:extLst>
      <p:ext uri="{BB962C8B-B14F-4D97-AF65-F5344CB8AC3E}">
        <p14:creationId xmlns:p14="http://schemas.microsoft.com/office/powerpoint/2010/main" val="76025958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7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5C9835C-FDFD-4E66-8B7B-BD828CEFB5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2667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975" b="1" i="0">
                <a:solidFill>
                  <a:srgbClr val="2463EB"/>
                </a:solidFill>
                <a:latin typeface="Arial"/>
                <a:ea typeface="Arial"/>
                <a:cs typeface="Arial"/>
              </a:defRPr>
            </a:defPPr>
            <a:lvl1pPr algn="l">
              <a:defRPr sz="975" b="1" i="0">
                <a:solidFill>
                  <a:srgbClr val="2463EB"/>
                </a:solidFill>
                <a:latin typeface="Arial"/>
                <a:ea typeface="Arial"/>
                <a:cs typeface="Arial"/>
              </a:defRPr>
            </a:lvl1pPr>
            <a:lvl2pPr algn="l">
              <a:defRPr sz="975" b="1" i="0">
                <a:solidFill>
                  <a:srgbClr val="2463EB"/>
                </a:solidFill>
                <a:latin typeface="Arial"/>
                <a:ea typeface="Arial"/>
                <a:cs typeface="Arial"/>
              </a:defRPr>
            </a:lvl2pPr>
            <a:lvl3pPr algn="l">
              <a:defRPr sz="975" b="1" i="0">
                <a:solidFill>
                  <a:srgbClr val="2463EB"/>
                </a:solidFill>
                <a:latin typeface="Arial"/>
                <a:ea typeface="Arial"/>
                <a:cs typeface="Arial"/>
              </a:defRPr>
            </a:lvl3pPr>
            <a:lvl4pPr algn="l">
              <a:defRPr sz="975" b="1" i="0">
                <a:solidFill>
                  <a:srgbClr val="2463EB"/>
                </a:solidFill>
                <a:latin typeface="Arial"/>
                <a:ea typeface="Arial"/>
                <a:cs typeface="Arial"/>
              </a:defRPr>
            </a:lvl4pPr>
            <a:lvl5pPr algn="l">
              <a:defRPr sz="975" b="1" i="0">
                <a:solidFill>
                  <a:srgbClr val="2463EB"/>
                </a:solidFill>
                <a:latin typeface="Arial"/>
                <a:ea typeface="Arial"/>
                <a:cs typeface="Arial"/>
              </a:defRPr>
            </a:lvl5pPr>
            <a:lvl6pPr algn="l">
              <a:defRPr sz="975" b="1" i="0">
                <a:solidFill>
                  <a:srgbClr val="2463EB"/>
                </a:solidFill>
                <a:latin typeface="Arial"/>
                <a:ea typeface="Arial"/>
                <a:cs typeface="Arial"/>
              </a:defRPr>
            </a:lvl6pPr>
            <a:lvl7pPr algn="l">
              <a:defRPr sz="975" b="1" i="0">
                <a:solidFill>
                  <a:srgbClr val="2463EB"/>
                </a:solidFill>
                <a:latin typeface="Arial"/>
                <a:ea typeface="Arial"/>
                <a:cs typeface="Arial"/>
              </a:defRPr>
            </a:lvl7pPr>
            <a:lvl8pPr algn="l">
              <a:defRPr sz="975" b="1" i="0">
                <a:solidFill>
                  <a:srgbClr val="2463EB"/>
                </a:solidFill>
                <a:latin typeface="Arial"/>
                <a:ea typeface="Arial"/>
                <a:cs typeface="Arial"/>
              </a:defRPr>
            </a:lvl8pPr>
            <a:lvl9pPr algn="l">
              <a:defRPr sz="975" b="1" i="0">
                <a:solidFill>
                  <a:srgbClr val="2463E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975" b="1" i="0">
                <a:solidFill>
                  <a:srgbClr val="2463EB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2463EB"/>
                </a:solidFill>
                <a:latin typeface="Arial"/>
                <a:ea typeface="Arial"/>
                <a:cs typeface="Arial"/>
              </a:rPr>
              <a:t>NYC311 / FASE 3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07E83E4-F789-42AB-AB80-863C881233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44200" y="285750"/>
            <a:ext cx="8382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975" b="1" i="0">
                <a:solidFill>
                  <a:srgbClr val="98A2B3"/>
                </a:solidFill>
                <a:latin typeface="Arial"/>
                <a:ea typeface="Arial"/>
                <a:cs typeface="Arial"/>
              </a:defRPr>
            </a:defPPr>
            <a:lvl1pPr algn="r">
              <a:defRPr sz="975" b="1" i="0">
                <a:solidFill>
                  <a:srgbClr val="98A2B3"/>
                </a:solidFill>
                <a:latin typeface="Arial"/>
                <a:ea typeface="Arial"/>
                <a:cs typeface="Arial"/>
              </a:defRPr>
            </a:lvl1pPr>
            <a:lvl2pPr algn="r">
              <a:defRPr sz="975" b="1" i="0">
                <a:solidFill>
                  <a:srgbClr val="98A2B3"/>
                </a:solidFill>
                <a:latin typeface="Arial"/>
                <a:ea typeface="Arial"/>
                <a:cs typeface="Arial"/>
              </a:defRPr>
            </a:lvl2pPr>
            <a:lvl3pPr algn="r">
              <a:defRPr sz="975" b="1" i="0">
                <a:solidFill>
                  <a:srgbClr val="98A2B3"/>
                </a:solidFill>
                <a:latin typeface="Arial"/>
                <a:ea typeface="Arial"/>
                <a:cs typeface="Arial"/>
              </a:defRPr>
            </a:lvl3pPr>
            <a:lvl4pPr algn="r">
              <a:defRPr sz="975" b="1" i="0">
                <a:solidFill>
                  <a:srgbClr val="98A2B3"/>
                </a:solidFill>
                <a:latin typeface="Arial"/>
                <a:ea typeface="Arial"/>
                <a:cs typeface="Arial"/>
              </a:defRPr>
            </a:lvl4pPr>
            <a:lvl5pPr algn="r">
              <a:defRPr sz="975" b="1" i="0">
                <a:solidFill>
                  <a:srgbClr val="98A2B3"/>
                </a:solidFill>
                <a:latin typeface="Arial"/>
                <a:ea typeface="Arial"/>
                <a:cs typeface="Arial"/>
              </a:defRPr>
            </a:lvl5pPr>
            <a:lvl6pPr algn="r">
              <a:defRPr sz="975" b="1" i="0">
                <a:solidFill>
                  <a:srgbClr val="98A2B3"/>
                </a:solidFill>
                <a:latin typeface="Arial"/>
                <a:ea typeface="Arial"/>
                <a:cs typeface="Arial"/>
              </a:defRPr>
            </a:lvl6pPr>
            <a:lvl7pPr algn="r">
              <a:defRPr sz="975" b="1" i="0">
                <a:solidFill>
                  <a:srgbClr val="98A2B3"/>
                </a:solidFill>
                <a:latin typeface="Arial"/>
                <a:ea typeface="Arial"/>
                <a:cs typeface="Arial"/>
              </a:defRPr>
            </a:lvl7pPr>
            <a:lvl8pPr algn="r">
              <a:defRPr sz="975" b="1" i="0">
                <a:solidFill>
                  <a:srgbClr val="98A2B3"/>
                </a:solidFill>
                <a:latin typeface="Arial"/>
                <a:ea typeface="Arial"/>
                <a:cs typeface="Arial"/>
              </a:defRPr>
            </a:lvl8pPr>
            <a:lvl9pPr algn="r">
              <a:defRPr sz="975" b="1" i="0">
                <a:solidFill>
                  <a:srgbClr val="98A2B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r">
              <a:lnSpc>
                <a:spcPct val="105000"/>
              </a:lnSpc>
              <a:buNone/>
              <a:defRPr sz="975" b="1" i="0">
                <a:solidFill>
                  <a:srgbClr val="98A2B3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98A2B3"/>
                </a:solidFill>
                <a:latin typeface="Arial"/>
                <a:ea typeface="Arial"/>
                <a:cs typeface="Arial"/>
              </a:rPr>
              <a:t>11 / 13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6534690-583D-4638-8986-B9A63FA1B1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"/>
            <a:ext cx="9906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2850" b="1" i="0">
                <a:solidFill>
                  <a:srgbClr val="14243D"/>
                </a:solidFill>
                <a:latin typeface="Arial"/>
                <a:ea typeface="Arial"/>
                <a:cs typeface="Arial"/>
              </a:defRPr>
            </a:defPPr>
            <a:lvl1pPr algn="l">
              <a:defRPr sz="2850" b="1" i="0">
                <a:solidFill>
                  <a:srgbClr val="14243D"/>
                </a:solidFill>
                <a:latin typeface="Arial"/>
                <a:ea typeface="Arial"/>
                <a:cs typeface="Arial"/>
              </a:defRPr>
            </a:lvl1pPr>
            <a:lvl2pPr algn="l">
              <a:defRPr sz="2850" b="1" i="0">
                <a:solidFill>
                  <a:srgbClr val="14243D"/>
                </a:solidFill>
                <a:latin typeface="Arial"/>
                <a:ea typeface="Arial"/>
                <a:cs typeface="Arial"/>
              </a:defRPr>
            </a:lvl2pPr>
            <a:lvl3pPr algn="l">
              <a:defRPr sz="2850" b="1" i="0">
                <a:solidFill>
                  <a:srgbClr val="14243D"/>
                </a:solidFill>
                <a:latin typeface="Arial"/>
                <a:ea typeface="Arial"/>
                <a:cs typeface="Arial"/>
              </a:defRPr>
            </a:lvl3pPr>
            <a:lvl4pPr algn="l">
              <a:defRPr sz="2850" b="1" i="0">
                <a:solidFill>
                  <a:srgbClr val="14243D"/>
                </a:solidFill>
                <a:latin typeface="Arial"/>
                <a:ea typeface="Arial"/>
                <a:cs typeface="Arial"/>
              </a:defRPr>
            </a:lvl4pPr>
            <a:lvl5pPr algn="l">
              <a:defRPr sz="2850" b="1" i="0">
                <a:solidFill>
                  <a:srgbClr val="14243D"/>
                </a:solidFill>
                <a:latin typeface="Arial"/>
                <a:ea typeface="Arial"/>
                <a:cs typeface="Arial"/>
              </a:defRPr>
            </a:lvl5pPr>
            <a:lvl6pPr algn="l">
              <a:defRPr sz="2850" b="1" i="0">
                <a:solidFill>
                  <a:srgbClr val="14243D"/>
                </a:solidFill>
                <a:latin typeface="Arial"/>
                <a:ea typeface="Arial"/>
                <a:cs typeface="Arial"/>
              </a:defRPr>
            </a:lvl6pPr>
            <a:lvl7pPr algn="l">
              <a:defRPr sz="2850" b="1" i="0">
                <a:solidFill>
                  <a:srgbClr val="14243D"/>
                </a:solidFill>
                <a:latin typeface="Arial"/>
                <a:ea typeface="Arial"/>
                <a:cs typeface="Arial"/>
              </a:defRPr>
            </a:lvl7pPr>
            <a:lvl8pPr algn="l">
              <a:defRPr sz="2850" b="1" i="0">
                <a:solidFill>
                  <a:srgbClr val="14243D"/>
                </a:solidFill>
                <a:latin typeface="Arial"/>
                <a:ea typeface="Arial"/>
                <a:cs typeface="Arial"/>
              </a:defRPr>
            </a:lvl8pPr>
            <a:lvl9pPr algn="l">
              <a:defRPr sz="2850" b="1" i="0">
                <a:solidFill>
                  <a:srgbClr val="14243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lnSpc>
                <a:spcPct val="95000"/>
              </a:lnSpc>
              <a:buNone/>
              <a:defRPr sz="2850" b="1" i="0">
                <a:solidFill>
                  <a:srgbClr val="14243D"/>
                </a:solidFill>
                <a:latin typeface="Arial"/>
                <a:ea typeface="Arial"/>
                <a:cs typeface="Arial"/>
              </a:defRPr>
            </a:pPr>
            <a:r>
              <a:rPr sz="2850" b="1" i="0">
                <a:solidFill>
                  <a:srgbClr val="14243D"/>
                </a:solidFill>
                <a:latin typeface="Arial"/>
                <a:ea typeface="Arial"/>
                <a:cs typeface="Arial"/>
              </a:rPr>
              <a:t>Valor y costo: escenario, no ROI observado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2364BD9-8136-42EC-9A4B-5A86ADC8C7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95400"/>
            <a:ext cx="9906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350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defPPr>
            <a:lvl1pPr algn="l">
              <a:defRPr sz="1350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lvl1pPr>
            <a:lvl2pPr algn="l">
              <a:defRPr sz="1350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lvl2pPr>
            <a:lvl3pPr algn="l">
              <a:defRPr sz="1350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lvl3pPr>
            <a:lvl4pPr algn="l">
              <a:defRPr sz="1350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lvl4pPr>
            <a:lvl5pPr algn="l">
              <a:defRPr sz="1350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lvl5pPr>
            <a:lvl6pPr algn="l">
              <a:defRPr sz="1350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lvl6pPr>
            <a:lvl7pPr algn="l">
              <a:defRPr sz="1350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lvl7pPr>
            <a:lvl8pPr algn="l">
              <a:defRPr sz="1350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lvl8pPr>
            <a:lvl9pPr algn="l">
              <a:defRPr sz="1350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lnSpc>
                <a:spcPct val="100000"/>
              </a:lnSpc>
              <a:buNone/>
              <a:defRPr sz="1350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1350" b="0" i="0">
                <a:solidFill>
                  <a:srgbClr val="667085"/>
                </a:solidFill>
                <a:latin typeface="Arial"/>
                <a:ea typeface="Arial"/>
                <a:cs typeface="Arial"/>
              </a:rPr>
              <a:t>Horizonte de 3 años. La sensibilidad cambia las horas de análisis evitadas, no las métricas de minería.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76316CD-01F7-48E9-949C-D2480C6321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526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DEE8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385F529-429D-4B54-88B5-3A5B9F2398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38350"/>
            <a:ext cx="1428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125" b="1" i="0">
                <a:solidFill>
                  <a:srgbClr val="2463EB"/>
                </a:solidFill>
                <a:latin typeface="Arial"/>
                <a:ea typeface="Arial"/>
                <a:cs typeface="Arial"/>
              </a:defRPr>
            </a:defPPr>
            <a:lvl1pPr algn="l">
              <a:defRPr sz="1125" b="1" i="0">
                <a:solidFill>
                  <a:srgbClr val="2463EB"/>
                </a:solidFill>
                <a:latin typeface="Arial"/>
                <a:ea typeface="Arial"/>
                <a:cs typeface="Arial"/>
              </a:defRPr>
            </a:lvl1pPr>
            <a:lvl2pPr algn="l">
              <a:defRPr sz="1125" b="1" i="0">
                <a:solidFill>
                  <a:srgbClr val="2463EB"/>
                </a:solidFill>
                <a:latin typeface="Arial"/>
                <a:ea typeface="Arial"/>
                <a:cs typeface="Arial"/>
              </a:defRPr>
            </a:lvl2pPr>
            <a:lvl3pPr algn="l">
              <a:defRPr sz="1125" b="1" i="0">
                <a:solidFill>
                  <a:srgbClr val="2463EB"/>
                </a:solidFill>
                <a:latin typeface="Arial"/>
                <a:ea typeface="Arial"/>
                <a:cs typeface="Arial"/>
              </a:defRPr>
            </a:lvl3pPr>
            <a:lvl4pPr algn="l">
              <a:defRPr sz="1125" b="1" i="0">
                <a:solidFill>
                  <a:srgbClr val="2463EB"/>
                </a:solidFill>
                <a:latin typeface="Arial"/>
                <a:ea typeface="Arial"/>
                <a:cs typeface="Arial"/>
              </a:defRPr>
            </a:lvl4pPr>
            <a:lvl5pPr algn="l">
              <a:defRPr sz="1125" b="1" i="0">
                <a:solidFill>
                  <a:srgbClr val="2463EB"/>
                </a:solidFill>
                <a:latin typeface="Arial"/>
                <a:ea typeface="Arial"/>
                <a:cs typeface="Arial"/>
              </a:defRPr>
            </a:lvl5pPr>
            <a:lvl6pPr algn="l">
              <a:defRPr sz="1125" b="1" i="0">
                <a:solidFill>
                  <a:srgbClr val="2463EB"/>
                </a:solidFill>
                <a:latin typeface="Arial"/>
                <a:ea typeface="Arial"/>
                <a:cs typeface="Arial"/>
              </a:defRPr>
            </a:lvl6pPr>
            <a:lvl7pPr algn="l">
              <a:defRPr sz="1125" b="1" i="0">
                <a:solidFill>
                  <a:srgbClr val="2463EB"/>
                </a:solidFill>
                <a:latin typeface="Arial"/>
                <a:ea typeface="Arial"/>
                <a:cs typeface="Arial"/>
              </a:defRPr>
            </a:lvl7pPr>
            <a:lvl8pPr algn="l">
              <a:defRPr sz="1125" b="1" i="0">
                <a:solidFill>
                  <a:srgbClr val="2463EB"/>
                </a:solidFill>
                <a:latin typeface="Arial"/>
                <a:ea typeface="Arial"/>
                <a:cs typeface="Arial"/>
              </a:defRPr>
            </a:lvl8pPr>
            <a:lvl9pPr algn="l">
              <a:defRPr sz="1125" b="1" i="0">
                <a:solidFill>
                  <a:srgbClr val="2463E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1125" b="1" i="0">
                <a:solidFill>
                  <a:srgbClr val="2463EB"/>
                </a:solidFill>
                <a:latin typeface="Arial"/>
                <a:ea typeface="Arial"/>
                <a:cs typeface="Arial"/>
              </a:defRPr>
            </a:pPr>
            <a:r>
              <a:rPr sz="1125" b="1" i="0">
                <a:solidFill>
                  <a:srgbClr val="2463EB"/>
                </a:solidFill>
                <a:latin typeface="Arial"/>
                <a:ea typeface="Arial"/>
                <a:cs typeface="Arial"/>
              </a:rPr>
              <a:t>CAPEX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848C739-4959-44AE-BA0C-9E35DCB6CD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66950"/>
            <a:ext cx="2190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250" b="1" i="0">
                <a:solidFill>
                  <a:srgbClr val="14243D"/>
                </a:solidFill>
                <a:latin typeface="Arial"/>
                <a:ea typeface="Arial"/>
                <a:cs typeface="Arial"/>
              </a:defRPr>
            </a:defPPr>
            <a:lvl1pPr algn="l">
              <a:defRPr sz="2250" b="1" i="0">
                <a:solidFill>
                  <a:srgbClr val="14243D"/>
                </a:solidFill>
                <a:latin typeface="Arial"/>
                <a:ea typeface="Arial"/>
                <a:cs typeface="Arial"/>
              </a:defRPr>
            </a:lvl1pPr>
            <a:lvl2pPr algn="l">
              <a:defRPr sz="2250" b="1" i="0">
                <a:solidFill>
                  <a:srgbClr val="14243D"/>
                </a:solidFill>
                <a:latin typeface="Arial"/>
                <a:ea typeface="Arial"/>
                <a:cs typeface="Arial"/>
              </a:defRPr>
            </a:lvl2pPr>
            <a:lvl3pPr algn="l">
              <a:defRPr sz="2250" b="1" i="0">
                <a:solidFill>
                  <a:srgbClr val="14243D"/>
                </a:solidFill>
                <a:latin typeface="Arial"/>
                <a:ea typeface="Arial"/>
                <a:cs typeface="Arial"/>
              </a:defRPr>
            </a:lvl3pPr>
            <a:lvl4pPr algn="l">
              <a:defRPr sz="2250" b="1" i="0">
                <a:solidFill>
                  <a:srgbClr val="14243D"/>
                </a:solidFill>
                <a:latin typeface="Arial"/>
                <a:ea typeface="Arial"/>
                <a:cs typeface="Arial"/>
              </a:defRPr>
            </a:lvl4pPr>
            <a:lvl5pPr algn="l">
              <a:defRPr sz="2250" b="1" i="0">
                <a:solidFill>
                  <a:srgbClr val="14243D"/>
                </a:solidFill>
                <a:latin typeface="Arial"/>
                <a:ea typeface="Arial"/>
                <a:cs typeface="Arial"/>
              </a:defRPr>
            </a:lvl5pPr>
            <a:lvl6pPr algn="l">
              <a:defRPr sz="2250" b="1" i="0">
                <a:solidFill>
                  <a:srgbClr val="14243D"/>
                </a:solidFill>
                <a:latin typeface="Arial"/>
                <a:ea typeface="Arial"/>
                <a:cs typeface="Arial"/>
              </a:defRPr>
            </a:lvl6pPr>
            <a:lvl7pPr algn="l">
              <a:defRPr sz="2250" b="1" i="0">
                <a:solidFill>
                  <a:srgbClr val="14243D"/>
                </a:solidFill>
                <a:latin typeface="Arial"/>
                <a:ea typeface="Arial"/>
                <a:cs typeface="Arial"/>
              </a:defRPr>
            </a:lvl7pPr>
            <a:lvl8pPr algn="l">
              <a:defRPr sz="2250" b="1" i="0">
                <a:solidFill>
                  <a:srgbClr val="14243D"/>
                </a:solidFill>
                <a:latin typeface="Arial"/>
                <a:ea typeface="Arial"/>
                <a:cs typeface="Arial"/>
              </a:defRPr>
            </a:lvl8pPr>
            <a:lvl9pPr algn="l">
              <a:defRPr sz="2250" b="1" i="0">
                <a:solidFill>
                  <a:srgbClr val="14243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2250" b="1" i="0">
                <a:solidFill>
                  <a:srgbClr val="14243D"/>
                </a:solidFill>
                <a:latin typeface="Arial"/>
                <a:ea typeface="Arial"/>
                <a:cs typeface="Arial"/>
              </a:defRPr>
            </a:pPr>
            <a:r>
              <a:rPr sz="2250" b="1" i="0">
                <a:solidFill>
                  <a:srgbClr val="14243D"/>
                </a:solidFill>
                <a:latin typeface="Arial"/>
                <a:ea typeface="Arial"/>
                <a:cs typeface="Arial"/>
              </a:rPr>
              <a:t>4,520 USD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D0E8F90-D4FA-455F-B7AF-B99FF105FB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2038350"/>
            <a:ext cx="1714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125" b="1" i="0">
                <a:solidFill>
                  <a:srgbClr val="2463EB"/>
                </a:solidFill>
                <a:latin typeface="Arial"/>
                <a:ea typeface="Arial"/>
                <a:cs typeface="Arial"/>
              </a:defRPr>
            </a:defPPr>
            <a:lvl1pPr algn="l">
              <a:defRPr sz="1125" b="1" i="0">
                <a:solidFill>
                  <a:srgbClr val="2463EB"/>
                </a:solidFill>
                <a:latin typeface="Arial"/>
                <a:ea typeface="Arial"/>
                <a:cs typeface="Arial"/>
              </a:defRPr>
            </a:lvl1pPr>
            <a:lvl2pPr algn="l">
              <a:defRPr sz="1125" b="1" i="0">
                <a:solidFill>
                  <a:srgbClr val="2463EB"/>
                </a:solidFill>
                <a:latin typeface="Arial"/>
                <a:ea typeface="Arial"/>
                <a:cs typeface="Arial"/>
              </a:defRPr>
            </a:lvl2pPr>
            <a:lvl3pPr algn="l">
              <a:defRPr sz="1125" b="1" i="0">
                <a:solidFill>
                  <a:srgbClr val="2463EB"/>
                </a:solidFill>
                <a:latin typeface="Arial"/>
                <a:ea typeface="Arial"/>
                <a:cs typeface="Arial"/>
              </a:defRPr>
            </a:lvl3pPr>
            <a:lvl4pPr algn="l">
              <a:defRPr sz="1125" b="1" i="0">
                <a:solidFill>
                  <a:srgbClr val="2463EB"/>
                </a:solidFill>
                <a:latin typeface="Arial"/>
                <a:ea typeface="Arial"/>
                <a:cs typeface="Arial"/>
              </a:defRPr>
            </a:lvl4pPr>
            <a:lvl5pPr algn="l">
              <a:defRPr sz="1125" b="1" i="0">
                <a:solidFill>
                  <a:srgbClr val="2463EB"/>
                </a:solidFill>
                <a:latin typeface="Arial"/>
                <a:ea typeface="Arial"/>
                <a:cs typeface="Arial"/>
              </a:defRPr>
            </a:lvl5pPr>
            <a:lvl6pPr algn="l">
              <a:defRPr sz="1125" b="1" i="0">
                <a:solidFill>
                  <a:srgbClr val="2463EB"/>
                </a:solidFill>
                <a:latin typeface="Arial"/>
                <a:ea typeface="Arial"/>
                <a:cs typeface="Arial"/>
              </a:defRPr>
            </a:lvl6pPr>
            <a:lvl7pPr algn="l">
              <a:defRPr sz="1125" b="1" i="0">
                <a:solidFill>
                  <a:srgbClr val="2463EB"/>
                </a:solidFill>
                <a:latin typeface="Arial"/>
                <a:ea typeface="Arial"/>
                <a:cs typeface="Arial"/>
              </a:defRPr>
            </a:lvl7pPr>
            <a:lvl8pPr algn="l">
              <a:defRPr sz="1125" b="1" i="0">
                <a:solidFill>
                  <a:srgbClr val="2463EB"/>
                </a:solidFill>
                <a:latin typeface="Arial"/>
                <a:ea typeface="Arial"/>
                <a:cs typeface="Arial"/>
              </a:defRPr>
            </a:lvl8pPr>
            <a:lvl9pPr algn="l">
              <a:defRPr sz="1125" b="1" i="0">
                <a:solidFill>
                  <a:srgbClr val="2463E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1125" b="1" i="0">
                <a:solidFill>
                  <a:srgbClr val="2463EB"/>
                </a:solidFill>
                <a:latin typeface="Arial"/>
                <a:ea typeface="Arial"/>
                <a:cs typeface="Arial"/>
              </a:defRPr>
            </a:pPr>
            <a:r>
              <a:rPr sz="1125" b="1" i="0">
                <a:solidFill>
                  <a:srgbClr val="2463EB"/>
                </a:solidFill>
                <a:latin typeface="Arial"/>
                <a:ea typeface="Arial"/>
                <a:cs typeface="Arial"/>
              </a:rPr>
              <a:t>OPEX anual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46C9DFE-C2FA-4A34-85A1-D4B65D93DC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2266950"/>
            <a:ext cx="2190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250" b="1" i="0">
                <a:solidFill>
                  <a:srgbClr val="14243D"/>
                </a:solidFill>
                <a:latin typeface="Arial"/>
                <a:ea typeface="Arial"/>
                <a:cs typeface="Arial"/>
              </a:defRPr>
            </a:defPPr>
            <a:lvl1pPr algn="l">
              <a:defRPr sz="2250" b="1" i="0">
                <a:solidFill>
                  <a:srgbClr val="14243D"/>
                </a:solidFill>
                <a:latin typeface="Arial"/>
                <a:ea typeface="Arial"/>
                <a:cs typeface="Arial"/>
              </a:defRPr>
            </a:lvl1pPr>
            <a:lvl2pPr algn="l">
              <a:defRPr sz="2250" b="1" i="0">
                <a:solidFill>
                  <a:srgbClr val="14243D"/>
                </a:solidFill>
                <a:latin typeface="Arial"/>
                <a:ea typeface="Arial"/>
                <a:cs typeface="Arial"/>
              </a:defRPr>
            </a:lvl2pPr>
            <a:lvl3pPr algn="l">
              <a:defRPr sz="2250" b="1" i="0">
                <a:solidFill>
                  <a:srgbClr val="14243D"/>
                </a:solidFill>
                <a:latin typeface="Arial"/>
                <a:ea typeface="Arial"/>
                <a:cs typeface="Arial"/>
              </a:defRPr>
            </a:lvl3pPr>
            <a:lvl4pPr algn="l">
              <a:defRPr sz="2250" b="1" i="0">
                <a:solidFill>
                  <a:srgbClr val="14243D"/>
                </a:solidFill>
                <a:latin typeface="Arial"/>
                <a:ea typeface="Arial"/>
                <a:cs typeface="Arial"/>
              </a:defRPr>
            </a:lvl4pPr>
            <a:lvl5pPr algn="l">
              <a:defRPr sz="2250" b="1" i="0">
                <a:solidFill>
                  <a:srgbClr val="14243D"/>
                </a:solidFill>
                <a:latin typeface="Arial"/>
                <a:ea typeface="Arial"/>
                <a:cs typeface="Arial"/>
              </a:defRPr>
            </a:lvl5pPr>
            <a:lvl6pPr algn="l">
              <a:defRPr sz="2250" b="1" i="0">
                <a:solidFill>
                  <a:srgbClr val="14243D"/>
                </a:solidFill>
                <a:latin typeface="Arial"/>
                <a:ea typeface="Arial"/>
                <a:cs typeface="Arial"/>
              </a:defRPr>
            </a:lvl6pPr>
            <a:lvl7pPr algn="l">
              <a:defRPr sz="2250" b="1" i="0">
                <a:solidFill>
                  <a:srgbClr val="14243D"/>
                </a:solidFill>
                <a:latin typeface="Arial"/>
                <a:ea typeface="Arial"/>
                <a:cs typeface="Arial"/>
              </a:defRPr>
            </a:lvl7pPr>
            <a:lvl8pPr algn="l">
              <a:defRPr sz="2250" b="1" i="0">
                <a:solidFill>
                  <a:srgbClr val="14243D"/>
                </a:solidFill>
                <a:latin typeface="Arial"/>
                <a:ea typeface="Arial"/>
                <a:cs typeface="Arial"/>
              </a:defRPr>
            </a:lvl8pPr>
            <a:lvl9pPr algn="l">
              <a:defRPr sz="2250" b="1" i="0">
                <a:solidFill>
                  <a:srgbClr val="14243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2250" b="1" i="0">
                <a:solidFill>
                  <a:srgbClr val="14243D"/>
                </a:solidFill>
                <a:latin typeface="Arial"/>
                <a:ea typeface="Arial"/>
                <a:cs typeface="Arial"/>
              </a:defRPr>
            </a:pPr>
            <a:r>
              <a:rPr sz="2250" b="1" i="0">
                <a:solidFill>
                  <a:srgbClr val="14243D"/>
                </a:solidFill>
                <a:latin typeface="Arial"/>
                <a:ea typeface="Arial"/>
                <a:cs typeface="Arial"/>
              </a:rPr>
              <a:t>4,200 USD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66DDCAB-CD64-4567-ACD9-A168E97A02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2038350"/>
            <a:ext cx="1714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125" b="1" i="0">
                <a:solidFill>
                  <a:srgbClr val="2463EB"/>
                </a:solidFill>
                <a:latin typeface="Arial"/>
                <a:ea typeface="Arial"/>
                <a:cs typeface="Arial"/>
              </a:defRPr>
            </a:defPPr>
            <a:lvl1pPr algn="l">
              <a:defRPr sz="1125" b="1" i="0">
                <a:solidFill>
                  <a:srgbClr val="2463EB"/>
                </a:solidFill>
                <a:latin typeface="Arial"/>
                <a:ea typeface="Arial"/>
                <a:cs typeface="Arial"/>
              </a:defRPr>
            </a:lvl1pPr>
            <a:lvl2pPr algn="l">
              <a:defRPr sz="1125" b="1" i="0">
                <a:solidFill>
                  <a:srgbClr val="2463EB"/>
                </a:solidFill>
                <a:latin typeface="Arial"/>
                <a:ea typeface="Arial"/>
                <a:cs typeface="Arial"/>
              </a:defRPr>
            </a:lvl2pPr>
            <a:lvl3pPr algn="l">
              <a:defRPr sz="1125" b="1" i="0">
                <a:solidFill>
                  <a:srgbClr val="2463EB"/>
                </a:solidFill>
                <a:latin typeface="Arial"/>
                <a:ea typeface="Arial"/>
                <a:cs typeface="Arial"/>
              </a:defRPr>
            </a:lvl3pPr>
            <a:lvl4pPr algn="l">
              <a:defRPr sz="1125" b="1" i="0">
                <a:solidFill>
                  <a:srgbClr val="2463EB"/>
                </a:solidFill>
                <a:latin typeface="Arial"/>
                <a:ea typeface="Arial"/>
                <a:cs typeface="Arial"/>
              </a:defRPr>
            </a:lvl4pPr>
            <a:lvl5pPr algn="l">
              <a:defRPr sz="1125" b="1" i="0">
                <a:solidFill>
                  <a:srgbClr val="2463EB"/>
                </a:solidFill>
                <a:latin typeface="Arial"/>
                <a:ea typeface="Arial"/>
                <a:cs typeface="Arial"/>
              </a:defRPr>
            </a:lvl5pPr>
            <a:lvl6pPr algn="l">
              <a:defRPr sz="1125" b="1" i="0">
                <a:solidFill>
                  <a:srgbClr val="2463EB"/>
                </a:solidFill>
                <a:latin typeface="Arial"/>
                <a:ea typeface="Arial"/>
                <a:cs typeface="Arial"/>
              </a:defRPr>
            </a:lvl6pPr>
            <a:lvl7pPr algn="l">
              <a:defRPr sz="1125" b="1" i="0">
                <a:solidFill>
                  <a:srgbClr val="2463EB"/>
                </a:solidFill>
                <a:latin typeface="Arial"/>
                <a:ea typeface="Arial"/>
                <a:cs typeface="Arial"/>
              </a:defRPr>
            </a:lvl7pPr>
            <a:lvl8pPr algn="l">
              <a:defRPr sz="1125" b="1" i="0">
                <a:solidFill>
                  <a:srgbClr val="2463EB"/>
                </a:solidFill>
                <a:latin typeface="Arial"/>
                <a:ea typeface="Arial"/>
                <a:cs typeface="Arial"/>
              </a:defRPr>
            </a:lvl8pPr>
            <a:lvl9pPr algn="l">
              <a:defRPr sz="1125" b="1" i="0">
                <a:solidFill>
                  <a:srgbClr val="2463E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1125" b="1" i="0">
                <a:solidFill>
                  <a:srgbClr val="2463EB"/>
                </a:solidFill>
                <a:latin typeface="Arial"/>
                <a:ea typeface="Arial"/>
                <a:cs typeface="Arial"/>
              </a:defRPr>
            </a:pPr>
            <a:r>
              <a:rPr sz="1125" b="1" i="0">
                <a:solidFill>
                  <a:srgbClr val="2463EB"/>
                </a:solidFill>
                <a:latin typeface="Arial"/>
                <a:ea typeface="Arial"/>
                <a:cs typeface="Arial"/>
              </a:rPr>
              <a:t>TCO 3 años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7D1757C-D2E9-42F0-BCBC-AF5214F61B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2266950"/>
            <a:ext cx="2286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250" b="1" i="0">
                <a:solidFill>
                  <a:srgbClr val="6D4AFF"/>
                </a:solidFill>
                <a:latin typeface="Arial"/>
                <a:ea typeface="Arial"/>
                <a:cs typeface="Arial"/>
              </a:defRPr>
            </a:defPPr>
            <a:lvl1pPr algn="l">
              <a:defRPr sz="2250" b="1" i="0">
                <a:solidFill>
                  <a:srgbClr val="6D4AFF"/>
                </a:solidFill>
                <a:latin typeface="Arial"/>
                <a:ea typeface="Arial"/>
                <a:cs typeface="Arial"/>
              </a:defRPr>
            </a:lvl1pPr>
            <a:lvl2pPr algn="l">
              <a:defRPr sz="2250" b="1" i="0">
                <a:solidFill>
                  <a:srgbClr val="6D4AFF"/>
                </a:solidFill>
                <a:latin typeface="Arial"/>
                <a:ea typeface="Arial"/>
                <a:cs typeface="Arial"/>
              </a:defRPr>
            </a:lvl2pPr>
            <a:lvl3pPr algn="l">
              <a:defRPr sz="2250" b="1" i="0">
                <a:solidFill>
                  <a:srgbClr val="6D4AFF"/>
                </a:solidFill>
                <a:latin typeface="Arial"/>
                <a:ea typeface="Arial"/>
                <a:cs typeface="Arial"/>
              </a:defRPr>
            </a:lvl3pPr>
            <a:lvl4pPr algn="l">
              <a:defRPr sz="2250" b="1" i="0">
                <a:solidFill>
                  <a:srgbClr val="6D4AFF"/>
                </a:solidFill>
                <a:latin typeface="Arial"/>
                <a:ea typeface="Arial"/>
                <a:cs typeface="Arial"/>
              </a:defRPr>
            </a:lvl4pPr>
            <a:lvl5pPr algn="l">
              <a:defRPr sz="2250" b="1" i="0">
                <a:solidFill>
                  <a:srgbClr val="6D4AFF"/>
                </a:solidFill>
                <a:latin typeface="Arial"/>
                <a:ea typeface="Arial"/>
                <a:cs typeface="Arial"/>
              </a:defRPr>
            </a:lvl5pPr>
            <a:lvl6pPr algn="l">
              <a:defRPr sz="2250" b="1" i="0">
                <a:solidFill>
                  <a:srgbClr val="6D4AFF"/>
                </a:solidFill>
                <a:latin typeface="Arial"/>
                <a:ea typeface="Arial"/>
                <a:cs typeface="Arial"/>
              </a:defRPr>
            </a:lvl6pPr>
            <a:lvl7pPr algn="l">
              <a:defRPr sz="2250" b="1" i="0">
                <a:solidFill>
                  <a:srgbClr val="6D4AFF"/>
                </a:solidFill>
                <a:latin typeface="Arial"/>
                <a:ea typeface="Arial"/>
                <a:cs typeface="Arial"/>
              </a:defRPr>
            </a:lvl7pPr>
            <a:lvl8pPr algn="l">
              <a:defRPr sz="2250" b="1" i="0">
                <a:solidFill>
                  <a:srgbClr val="6D4AFF"/>
                </a:solidFill>
                <a:latin typeface="Arial"/>
                <a:ea typeface="Arial"/>
                <a:cs typeface="Arial"/>
              </a:defRPr>
            </a:lvl8pPr>
            <a:lvl9pPr algn="l">
              <a:defRPr sz="2250" b="1" i="0">
                <a:solidFill>
                  <a:srgbClr val="6D4A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2250" b="1" i="0">
                <a:solidFill>
                  <a:srgbClr val="6D4AFF"/>
                </a:solidFill>
                <a:latin typeface="Arial"/>
                <a:ea typeface="Arial"/>
                <a:cs typeface="Arial"/>
              </a:defRPr>
            </a:pPr>
            <a:r>
              <a:rPr sz="2250" b="1" i="0">
                <a:solidFill>
                  <a:srgbClr val="6D4AFF"/>
                </a:solidFill>
                <a:latin typeface="Arial"/>
                <a:ea typeface="Arial"/>
                <a:cs typeface="Arial"/>
              </a:rPr>
              <a:t>17,120 USD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56BCD42-6751-4C44-A6CA-A5CCB91A08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15400" y="2209800"/>
            <a:ext cx="2476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275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defPPr>
            <a:lvl1pPr algn="l">
              <a:defRPr sz="1275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lvl1pPr>
            <a:lvl2pPr algn="l">
              <a:defRPr sz="1275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lvl2pPr>
            <a:lvl3pPr algn="l">
              <a:defRPr sz="1275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lvl3pPr>
            <a:lvl4pPr algn="l">
              <a:defRPr sz="1275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lvl4pPr>
            <a:lvl5pPr algn="l">
              <a:defRPr sz="1275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lvl5pPr>
            <a:lvl6pPr algn="l">
              <a:defRPr sz="1275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lvl6pPr>
            <a:lvl7pPr algn="l">
              <a:defRPr sz="1275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lvl7pPr>
            <a:lvl8pPr algn="l">
              <a:defRPr sz="1275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lvl8pPr>
            <a:lvl9pPr algn="l">
              <a:defRPr sz="1275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1275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667085"/>
                </a:solidFill>
                <a:latin typeface="Arial"/>
                <a:ea typeface="Arial"/>
                <a:cs typeface="Arial"/>
              </a:rPr>
              <a:t>Supuesto de tarifa: 18 USD/hora</a:t>
            </a:r>
          </a:p>
        </p:txBody>
      </p:sp>
      <p:graphicFrame>
        <p:nvGraphicFrame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956314A-87C5-4B2C-A8F7-8F3AC46ED7BB}"/>
              </a:ext>
            </a:extLst>
          </p:cNvPr>
          <p:cNvGraphicFramePr/>
          <p:nvPr/>
        </p:nvGraphicFramePr>
        <p:xfrm>
          <a:off xmlns:a="http://schemas.openxmlformats.org/drawingml/2006/main" x="685800" y="3162300"/>
          <a:ext xmlns:a="http://schemas.openxmlformats.org/drawingml/2006/main" cx="10744200" cy="2381250"/>
        </p:xfrm>
        <a:graphic xmlns:a="http://schemas.openxmlformats.org/drawingml/2006/main">
          <a:graphicData uri="http://schemas.openxmlformats.org/drawingml/2006/table">
            <a:tbl>
              <a:tblPr firstRow="1" bandRow="1"/>
              <a:tblGrid>
                <a:gridCol w="2571750"/>
                <a:gridCol w="1714500"/>
                <a:gridCol w="2190750"/>
                <a:gridCol w="2000250"/>
                <a:gridCol w="2266950"/>
              </a:tblGrid>
              <a:tr h="595313">
                <a:tc>
                  <a:txBody>
                    <a:bodyPr>
                      <a:normAutofit/>
                    </a:bodyPr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Escenario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D9DEE8"/>
                      </a:solidFill>
                      <a:prstDash val="solid"/>
                    </a:lnL>
                    <a:lnR w="9525">
                      <a:solidFill>
                        <a:srgbClr val="D9DEE8"/>
                      </a:solidFill>
                      <a:prstDash val="solid"/>
                    </a:lnR>
                    <a:lnT w="9525">
                      <a:solidFill>
                        <a:srgbClr val="D9DEE8"/>
                      </a:solidFill>
                      <a:prstDash val="solid"/>
                    </a:lnT>
                    <a:lnB w="9525">
                      <a:solidFill>
                        <a:srgbClr val="D9DEE8"/>
                      </a:solidFill>
                      <a:prstDash val="solid"/>
                    </a:lnB>
                    <a:solidFill>
                      <a:srgbClr val="14243D"/>
                    </a:solidFill>
                  </a:tcPr>
                </a:tc>
                <a:tc>
                  <a:txBody>
                    <a:bodyPr>
                      <a:normAutofit/>
                    </a:bodyPr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Ahorro h/sem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D9DEE8"/>
                      </a:solidFill>
                      <a:prstDash val="solid"/>
                    </a:lnR>
                    <a:lnT w="9525">
                      <a:solidFill>
                        <a:srgbClr val="D9DEE8"/>
                      </a:solidFill>
                      <a:prstDash val="solid"/>
                    </a:lnT>
                    <a:lnB w="9525">
                      <a:solidFill>
                        <a:srgbClr val="D9DEE8"/>
                      </a:solidFill>
                      <a:prstDash val="solid"/>
                    </a:lnB>
                    <a:solidFill>
                      <a:srgbClr val="14243D"/>
                    </a:solidFill>
                  </a:tcPr>
                </a:tc>
                <a:tc>
                  <a:txBody>
                    <a:bodyPr>
                      <a:normAutofit/>
                    </a:bodyPr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Beneficio/año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D9DEE8"/>
                      </a:solidFill>
                      <a:prstDash val="solid"/>
                    </a:lnR>
                    <a:lnT w="9525">
                      <a:solidFill>
                        <a:srgbClr val="D9DEE8"/>
                      </a:solidFill>
                      <a:prstDash val="solid"/>
                    </a:lnT>
                    <a:lnB w="9525">
                      <a:solidFill>
                        <a:srgbClr val="D9DEE8"/>
                      </a:solidFill>
                      <a:prstDash val="solid"/>
                    </a:lnB>
                    <a:solidFill>
                      <a:srgbClr val="14243D"/>
                    </a:solidFill>
                  </a:tcPr>
                </a:tc>
                <a:tc>
                  <a:txBody>
                    <a:bodyPr>
                      <a:normAutofit/>
                    </a:bodyPr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ROI 3 años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D9DEE8"/>
                      </a:solidFill>
                      <a:prstDash val="solid"/>
                    </a:lnR>
                    <a:lnT w="9525">
                      <a:solidFill>
                        <a:srgbClr val="D9DEE8"/>
                      </a:solidFill>
                      <a:prstDash val="solid"/>
                    </a:lnT>
                    <a:lnB w="9525">
                      <a:solidFill>
                        <a:srgbClr val="D9DEE8"/>
                      </a:solidFill>
                      <a:prstDash val="solid"/>
                    </a:lnB>
                    <a:solidFill>
                      <a:srgbClr val="14243D"/>
                    </a:solidFill>
                  </a:tcPr>
                </a:tc>
                <a:tc>
                  <a:txBody>
                    <a:bodyPr>
                      <a:normAutofit/>
                    </a:bodyPr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Punto de equilibrio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D9DEE8"/>
                      </a:solidFill>
                      <a:prstDash val="solid"/>
                    </a:lnR>
                    <a:lnT w="9525">
                      <a:solidFill>
                        <a:srgbClr val="D9DEE8"/>
                      </a:solidFill>
                      <a:prstDash val="solid"/>
                    </a:lnT>
                    <a:lnB w="9525">
                      <a:solidFill>
                        <a:srgbClr val="D9DEE8"/>
                      </a:solidFill>
                      <a:prstDash val="solid"/>
                    </a:lnB>
                    <a:solidFill>
                      <a:srgbClr val="14243D"/>
                    </a:solidFill>
                  </a:tcPr>
                </a:tc>
              </a:tr>
              <a:tr h="595313">
                <a:tc>
                  <a:txBody>
                    <a:bodyPr>
                      <a:normAutofit/>
                    </a:bodyPr>
                    <a:lstStyle/>
                    <a:p>
                      <a:r>
                        <a:rPr sz="1350" b="0">
                          <a:solidFill>
                            <a:srgbClr val="111827"/>
                          </a:solidFill>
                          <a:latin typeface="Arial"/>
                          <a:ea typeface="Arial"/>
                          <a:cs typeface="Arial"/>
                        </a:rPr>
                        <a:t>Conservador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D9DEE8"/>
                      </a:solidFill>
                      <a:prstDash val="solid"/>
                    </a:lnL>
                    <a:lnR w="9525">
                      <a:solidFill>
                        <a:srgbClr val="D9DEE8"/>
                      </a:solidFill>
                      <a:prstDash val="solid"/>
                    </a:lnR>
                    <a:lnB w="9525">
                      <a:solidFill>
                        <a:srgbClr val="D9DE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rmAutofit/>
                    </a:bodyPr>
                    <a:lstStyle/>
                    <a:p>
                      <a:r>
                        <a:rPr sz="1350" b="0">
                          <a:solidFill>
                            <a:srgbClr val="111827"/>
                          </a:solidFill>
                          <a:latin typeface="Arial"/>
                          <a:ea typeface="Arial"/>
                          <a:cs typeface="Arial"/>
                        </a:rPr>
                        <a:t>8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D9DEE8"/>
                      </a:solidFill>
                      <a:prstDash val="solid"/>
                    </a:lnR>
                    <a:lnB w="9525">
                      <a:solidFill>
                        <a:srgbClr val="D9DE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rmAutofit/>
                    </a:bodyPr>
                    <a:lstStyle/>
                    <a:p>
                      <a:r>
                        <a:rPr sz="1350" b="0">
                          <a:solidFill>
                            <a:srgbClr val="111827"/>
                          </a:solidFill>
                          <a:latin typeface="Arial"/>
                          <a:ea typeface="Arial"/>
                          <a:cs typeface="Arial"/>
                        </a:rPr>
                        <a:t>7,488 USD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D9DEE8"/>
                      </a:solidFill>
                      <a:prstDash val="solid"/>
                    </a:lnR>
                    <a:lnB w="9525">
                      <a:solidFill>
                        <a:srgbClr val="D9DE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rmAutofit/>
                    </a:bodyPr>
                    <a:lstStyle/>
                    <a:p>
                      <a:r>
                        <a:rPr sz="1350" b="0">
                          <a:solidFill>
                            <a:srgbClr val="111827"/>
                          </a:solidFill>
                          <a:latin typeface="Arial"/>
                          <a:ea typeface="Arial"/>
                          <a:cs typeface="Arial"/>
                        </a:rPr>
                        <a:t>31.2%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D9DEE8"/>
                      </a:solidFill>
                      <a:prstDash val="solid"/>
                    </a:lnR>
                    <a:lnB w="9525">
                      <a:solidFill>
                        <a:srgbClr val="D9DE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rmAutofit/>
                    </a:bodyPr>
                    <a:lstStyle/>
                    <a:p>
                      <a:r>
                        <a:rPr sz="1350" b="0">
                          <a:solidFill>
                            <a:srgbClr val="111827"/>
                          </a:solidFill>
                          <a:latin typeface="Arial"/>
                          <a:ea typeface="Arial"/>
                          <a:cs typeface="Arial"/>
                        </a:rPr>
                        <a:t>Mes 28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D9DEE8"/>
                      </a:solidFill>
                      <a:prstDash val="solid"/>
                    </a:lnR>
                    <a:lnB w="9525">
                      <a:solidFill>
                        <a:srgbClr val="D9DE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95313">
                <a:tc>
                  <a:txBody>
                    <a:bodyPr>
                      <a:normAutofit/>
                    </a:bodyPr>
                    <a:lstStyle/>
                    <a:p>
                      <a:r>
                        <a:rPr sz="1350" b="1">
                          <a:solidFill>
                            <a:srgbClr val="111827"/>
                          </a:solidFill>
                          <a:latin typeface="Arial"/>
                          <a:ea typeface="Arial"/>
                          <a:cs typeface="Arial"/>
                        </a:rPr>
                        <a:t>Base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D9DEE8"/>
                      </a:solidFill>
                      <a:prstDash val="solid"/>
                    </a:lnL>
                    <a:lnR w="9525">
                      <a:solidFill>
                        <a:srgbClr val="D9DEE8"/>
                      </a:solidFill>
                      <a:prstDash val="solid"/>
                    </a:lnR>
                    <a:lnB w="9525">
                      <a:solidFill>
                        <a:srgbClr val="D9DEE8"/>
                      </a:solidFill>
                      <a:prstDash val="solid"/>
                    </a:lnB>
                    <a:solidFill>
                      <a:srgbClr val="EEE9FF"/>
                    </a:solidFill>
                  </a:tcPr>
                </a:tc>
                <a:tc>
                  <a:txBody>
                    <a:bodyPr>
                      <a:normAutofit/>
                    </a:bodyPr>
                    <a:lstStyle/>
                    <a:p>
                      <a:r>
                        <a:rPr sz="1350" b="0">
                          <a:solidFill>
                            <a:srgbClr val="111827"/>
                          </a:solidFill>
                          <a:latin typeface="Arial"/>
                          <a:ea typeface="Arial"/>
                          <a:cs typeface="Arial"/>
                        </a:rPr>
                        <a:t>16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D9DEE8"/>
                      </a:solidFill>
                      <a:prstDash val="solid"/>
                    </a:lnR>
                    <a:lnB w="9525">
                      <a:solidFill>
                        <a:srgbClr val="D9DEE8"/>
                      </a:solidFill>
                      <a:prstDash val="solid"/>
                    </a:lnB>
                    <a:solidFill>
                      <a:srgbClr val="EEE9FF"/>
                    </a:solidFill>
                  </a:tcPr>
                </a:tc>
                <a:tc>
                  <a:txBody>
                    <a:bodyPr>
                      <a:normAutofit/>
                    </a:bodyPr>
                    <a:lstStyle/>
                    <a:p>
                      <a:r>
                        <a:rPr sz="1350" b="0">
                          <a:solidFill>
                            <a:srgbClr val="111827"/>
                          </a:solidFill>
                          <a:latin typeface="Arial"/>
                          <a:ea typeface="Arial"/>
                          <a:cs typeface="Arial"/>
                        </a:rPr>
                        <a:t>14,976 USD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D9DEE8"/>
                      </a:solidFill>
                      <a:prstDash val="solid"/>
                    </a:lnR>
                    <a:lnB w="9525">
                      <a:solidFill>
                        <a:srgbClr val="D9DEE8"/>
                      </a:solidFill>
                      <a:prstDash val="solid"/>
                    </a:lnB>
                    <a:solidFill>
                      <a:srgbClr val="EEE9FF"/>
                    </a:solidFill>
                  </a:tcPr>
                </a:tc>
                <a:tc>
                  <a:txBody>
                    <a:bodyPr>
                      <a:normAutofit/>
                    </a:bodyPr>
                    <a:lstStyle/>
                    <a:p>
                      <a:r>
                        <a:rPr sz="1350" b="1">
                          <a:solidFill>
                            <a:srgbClr val="111827"/>
                          </a:solidFill>
                          <a:latin typeface="Arial"/>
                          <a:ea typeface="Arial"/>
                          <a:cs typeface="Arial"/>
                        </a:rPr>
                        <a:t>162.4%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D9DEE8"/>
                      </a:solidFill>
                      <a:prstDash val="solid"/>
                    </a:lnR>
                    <a:lnB w="9525">
                      <a:solidFill>
                        <a:srgbClr val="D9DEE8"/>
                      </a:solidFill>
                      <a:prstDash val="solid"/>
                    </a:lnB>
                    <a:solidFill>
                      <a:srgbClr val="EEE9FF"/>
                    </a:solidFill>
                  </a:tcPr>
                </a:tc>
                <a:tc>
                  <a:txBody>
                    <a:bodyPr>
                      <a:normAutofit/>
                    </a:bodyPr>
                    <a:lstStyle/>
                    <a:p>
                      <a:r>
                        <a:rPr sz="1350" b="0">
                          <a:solidFill>
                            <a:srgbClr val="111827"/>
                          </a:solidFill>
                          <a:latin typeface="Arial"/>
                          <a:ea typeface="Arial"/>
                          <a:cs typeface="Arial"/>
                        </a:rPr>
                        <a:t>Mes 14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D9DEE8"/>
                      </a:solidFill>
                      <a:prstDash val="solid"/>
                    </a:lnR>
                    <a:lnB w="9525">
                      <a:solidFill>
                        <a:srgbClr val="D9DEE8"/>
                      </a:solidFill>
                      <a:prstDash val="solid"/>
                    </a:lnB>
                    <a:solidFill>
                      <a:srgbClr val="EEE9FF"/>
                    </a:solidFill>
                  </a:tcPr>
                </a:tc>
              </a:tr>
              <a:tr h="595313">
                <a:tc>
                  <a:txBody>
                    <a:bodyPr>
                      <a:normAutofit/>
                    </a:bodyPr>
                    <a:lstStyle/>
                    <a:p>
                      <a:r>
                        <a:rPr sz="1350" b="0">
                          <a:solidFill>
                            <a:srgbClr val="111827"/>
                          </a:solidFill>
                          <a:latin typeface="Arial"/>
                          <a:ea typeface="Arial"/>
                          <a:cs typeface="Arial"/>
                        </a:rPr>
                        <a:t>Optimista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D9DEE8"/>
                      </a:solidFill>
                      <a:prstDash val="solid"/>
                    </a:lnL>
                    <a:lnR w="9525">
                      <a:solidFill>
                        <a:srgbClr val="D9DEE8"/>
                      </a:solidFill>
                      <a:prstDash val="solid"/>
                    </a:lnR>
                    <a:lnB w="9525">
                      <a:solidFill>
                        <a:srgbClr val="D9DE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rmAutofit/>
                    </a:bodyPr>
                    <a:lstStyle/>
                    <a:p>
                      <a:r>
                        <a:rPr sz="1350" b="0">
                          <a:solidFill>
                            <a:srgbClr val="111827"/>
                          </a:solidFill>
                          <a:latin typeface="Arial"/>
                          <a:ea typeface="Arial"/>
                          <a:cs typeface="Arial"/>
                        </a:rPr>
                        <a:t>24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D9DEE8"/>
                      </a:solidFill>
                      <a:prstDash val="solid"/>
                    </a:lnR>
                    <a:lnB w="9525">
                      <a:solidFill>
                        <a:srgbClr val="D9DE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rmAutofit/>
                    </a:bodyPr>
                    <a:lstStyle/>
                    <a:p>
                      <a:r>
                        <a:rPr sz="1350" b="0">
                          <a:solidFill>
                            <a:srgbClr val="111827"/>
                          </a:solidFill>
                          <a:latin typeface="Arial"/>
                          <a:ea typeface="Arial"/>
                          <a:cs typeface="Arial"/>
                        </a:rPr>
                        <a:t>22,464 USD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D9DEE8"/>
                      </a:solidFill>
                      <a:prstDash val="solid"/>
                    </a:lnR>
                    <a:lnB w="9525">
                      <a:solidFill>
                        <a:srgbClr val="D9DE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rmAutofit/>
                    </a:bodyPr>
                    <a:lstStyle/>
                    <a:p>
                      <a:r>
                        <a:rPr sz="1350" b="0">
                          <a:solidFill>
                            <a:srgbClr val="111827"/>
                          </a:solidFill>
                          <a:latin typeface="Arial"/>
                          <a:ea typeface="Arial"/>
                          <a:cs typeface="Arial"/>
                        </a:rPr>
                        <a:t>293.6%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D9DEE8"/>
                      </a:solidFill>
                      <a:prstDash val="solid"/>
                    </a:lnR>
                    <a:lnB w="9525">
                      <a:solidFill>
                        <a:srgbClr val="D9DE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rmAutofit/>
                    </a:bodyPr>
                    <a:lstStyle/>
                    <a:p>
                      <a:r>
                        <a:rPr sz="1350" b="0">
                          <a:solidFill>
                            <a:srgbClr val="111827"/>
                          </a:solidFill>
                          <a:latin typeface="Arial"/>
                          <a:ea typeface="Arial"/>
                          <a:cs typeface="Arial"/>
                        </a:rPr>
                        <a:t>Mes 10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D9DEE8"/>
                      </a:solidFill>
                      <a:prstDash val="solid"/>
                    </a:lnR>
                    <a:lnB w="9525">
                      <a:solidFill>
                        <a:srgbClr val="D9DE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A8937FF-AA45-406A-A985-BD33C1ADA8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886450"/>
            <a:ext cx="107442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275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defPPr>
            <a:lvl1pPr algn="l">
              <a:defRPr sz="1275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lvl1pPr>
            <a:lvl2pPr algn="l">
              <a:defRPr sz="1275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lvl2pPr>
            <a:lvl3pPr algn="l">
              <a:defRPr sz="1275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lvl3pPr>
            <a:lvl4pPr algn="l">
              <a:defRPr sz="1275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lvl4pPr>
            <a:lvl5pPr algn="l">
              <a:defRPr sz="1275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lvl5pPr>
            <a:lvl6pPr algn="l">
              <a:defRPr sz="1275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lvl6pPr>
            <a:lvl7pPr algn="l">
              <a:defRPr sz="1275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lvl7pPr>
            <a:lvl8pPr algn="l">
              <a:defRPr sz="1275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lvl8pPr>
            <a:lvl9pPr algn="l">
              <a:defRPr sz="1275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1275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667085"/>
                </a:solidFill>
                <a:latin typeface="Arial"/>
                <a:ea typeface="Arial"/>
                <a:cs typeface="Arial"/>
              </a:rPr>
              <a:t>El informe modela ahorro de horas. No monetiza Recall, falsos negativos ni una adopción que todavía no existe.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1A8956B-5CCF-4BC7-B2D7-BB800A117F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10972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900" b="0" i="0">
                <a:solidFill>
                  <a:srgbClr val="98A2B3"/>
                </a:solidFill>
                <a:latin typeface="Arial"/>
                <a:ea typeface="Arial"/>
                <a:cs typeface="Arial"/>
              </a:defRPr>
            </a:defPPr>
            <a:lvl1pPr algn="l">
              <a:defRPr sz="900" b="0" i="0">
                <a:solidFill>
                  <a:srgbClr val="98A2B3"/>
                </a:solidFill>
                <a:latin typeface="Arial"/>
                <a:ea typeface="Arial"/>
                <a:cs typeface="Arial"/>
              </a:defRPr>
            </a:lvl1pPr>
            <a:lvl2pPr algn="l">
              <a:defRPr sz="900" b="0" i="0">
                <a:solidFill>
                  <a:srgbClr val="98A2B3"/>
                </a:solidFill>
                <a:latin typeface="Arial"/>
                <a:ea typeface="Arial"/>
                <a:cs typeface="Arial"/>
              </a:defRPr>
            </a:lvl2pPr>
            <a:lvl3pPr algn="l">
              <a:defRPr sz="900" b="0" i="0">
                <a:solidFill>
                  <a:srgbClr val="98A2B3"/>
                </a:solidFill>
                <a:latin typeface="Arial"/>
                <a:ea typeface="Arial"/>
                <a:cs typeface="Arial"/>
              </a:defRPr>
            </a:lvl3pPr>
            <a:lvl4pPr algn="l">
              <a:defRPr sz="900" b="0" i="0">
                <a:solidFill>
                  <a:srgbClr val="98A2B3"/>
                </a:solidFill>
                <a:latin typeface="Arial"/>
                <a:ea typeface="Arial"/>
                <a:cs typeface="Arial"/>
              </a:defRPr>
            </a:lvl4pPr>
            <a:lvl5pPr algn="l">
              <a:defRPr sz="900" b="0" i="0">
                <a:solidFill>
                  <a:srgbClr val="98A2B3"/>
                </a:solidFill>
                <a:latin typeface="Arial"/>
                <a:ea typeface="Arial"/>
                <a:cs typeface="Arial"/>
              </a:defRPr>
            </a:lvl5pPr>
            <a:lvl6pPr algn="l">
              <a:defRPr sz="900" b="0" i="0">
                <a:solidFill>
                  <a:srgbClr val="98A2B3"/>
                </a:solidFill>
                <a:latin typeface="Arial"/>
                <a:ea typeface="Arial"/>
                <a:cs typeface="Arial"/>
              </a:defRPr>
            </a:lvl6pPr>
            <a:lvl7pPr algn="l">
              <a:defRPr sz="900" b="0" i="0">
                <a:solidFill>
                  <a:srgbClr val="98A2B3"/>
                </a:solidFill>
                <a:latin typeface="Arial"/>
                <a:ea typeface="Arial"/>
                <a:cs typeface="Arial"/>
              </a:defRPr>
            </a:lvl7pPr>
            <a:lvl8pPr algn="l">
              <a:defRPr sz="900" b="0" i="0">
                <a:solidFill>
                  <a:srgbClr val="98A2B3"/>
                </a:solidFill>
                <a:latin typeface="Arial"/>
                <a:ea typeface="Arial"/>
                <a:cs typeface="Arial"/>
              </a:defRPr>
            </a:lvl8pPr>
            <a:lvl9pPr algn="l">
              <a:defRPr sz="900" b="0" i="0">
                <a:solidFill>
                  <a:srgbClr val="98A2B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900" b="0" i="0">
                <a:solidFill>
                  <a:srgbClr val="98A2B3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98A2B3"/>
                </a:solidFill>
                <a:latin typeface="Arial"/>
                <a:ea typeface="Arial"/>
                <a:cs typeface="Arial"/>
              </a:rPr>
              <a:t>Fuente: Documento Fase 3, sección de viabilidad. Marco de referencia: Horngren et al. (2012), Ross et al. (2019) y Storment &amp; Fuller (2020).</a:t>
            </a:r>
          </a:p>
        </p:txBody>
      </p:sp>
    </p:spTree>
    <p:extLst>
      <p:ext uri="{BB962C8B-B14F-4D97-AF65-F5344CB8AC3E}">
        <p14:creationId xmlns:p14="http://schemas.microsoft.com/office/powerpoint/2010/main" val="2046993045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7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CBDAA37-B368-4B80-BF18-6FC5284B91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2667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975" b="1" i="0">
                <a:solidFill>
                  <a:srgbClr val="2463EB"/>
                </a:solidFill>
                <a:latin typeface="Arial"/>
                <a:ea typeface="Arial"/>
                <a:cs typeface="Arial"/>
              </a:defRPr>
            </a:defPPr>
            <a:lvl1pPr algn="l">
              <a:defRPr sz="975" b="1" i="0">
                <a:solidFill>
                  <a:srgbClr val="2463EB"/>
                </a:solidFill>
                <a:latin typeface="Arial"/>
                <a:ea typeface="Arial"/>
                <a:cs typeface="Arial"/>
              </a:defRPr>
            </a:lvl1pPr>
            <a:lvl2pPr algn="l">
              <a:defRPr sz="975" b="1" i="0">
                <a:solidFill>
                  <a:srgbClr val="2463EB"/>
                </a:solidFill>
                <a:latin typeface="Arial"/>
                <a:ea typeface="Arial"/>
                <a:cs typeface="Arial"/>
              </a:defRPr>
            </a:lvl2pPr>
            <a:lvl3pPr algn="l">
              <a:defRPr sz="975" b="1" i="0">
                <a:solidFill>
                  <a:srgbClr val="2463EB"/>
                </a:solidFill>
                <a:latin typeface="Arial"/>
                <a:ea typeface="Arial"/>
                <a:cs typeface="Arial"/>
              </a:defRPr>
            </a:lvl3pPr>
            <a:lvl4pPr algn="l">
              <a:defRPr sz="975" b="1" i="0">
                <a:solidFill>
                  <a:srgbClr val="2463EB"/>
                </a:solidFill>
                <a:latin typeface="Arial"/>
                <a:ea typeface="Arial"/>
                <a:cs typeface="Arial"/>
              </a:defRPr>
            </a:lvl4pPr>
            <a:lvl5pPr algn="l">
              <a:defRPr sz="975" b="1" i="0">
                <a:solidFill>
                  <a:srgbClr val="2463EB"/>
                </a:solidFill>
                <a:latin typeface="Arial"/>
                <a:ea typeface="Arial"/>
                <a:cs typeface="Arial"/>
              </a:defRPr>
            </a:lvl5pPr>
            <a:lvl6pPr algn="l">
              <a:defRPr sz="975" b="1" i="0">
                <a:solidFill>
                  <a:srgbClr val="2463EB"/>
                </a:solidFill>
                <a:latin typeface="Arial"/>
                <a:ea typeface="Arial"/>
                <a:cs typeface="Arial"/>
              </a:defRPr>
            </a:lvl6pPr>
            <a:lvl7pPr algn="l">
              <a:defRPr sz="975" b="1" i="0">
                <a:solidFill>
                  <a:srgbClr val="2463EB"/>
                </a:solidFill>
                <a:latin typeface="Arial"/>
                <a:ea typeface="Arial"/>
                <a:cs typeface="Arial"/>
              </a:defRPr>
            </a:lvl7pPr>
            <a:lvl8pPr algn="l">
              <a:defRPr sz="975" b="1" i="0">
                <a:solidFill>
                  <a:srgbClr val="2463EB"/>
                </a:solidFill>
                <a:latin typeface="Arial"/>
                <a:ea typeface="Arial"/>
                <a:cs typeface="Arial"/>
              </a:defRPr>
            </a:lvl8pPr>
            <a:lvl9pPr algn="l">
              <a:defRPr sz="975" b="1" i="0">
                <a:solidFill>
                  <a:srgbClr val="2463E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975" b="1" i="0">
                <a:solidFill>
                  <a:srgbClr val="2463EB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2463EB"/>
                </a:solidFill>
                <a:latin typeface="Arial"/>
                <a:ea typeface="Arial"/>
                <a:cs typeface="Arial"/>
              </a:rPr>
              <a:t>NYC311 / FASE 3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30B819C-D4B1-486C-890E-98BB3A8DBC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44200" y="285750"/>
            <a:ext cx="8382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975" b="1" i="0">
                <a:solidFill>
                  <a:srgbClr val="98A2B3"/>
                </a:solidFill>
                <a:latin typeface="Arial"/>
                <a:ea typeface="Arial"/>
                <a:cs typeface="Arial"/>
              </a:defRPr>
            </a:defPPr>
            <a:lvl1pPr algn="r">
              <a:defRPr sz="975" b="1" i="0">
                <a:solidFill>
                  <a:srgbClr val="98A2B3"/>
                </a:solidFill>
                <a:latin typeface="Arial"/>
                <a:ea typeface="Arial"/>
                <a:cs typeface="Arial"/>
              </a:defRPr>
            </a:lvl1pPr>
            <a:lvl2pPr algn="r">
              <a:defRPr sz="975" b="1" i="0">
                <a:solidFill>
                  <a:srgbClr val="98A2B3"/>
                </a:solidFill>
                <a:latin typeface="Arial"/>
                <a:ea typeface="Arial"/>
                <a:cs typeface="Arial"/>
              </a:defRPr>
            </a:lvl2pPr>
            <a:lvl3pPr algn="r">
              <a:defRPr sz="975" b="1" i="0">
                <a:solidFill>
                  <a:srgbClr val="98A2B3"/>
                </a:solidFill>
                <a:latin typeface="Arial"/>
                <a:ea typeface="Arial"/>
                <a:cs typeface="Arial"/>
              </a:defRPr>
            </a:lvl3pPr>
            <a:lvl4pPr algn="r">
              <a:defRPr sz="975" b="1" i="0">
                <a:solidFill>
                  <a:srgbClr val="98A2B3"/>
                </a:solidFill>
                <a:latin typeface="Arial"/>
                <a:ea typeface="Arial"/>
                <a:cs typeface="Arial"/>
              </a:defRPr>
            </a:lvl4pPr>
            <a:lvl5pPr algn="r">
              <a:defRPr sz="975" b="1" i="0">
                <a:solidFill>
                  <a:srgbClr val="98A2B3"/>
                </a:solidFill>
                <a:latin typeface="Arial"/>
                <a:ea typeface="Arial"/>
                <a:cs typeface="Arial"/>
              </a:defRPr>
            </a:lvl5pPr>
            <a:lvl6pPr algn="r">
              <a:defRPr sz="975" b="1" i="0">
                <a:solidFill>
                  <a:srgbClr val="98A2B3"/>
                </a:solidFill>
                <a:latin typeface="Arial"/>
                <a:ea typeface="Arial"/>
                <a:cs typeface="Arial"/>
              </a:defRPr>
            </a:lvl6pPr>
            <a:lvl7pPr algn="r">
              <a:defRPr sz="975" b="1" i="0">
                <a:solidFill>
                  <a:srgbClr val="98A2B3"/>
                </a:solidFill>
                <a:latin typeface="Arial"/>
                <a:ea typeface="Arial"/>
                <a:cs typeface="Arial"/>
              </a:defRPr>
            </a:lvl7pPr>
            <a:lvl8pPr algn="r">
              <a:defRPr sz="975" b="1" i="0">
                <a:solidFill>
                  <a:srgbClr val="98A2B3"/>
                </a:solidFill>
                <a:latin typeface="Arial"/>
                <a:ea typeface="Arial"/>
                <a:cs typeface="Arial"/>
              </a:defRPr>
            </a:lvl8pPr>
            <a:lvl9pPr algn="r">
              <a:defRPr sz="975" b="1" i="0">
                <a:solidFill>
                  <a:srgbClr val="98A2B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r">
              <a:lnSpc>
                <a:spcPct val="105000"/>
              </a:lnSpc>
              <a:buNone/>
              <a:defRPr sz="975" b="1" i="0">
                <a:solidFill>
                  <a:srgbClr val="98A2B3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98A2B3"/>
                </a:solidFill>
                <a:latin typeface="Arial"/>
                <a:ea typeface="Arial"/>
                <a:cs typeface="Arial"/>
              </a:rPr>
              <a:t>12 / 13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8C34CA2-1DD6-4E78-AEBC-C42CA2B24F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"/>
            <a:ext cx="9906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2850" b="1" i="0">
                <a:solidFill>
                  <a:srgbClr val="14243D"/>
                </a:solidFill>
                <a:latin typeface="Arial"/>
                <a:ea typeface="Arial"/>
                <a:cs typeface="Arial"/>
              </a:defRPr>
            </a:defPPr>
            <a:lvl1pPr algn="l">
              <a:defRPr sz="2850" b="1" i="0">
                <a:solidFill>
                  <a:srgbClr val="14243D"/>
                </a:solidFill>
                <a:latin typeface="Arial"/>
                <a:ea typeface="Arial"/>
                <a:cs typeface="Arial"/>
              </a:defRPr>
            </a:lvl1pPr>
            <a:lvl2pPr algn="l">
              <a:defRPr sz="2850" b="1" i="0">
                <a:solidFill>
                  <a:srgbClr val="14243D"/>
                </a:solidFill>
                <a:latin typeface="Arial"/>
                <a:ea typeface="Arial"/>
                <a:cs typeface="Arial"/>
              </a:defRPr>
            </a:lvl2pPr>
            <a:lvl3pPr algn="l">
              <a:defRPr sz="2850" b="1" i="0">
                <a:solidFill>
                  <a:srgbClr val="14243D"/>
                </a:solidFill>
                <a:latin typeface="Arial"/>
                <a:ea typeface="Arial"/>
                <a:cs typeface="Arial"/>
              </a:defRPr>
            </a:lvl3pPr>
            <a:lvl4pPr algn="l">
              <a:defRPr sz="2850" b="1" i="0">
                <a:solidFill>
                  <a:srgbClr val="14243D"/>
                </a:solidFill>
                <a:latin typeface="Arial"/>
                <a:ea typeface="Arial"/>
                <a:cs typeface="Arial"/>
              </a:defRPr>
            </a:lvl4pPr>
            <a:lvl5pPr algn="l">
              <a:defRPr sz="2850" b="1" i="0">
                <a:solidFill>
                  <a:srgbClr val="14243D"/>
                </a:solidFill>
                <a:latin typeface="Arial"/>
                <a:ea typeface="Arial"/>
                <a:cs typeface="Arial"/>
              </a:defRPr>
            </a:lvl5pPr>
            <a:lvl6pPr algn="l">
              <a:defRPr sz="2850" b="1" i="0">
                <a:solidFill>
                  <a:srgbClr val="14243D"/>
                </a:solidFill>
                <a:latin typeface="Arial"/>
                <a:ea typeface="Arial"/>
                <a:cs typeface="Arial"/>
              </a:defRPr>
            </a:lvl6pPr>
            <a:lvl7pPr algn="l">
              <a:defRPr sz="2850" b="1" i="0">
                <a:solidFill>
                  <a:srgbClr val="14243D"/>
                </a:solidFill>
                <a:latin typeface="Arial"/>
                <a:ea typeface="Arial"/>
                <a:cs typeface="Arial"/>
              </a:defRPr>
            </a:lvl7pPr>
            <a:lvl8pPr algn="l">
              <a:defRPr sz="2850" b="1" i="0">
                <a:solidFill>
                  <a:srgbClr val="14243D"/>
                </a:solidFill>
                <a:latin typeface="Arial"/>
                <a:ea typeface="Arial"/>
                <a:cs typeface="Arial"/>
              </a:defRPr>
            </a:lvl8pPr>
            <a:lvl9pPr algn="l">
              <a:defRPr sz="2850" b="1" i="0">
                <a:solidFill>
                  <a:srgbClr val="14243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lnSpc>
                <a:spcPct val="95000"/>
              </a:lnSpc>
              <a:buNone/>
              <a:defRPr sz="2850" b="1" i="0">
                <a:solidFill>
                  <a:srgbClr val="14243D"/>
                </a:solidFill>
                <a:latin typeface="Arial"/>
                <a:ea typeface="Arial"/>
                <a:cs typeface="Arial"/>
              </a:defRPr>
            </a:pPr>
            <a:r>
              <a:rPr sz="2850" b="1" i="0">
                <a:solidFill>
                  <a:srgbClr val="14243D"/>
                </a:solidFill>
                <a:latin typeface="Arial"/>
                <a:ea typeface="Arial"/>
                <a:cs typeface="Arial"/>
              </a:rPr>
              <a:t>Cierre y demo: de la evidencia a una acción concreta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D7F5F27-0219-4DDA-81D2-E0B38F5E9A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95400"/>
            <a:ext cx="9906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350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defPPr>
            <a:lvl1pPr algn="l">
              <a:defRPr sz="1350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lvl1pPr>
            <a:lvl2pPr algn="l">
              <a:defRPr sz="1350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lvl2pPr>
            <a:lvl3pPr algn="l">
              <a:defRPr sz="1350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lvl3pPr>
            <a:lvl4pPr algn="l">
              <a:defRPr sz="1350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lvl4pPr>
            <a:lvl5pPr algn="l">
              <a:defRPr sz="1350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lvl5pPr>
            <a:lvl6pPr algn="l">
              <a:defRPr sz="1350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lvl6pPr>
            <a:lvl7pPr algn="l">
              <a:defRPr sz="1350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lvl7pPr>
            <a:lvl8pPr algn="l">
              <a:defRPr sz="1350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lvl8pPr>
            <a:lvl9pPr algn="l">
              <a:defRPr sz="1350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lnSpc>
                <a:spcPct val="100000"/>
              </a:lnSpc>
              <a:buNone/>
              <a:defRPr sz="1350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1350" b="0" i="0">
                <a:solidFill>
                  <a:srgbClr val="667085"/>
                </a:solidFill>
                <a:latin typeface="Arial"/>
                <a:ea typeface="Arial"/>
                <a:cs typeface="Arial"/>
              </a:rPr>
              <a:t>La defensa termina mostrando una interacción real y nombrando lo que el modelo todavía no puede afirmar.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5F61550-02E5-4A36-BDBD-FC66A13778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526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DEE8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468C641-56F4-4664-B1F5-DFEE57AEA4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171700"/>
            <a:ext cx="4000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1" i="0">
                <a:solidFill>
                  <a:srgbClr val="14243D"/>
                </a:solidFill>
                <a:latin typeface="Arial"/>
                <a:ea typeface="Arial"/>
                <a:cs typeface="Arial"/>
              </a:defRPr>
            </a:defPPr>
            <a:lvl1pPr algn="l">
              <a:defRPr sz="1725" b="1" i="0">
                <a:solidFill>
                  <a:srgbClr val="14243D"/>
                </a:solidFill>
                <a:latin typeface="Arial"/>
                <a:ea typeface="Arial"/>
                <a:cs typeface="Arial"/>
              </a:defRPr>
            </a:lvl1pPr>
            <a:lvl2pPr algn="l">
              <a:defRPr sz="1725" b="1" i="0">
                <a:solidFill>
                  <a:srgbClr val="14243D"/>
                </a:solidFill>
                <a:latin typeface="Arial"/>
                <a:ea typeface="Arial"/>
                <a:cs typeface="Arial"/>
              </a:defRPr>
            </a:lvl2pPr>
            <a:lvl3pPr algn="l">
              <a:defRPr sz="1725" b="1" i="0">
                <a:solidFill>
                  <a:srgbClr val="14243D"/>
                </a:solidFill>
                <a:latin typeface="Arial"/>
                <a:ea typeface="Arial"/>
                <a:cs typeface="Arial"/>
              </a:defRPr>
            </a:lvl3pPr>
            <a:lvl4pPr algn="l">
              <a:defRPr sz="1725" b="1" i="0">
                <a:solidFill>
                  <a:srgbClr val="14243D"/>
                </a:solidFill>
                <a:latin typeface="Arial"/>
                <a:ea typeface="Arial"/>
                <a:cs typeface="Arial"/>
              </a:defRPr>
            </a:lvl4pPr>
            <a:lvl5pPr algn="l">
              <a:defRPr sz="1725" b="1" i="0">
                <a:solidFill>
                  <a:srgbClr val="14243D"/>
                </a:solidFill>
                <a:latin typeface="Arial"/>
                <a:ea typeface="Arial"/>
                <a:cs typeface="Arial"/>
              </a:defRPr>
            </a:lvl5pPr>
            <a:lvl6pPr algn="l">
              <a:defRPr sz="1725" b="1" i="0">
                <a:solidFill>
                  <a:srgbClr val="14243D"/>
                </a:solidFill>
                <a:latin typeface="Arial"/>
                <a:ea typeface="Arial"/>
                <a:cs typeface="Arial"/>
              </a:defRPr>
            </a:lvl6pPr>
            <a:lvl7pPr algn="l">
              <a:defRPr sz="1725" b="1" i="0">
                <a:solidFill>
                  <a:srgbClr val="14243D"/>
                </a:solidFill>
                <a:latin typeface="Arial"/>
                <a:ea typeface="Arial"/>
                <a:cs typeface="Arial"/>
              </a:defRPr>
            </a:lvl7pPr>
            <a:lvl8pPr algn="l">
              <a:defRPr sz="1725" b="1" i="0">
                <a:solidFill>
                  <a:srgbClr val="14243D"/>
                </a:solidFill>
                <a:latin typeface="Arial"/>
                <a:ea typeface="Arial"/>
                <a:cs typeface="Arial"/>
              </a:defRPr>
            </a:lvl8pPr>
            <a:lvl9pPr algn="l">
              <a:defRPr sz="1725" b="1" i="0">
                <a:solidFill>
                  <a:srgbClr val="14243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1725" b="1" i="0">
                <a:solidFill>
                  <a:srgbClr val="14243D"/>
                </a:solidFill>
                <a:latin typeface="Arial"/>
                <a:ea typeface="Arial"/>
                <a:cs typeface="Arial"/>
              </a:defRPr>
            </a:pPr>
            <a:r>
              <a:rPr sz="1725" b="1" i="0">
                <a:solidFill>
                  <a:srgbClr val="14243D"/>
                </a:solidFill>
                <a:latin typeface="Arial"/>
                <a:ea typeface="Arial"/>
                <a:cs typeface="Arial"/>
              </a:rPr>
              <a:t>Tres decisiones defendibles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C6DCD42-A42B-4206-B98A-F64C1D46C2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47950"/>
            <a:ext cx="4667250" cy="1619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0449"/>
          </a:bodyPr>
          <a:lstStyle xmlns:a="http://schemas.openxmlformats.org/drawingml/2006/main">
            <a:defPPr>
              <a:defRPr sz="1500">
                <a:solidFill>
                  <a:srgbClr val="111827"/>
                </a:solidFill>
                <a:latin typeface="Arial"/>
                <a:ea typeface="Arial"/>
                <a:cs typeface="Arial"/>
              </a:defRPr>
            </a:defPPr>
            <a:lvl1pPr>
              <a:defRPr sz="1500">
                <a:solidFill>
                  <a:srgbClr val="111827"/>
                </a:solidFill>
                <a:latin typeface="Arial"/>
                <a:ea typeface="Arial"/>
                <a:cs typeface="Arial"/>
              </a:defRPr>
            </a:lvl1pPr>
            <a:lvl2pPr>
              <a:defRPr sz="1500">
                <a:solidFill>
                  <a:srgbClr val="111827"/>
                </a:solidFill>
                <a:latin typeface="Arial"/>
                <a:ea typeface="Arial"/>
                <a:cs typeface="Arial"/>
              </a:defRPr>
            </a:lvl2pPr>
            <a:lvl3pPr>
              <a:defRPr sz="1500">
                <a:solidFill>
                  <a:srgbClr val="111827"/>
                </a:solidFill>
                <a:latin typeface="Arial"/>
                <a:ea typeface="Arial"/>
                <a:cs typeface="Arial"/>
              </a:defRPr>
            </a:lvl3pPr>
            <a:lvl4pPr>
              <a:defRPr sz="1500">
                <a:solidFill>
                  <a:srgbClr val="111827"/>
                </a:solidFill>
                <a:latin typeface="Arial"/>
                <a:ea typeface="Arial"/>
                <a:cs typeface="Arial"/>
              </a:defRPr>
            </a:lvl4pPr>
            <a:lvl5pPr>
              <a:defRPr sz="1500">
                <a:solidFill>
                  <a:srgbClr val="111827"/>
                </a:solidFill>
                <a:latin typeface="Arial"/>
                <a:ea typeface="Arial"/>
                <a:cs typeface="Arial"/>
              </a:defRPr>
            </a:lvl5pPr>
            <a:lvl6pPr>
              <a:defRPr sz="1500">
                <a:solidFill>
                  <a:srgbClr val="111827"/>
                </a:solidFill>
                <a:latin typeface="Arial"/>
                <a:ea typeface="Arial"/>
                <a:cs typeface="Arial"/>
              </a:defRPr>
            </a:lvl6pPr>
            <a:lvl7pPr>
              <a:defRPr sz="1500">
                <a:solidFill>
                  <a:srgbClr val="111827"/>
                </a:solidFill>
                <a:latin typeface="Arial"/>
                <a:ea typeface="Arial"/>
                <a:cs typeface="Arial"/>
              </a:defRPr>
            </a:lvl7pPr>
            <a:lvl8pPr>
              <a:defRPr sz="1500">
                <a:solidFill>
                  <a:srgbClr val="111827"/>
                </a:solidFill>
                <a:latin typeface="Arial"/>
                <a:ea typeface="Arial"/>
                <a:cs typeface="Arial"/>
              </a:defRPr>
            </a:lvl8pPr>
            <a:lvl9pPr>
              <a:defRPr sz="1500">
                <a:solidFill>
                  <a:srgbClr val="11182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marL="228600" indent="-114300">
              <a:lnSpc>
                <a:spcPct val="108000"/>
              </a:lnSpc>
              <a:spcAft>
                <a:spcPts val="1100"/>
              </a:spcAft>
              <a:buNone/>
              <a:defRPr sz="1500">
                <a:solidFill>
                  <a:srgbClr val="111827"/>
                </a:solidFill>
                <a:latin typeface="Arial"/>
                <a:ea typeface="Arial"/>
                <a:cs typeface="Arial"/>
              </a:defRPr>
            </a:pPr>
            <a:r>
              <a:rPr sz="1500">
                <a:solidFill>
                  <a:srgbClr val="111827"/>
                </a:solidFill>
                <a:latin typeface="Arial"/>
                <a:ea typeface="Arial"/>
                <a:cs typeface="Arial"/>
              </a:rPr>
              <a:t>Conservar NULL y separar calidad de dato de demora alta.</a:t>
            </a:r>
          </a:p>
          <a:p xmlns:a="http://schemas.openxmlformats.org/drawingml/2006/main">
            <a:pPr marL="228600" indent="-114300">
              <a:lnSpc>
                <a:spcPct val="108000"/>
              </a:lnSpc>
              <a:spcAft>
                <a:spcPts val="1100"/>
              </a:spcAft>
              <a:buNone/>
              <a:defRPr sz="1500">
                <a:solidFill>
                  <a:srgbClr val="111827"/>
                </a:solidFill>
                <a:latin typeface="Arial"/>
                <a:ea typeface="Arial"/>
                <a:cs typeface="Arial"/>
              </a:defRPr>
            </a:pPr>
            <a:r>
              <a:rPr sz="1500">
                <a:solidFill>
                  <a:srgbClr val="111827"/>
                </a:solidFill>
                <a:latin typeface="Arial"/>
                <a:ea typeface="Arial"/>
                <a:cs typeface="Arial"/>
              </a:rPr>
              <a:t>Usar K-Means para orientar capacidad por perfil, no para etiquetar causalidad.</a:t>
            </a:r>
          </a:p>
          <a:p xmlns:a="http://schemas.openxmlformats.org/drawingml/2006/main">
            <a:pPr marL="228600" indent="-114300">
              <a:lnSpc>
                <a:spcPct val="108000"/>
              </a:lnSpc>
              <a:spcAft>
                <a:spcPts val="1100"/>
              </a:spcAft>
              <a:buNone/>
              <a:defRPr sz="1500">
                <a:solidFill>
                  <a:srgbClr val="111827"/>
                </a:solidFill>
                <a:latin typeface="Arial"/>
                <a:ea typeface="Arial"/>
                <a:cs typeface="Arial"/>
              </a:defRPr>
            </a:pPr>
            <a:r>
              <a:rPr sz="1500">
                <a:solidFill>
                  <a:srgbClr val="111827"/>
                </a:solidFill>
                <a:latin typeface="Arial"/>
                <a:ea typeface="Arial"/>
                <a:cs typeface="Arial"/>
              </a:rPr>
              <a:t>Usar el árbol como filtro de revisión humana, no como decisión automática.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6EDCF50-3782-48E6-9748-DDE436CF6F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43450"/>
            <a:ext cx="4667250" cy="1219200"/>
          </a:xfrm>
          <a:prstGeom xmlns:a="http://schemas.openxmlformats.org/drawingml/2006/main" prst="roundRect">
            <a:avLst>
              <a:gd name="adj" fmla="val 9375"/>
            </a:avLst>
          </a:prstGeom>
          <a:solidFill xmlns:a="http://schemas.openxmlformats.org/drawingml/2006/main">
            <a:srgbClr val="EEE9FF"/>
          </a:solidFill>
          <a:ln xmlns:a="http://schemas.openxmlformats.org/drawingml/2006/main" w="0">
            <a:solidFill>
              <a:srgbClr val="EEE9FF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553DD8D-99EF-42C4-ACE2-9EF4A20FED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953000"/>
            <a:ext cx="1714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200" b="1" i="0">
                <a:solidFill>
                  <a:srgbClr val="6D4AFF"/>
                </a:solidFill>
                <a:latin typeface="Arial"/>
                <a:ea typeface="Arial"/>
                <a:cs typeface="Arial"/>
              </a:defRPr>
            </a:defPPr>
            <a:lvl1pPr algn="l">
              <a:defRPr sz="1200" b="1" i="0">
                <a:solidFill>
                  <a:srgbClr val="6D4AFF"/>
                </a:solidFill>
                <a:latin typeface="Arial"/>
                <a:ea typeface="Arial"/>
                <a:cs typeface="Arial"/>
              </a:defRPr>
            </a:lvl1pPr>
            <a:lvl2pPr algn="l">
              <a:defRPr sz="1200" b="1" i="0">
                <a:solidFill>
                  <a:srgbClr val="6D4AFF"/>
                </a:solidFill>
                <a:latin typeface="Arial"/>
                <a:ea typeface="Arial"/>
                <a:cs typeface="Arial"/>
              </a:defRPr>
            </a:lvl2pPr>
            <a:lvl3pPr algn="l">
              <a:defRPr sz="1200" b="1" i="0">
                <a:solidFill>
                  <a:srgbClr val="6D4AFF"/>
                </a:solidFill>
                <a:latin typeface="Arial"/>
                <a:ea typeface="Arial"/>
                <a:cs typeface="Arial"/>
              </a:defRPr>
            </a:lvl3pPr>
            <a:lvl4pPr algn="l">
              <a:defRPr sz="1200" b="1" i="0">
                <a:solidFill>
                  <a:srgbClr val="6D4AFF"/>
                </a:solidFill>
                <a:latin typeface="Arial"/>
                <a:ea typeface="Arial"/>
                <a:cs typeface="Arial"/>
              </a:defRPr>
            </a:lvl4pPr>
            <a:lvl5pPr algn="l">
              <a:defRPr sz="1200" b="1" i="0">
                <a:solidFill>
                  <a:srgbClr val="6D4AFF"/>
                </a:solidFill>
                <a:latin typeface="Arial"/>
                <a:ea typeface="Arial"/>
                <a:cs typeface="Arial"/>
              </a:defRPr>
            </a:lvl5pPr>
            <a:lvl6pPr algn="l">
              <a:defRPr sz="1200" b="1" i="0">
                <a:solidFill>
                  <a:srgbClr val="6D4AFF"/>
                </a:solidFill>
                <a:latin typeface="Arial"/>
                <a:ea typeface="Arial"/>
                <a:cs typeface="Arial"/>
              </a:defRPr>
            </a:lvl6pPr>
            <a:lvl7pPr algn="l">
              <a:defRPr sz="1200" b="1" i="0">
                <a:solidFill>
                  <a:srgbClr val="6D4AFF"/>
                </a:solidFill>
                <a:latin typeface="Arial"/>
                <a:ea typeface="Arial"/>
                <a:cs typeface="Arial"/>
              </a:defRPr>
            </a:lvl7pPr>
            <a:lvl8pPr algn="l">
              <a:defRPr sz="1200" b="1" i="0">
                <a:solidFill>
                  <a:srgbClr val="6D4AFF"/>
                </a:solidFill>
                <a:latin typeface="Arial"/>
                <a:ea typeface="Arial"/>
                <a:cs typeface="Arial"/>
              </a:defRPr>
            </a:lvl8pPr>
            <a:lvl9pPr algn="l">
              <a:defRPr sz="1200" b="1" i="0">
                <a:solidFill>
                  <a:srgbClr val="6D4A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1200" b="1" i="0">
                <a:solidFill>
                  <a:srgbClr val="6D4AFF"/>
                </a:solidFill>
                <a:latin typeface="Arial"/>
                <a:ea typeface="Arial"/>
                <a:cs typeface="Arial"/>
              </a:defRPr>
            </a:pPr>
            <a:r>
              <a:rPr sz="1200" b="1" i="0">
                <a:solidFill>
                  <a:srgbClr val="6D4AFF"/>
                </a:solidFill>
                <a:latin typeface="Arial"/>
                <a:ea typeface="Arial"/>
                <a:cs typeface="Arial"/>
              </a:rPr>
              <a:t>Lo que sí sabemos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A040B78-0601-4B00-A230-4B21F33CB6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257800"/>
            <a:ext cx="400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83333"/>
          </a:bodyPr>
          <a:lstStyle xmlns:a="http://schemas.openxmlformats.org/drawingml/2006/main">
            <a:defPPr algn="l">
              <a:defRPr sz="1500" b="1" i="0">
                <a:solidFill>
                  <a:srgbClr val="14243D"/>
                </a:solidFill>
                <a:latin typeface="Arial"/>
                <a:ea typeface="Arial"/>
                <a:cs typeface="Arial"/>
              </a:defRPr>
            </a:defPPr>
            <a:lvl1pPr algn="l">
              <a:defRPr sz="1500" b="1" i="0">
                <a:solidFill>
                  <a:srgbClr val="14243D"/>
                </a:solidFill>
                <a:latin typeface="Arial"/>
                <a:ea typeface="Arial"/>
                <a:cs typeface="Arial"/>
              </a:defRPr>
            </a:lvl1pPr>
            <a:lvl2pPr algn="l">
              <a:defRPr sz="1500" b="1" i="0">
                <a:solidFill>
                  <a:srgbClr val="14243D"/>
                </a:solidFill>
                <a:latin typeface="Arial"/>
                <a:ea typeface="Arial"/>
                <a:cs typeface="Arial"/>
              </a:defRPr>
            </a:lvl2pPr>
            <a:lvl3pPr algn="l">
              <a:defRPr sz="1500" b="1" i="0">
                <a:solidFill>
                  <a:srgbClr val="14243D"/>
                </a:solidFill>
                <a:latin typeface="Arial"/>
                <a:ea typeface="Arial"/>
                <a:cs typeface="Arial"/>
              </a:defRPr>
            </a:lvl3pPr>
            <a:lvl4pPr algn="l">
              <a:defRPr sz="1500" b="1" i="0">
                <a:solidFill>
                  <a:srgbClr val="14243D"/>
                </a:solidFill>
                <a:latin typeface="Arial"/>
                <a:ea typeface="Arial"/>
                <a:cs typeface="Arial"/>
              </a:defRPr>
            </a:lvl4pPr>
            <a:lvl5pPr algn="l">
              <a:defRPr sz="1500" b="1" i="0">
                <a:solidFill>
                  <a:srgbClr val="14243D"/>
                </a:solidFill>
                <a:latin typeface="Arial"/>
                <a:ea typeface="Arial"/>
                <a:cs typeface="Arial"/>
              </a:defRPr>
            </a:lvl5pPr>
            <a:lvl6pPr algn="l">
              <a:defRPr sz="1500" b="1" i="0">
                <a:solidFill>
                  <a:srgbClr val="14243D"/>
                </a:solidFill>
                <a:latin typeface="Arial"/>
                <a:ea typeface="Arial"/>
                <a:cs typeface="Arial"/>
              </a:defRPr>
            </a:lvl6pPr>
            <a:lvl7pPr algn="l">
              <a:defRPr sz="1500" b="1" i="0">
                <a:solidFill>
                  <a:srgbClr val="14243D"/>
                </a:solidFill>
                <a:latin typeface="Arial"/>
                <a:ea typeface="Arial"/>
                <a:cs typeface="Arial"/>
              </a:defRPr>
            </a:lvl7pPr>
            <a:lvl8pPr algn="l">
              <a:defRPr sz="1500" b="1" i="0">
                <a:solidFill>
                  <a:srgbClr val="14243D"/>
                </a:solidFill>
                <a:latin typeface="Arial"/>
                <a:ea typeface="Arial"/>
                <a:cs typeface="Arial"/>
              </a:defRPr>
            </a:lvl8pPr>
            <a:lvl9pPr algn="l">
              <a:defRPr sz="1500" b="1" i="0">
                <a:solidFill>
                  <a:srgbClr val="14243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1500" b="1" i="0">
                <a:solidFill>
                  <a:srgbClr val="14243D"/>
                </a:solidFill>
                <a:latin typeface="Arial"/>
                <a:ea typeface="Arial"/>
                <a:cs typeface="Arial"/>
              </a:defRPr>
            </a:pPr>
            <a:r>
              <a:rPr sz="1500" b="1" i="0">
                <a:solidFill>
                  <a:srgbClr val="14243D"/>
                </a:solidFill>
                <a:latin typeface="Arial"/>
                <a:ea typeface="Arial"/>
                <a:cs typeface="Arial"/>
              </a:rPr>
              <a:t>El tablero permite comparar volumen y demora con el mismo filtro.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B5FE5A1-FFD9-4A4B-AD0A-C9774154B4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2171700"/>
            <a:ext cx="3143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1" i="0">
                <a:solidFill>
                  <a:srgbClr val="14243D"/>
                </a:solidFill>
                <a:latin typeface="Arial"/>
                <a:ea typeface="Arial"/>
                <a:cs typeface="Arial"/>
              </a:defRPr>
            </a:defPPr>
            <a:lvl1pPr algn="l">
              <a:defRPr sz="1725" b="1" i="0">
                <a:solidFill>
                  <a:srgbClr val="14243D"/>
                </a:solidFill>
                <a:latin typeface="Arial"/>
                <a:ea typeface="Arial"/>
                <a:cs typeface="Arial"/>
              </a:defRPr>
            </a:lvl1pPr>
            <a:lvl2pPr algn="l">
              <a:defRPr sz="1725" b="1" i="0">
                <a:solidFill>
                  <a:srgbClr val="14243D"/>
                </a:solidFill>
                <a:latin typeface="Arial"/>
                <a:ea typeface="Arial"/>
                <a:cs typeface="Arial"/>
              </a:defRPr>
            </a:lvl2pPr>
            <a:lvl3pPr algn="l">
              <a:defRPr sz="1725" b="1" i="0">
                <a:solidFill>
                  <a:srgbClr val="14243D"/>
                </a:solidFill>
                <a:latin typeface="Arial"/>
                <a:ea typeface="Arial"/>
                <a:cs typeface="Arial"/>
              </a:defRPr>
            </a:lvl3pPr>
            <a:lvl4pPr algn="l">
              <a:defRPr sz="1725" b="1" i="0">
                <a:solidFill>
                  <a:srgbClr val="14243D"/>
                </a:solidFill>
                <a:latin typeface="Arial"/>
                <a:ea typeface="Arial"/>
                <a:cs typeface="Arial"/>
              </a:defRPr>
            </a:lvl4pPr>
            <a:lvl5pPr algn="l">
              <a:defRPr sz="1725" b="1" i="0">
                <a:solidFill>
                  <a:srgbClr val="14243D"/>
                </a:solidFill>
                <a:latin typeface="Arial"/>
                <a:ea typeface="Arial"/>
                <a:cs typeface="Arial"/>
              </a:defRPr>
            </a:lvl5pPr>
            <a:lvl6pPr algn="l">
              <a:defRPr sz="1725" b="1" i="0">
                <a:solidFill>
                  <a:srgbClr val="14243D"/>
                </a:solidFill>
                <a:latin typeface="Arial"/>
                <a:ea typeface="Arial"/>
                <a:cs typeface="Arial"/>
              </a:defRPr>
            </a:lvl6pPr>
            <a:lvl7pPr algn="l">
              <a:defRPr sz="1725" b="1" i="0">
                <a:solidFill>
                  <a:srgbClr val="14243D"/>
                </a:solidFill>
                <a:latin typeface="Arial"/>
                <a:ea typeface="Arial"/>
                <a:cs typeface="Arial"/>
              </a:defRPr>
            </a:lvl7pPr>
            <a:lvl8pPr algn="l">
              <a:defRPr sz="1725" b="1" i="0">
                <a:solidFill>
                  <a:srgbClr val="14243D"/>
                </a:solidFill>
                <a:latin typeface="Arial"/>
                <a:ea typeface="Arial"/>
                <a:cs typeface="Arial"/>
              </a:defRPr>
            </a:lvl8pPr>
            <a:lvl9pPr algn="l">
              <a:defRPr sz="1725" b="1" i="0">
                <a:solidFill>
                  <a:srgbClr val="14243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1725" b="1" i="0">
                <a:solidFill>
                  <a:srgbClr val="14243D"/>
                </a:solidFill>
                <a:latin typeface="Arial"/>
                <a:ea typeface="Arial"/>
                <a:cs typeface="Arial"/>
              </a:defRPr>
            </a:pPr>
            <a:r>
              <a:rPr sz="1725" b="1" i="0">
                <a:solidFill>
                  <a:srgbClr val="14243D"/>
                </a:solidFill>
                <a:latin typeface="Arial"/>
                <a:ea typeface="Arial"/>
                <a:cs typeface="Arial"/>
              </a:rPr>
              <a:t>Demo en 3 pasos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948553E-ECC5-494D-882D-E7DA4DA4F6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2686050"/>
            <a:ext cx="4000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00" b="1" i="0">
                <a:solidFill>
                  <a:srgbClr val="2463EB"/>
                </a:solidFill>
                <a:latin typeface="Arial"/>
                <a:ea typeface="Arial"/>
                <a:cs typeface="Arial"/>
              </a:defRPr>
            </a:defPPr>
            <a:lvl1pPr algn="l">
              <a:defRPr sz="2100" b="1" i="0">
                <a:solidFill>
                  <a:srgbClr val="2463EB"/>
                </a:solidFill>
                <a:latin typeface="Arial"/>
                <a:ea typeface="Arial"/>
                <a:cs typeface="Arial"/>
              </a:defRPr>
            </a:lvl1pPr>
            <a:lvl2pPr algn="l">
              <a:defRPr sz="2100" b="1" i="0">
                <a:solidFill>
                  <a:srgbClr val="2463EB"/>
                </a:solidFill>
                <a:latin typeface="Arial"/>
                <a:ea typeface="Arial"/>
                <a:cs typeface="Arial"/>
              </a:defRPr>
            </a:lvl2pPr>
            <a:lvl3pPr algn="l">
              <a:defRPr sz="2100" b="1" i="0">
                <a:solidFill>
                  <a:srgbClr val="2463EB"/>
                </a:solidFill>
                <a:latin typeface="Arial"/>
                <a:ea typeface="Arial"/>
                <a:cs typeface="Arial"/>
              </a:defRPr>
            </a:lvl3pPr>
            <a:lvl4pPr algn="l">
              <a:defRPr sz="2100" b="1" i="0">
                <a:solidFill>
                  <a:srgbClr val="2463EB"/>
                </a:solidFill>
                <a:latin typeface="Arial"/>
                <a:ea typeface="Arial"/>
                <a:cs typeface="Arial"/>
              </a:defRPr>
            </a:lvl4pPr>
            <a:lvl5pPr algn="l">
              <a:defRPr sz="2100" b="1" i="0">
                <a:solidFill>
                  <a:srgbClr val="2463EB"/>
                </a:solidFill>
                <a:latin typeface="Arial"/>
                <a:ea typeface="Arial"/>
                <a:cs typeface="Arial"/>
              </a:defRPr>
            </a:lvl5pPr>
            <a:lvl6pPr algn="l">
              <a:defRPr sz="2100" b="1" i="0">
                <a:solidFill>
                  <a:srgbClr val="2463EB"/>
                </a:solidFill>
                <a:latin typeface="Arial"/>
                <a:ea typeface="Arial"/>
                <a:cs typeface="Arial"/>
              </a:defRPr>
            </a:lvl6pPr>
            <a:lvl7pPr algn="l">
              <a:defRPr sz="2100" b="1" i="0">
                <a:solidFill>
                  <a:srgbClr val="2463EB"/>
                </a:solidFill>
                <a:latin typeface="Arial"/>
                <a:ea typeface="Arial"/>
                <a:cs typeface="Arial"/>
              </a:defRPr>
            </a:lvl7pPr>
            <a:lvl8pPr algn="l">
              <a:defRPr sz="2100" b="1" i="0">
                <a:solidFill>
                  <a:srgbClr val="2463EB"/>
                </a:solidFill>
                <a:latin typeface="Arial"/>
                <a:ea typeface="Arial"/>
                <a:cs typeface="Arial"/>
              </a:defRPr>
            </a:lvl8pPr>
            <a:lvl9pPr algn="l">
              <a:defRPr sz="2100" b="1" i="0">
                <a:solidFill>
                  <a:srgbClr val="2463E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2100" b="1" i="0">
                <a:solidFill>
                  <a:srgbClr val="2463EB"/>
                </a:solidFill>
                <a:latin typeface="Arial"/>
                <a:ea typeface="Arial"/>
                <a:cs typeface="Arial"/>
              </a:defRPr>
            </a:pPr>
            <a:r>
              <a:rPr sz="2100" b="1" i="0">
                <a:solidFill>
                  <a:srgbClr val="2463EB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63C495E-A28C-4353-ACDA-FD1E58BC3C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7050" y="2686050"/>
            <a:ext cx="39814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75" b="1" i="0">
                <a:solidFill>
                  <a:srgbClr val="14243D"/>
                </a:solidFill>
                <a:latin typeface="Arial"/>
                <a:ea typeface="Arial"/>
                <a:cs typeface="Arial"/>
              </a:defRPr>
            </a:defPPr>
            <a:lvl1pPr algn="l">
              <a:defRPr sz="1575" b="1" i="0">
                <a:solidFill>
                  <a:srgbClr val="14243D"/>
                </a:solidFill>
                <a:latin typeface="Arial"/>
                <a:ea typeface="Arial"/>
                <a:cs typeface="Arial"/>
              </a:defRPr>
            </a:lvl1pPr>
            <a:lvl2pPr algn="l">
              <a:defRPr sz="1575" b="1" i="0">
                <a:solidFill>
                  <a:srgbClr val="14243D"/>
                </a:solidFill>
                <a:latin typeface="Arial"/>
                <a:ea typeface="Arial"/>
                <a:cs typeface="Arial"/>
              </a:defRPr>
            </a:lvl2pPr>
            <a:lvl3pPr algn="l">
              <a:defRPr sz="1575" b="1" i="0">
                <a:solidFill>
                  <a:srgbClr val="14243D"/>
                </a:solidFill>
                <a:latin typeface="Arial"/>
                <a:ea typeface="Arial"/>
                <a:cs typeface="Arial"/>
              </a:defRPr>
            </a:lvl3pPr>
            <a:lvl4pPr algn="l">
              <a:defRPr sz="1575" b="1" i="0">
                <a:solidFill>
                  <a:srgbClr val="14243D"/>
                </a:solidFill>
                <a:latin typeface="Arial"/>
                <a:ea typeface="Arial"/>
                <a:cs typeface="Arial"/>
              </a:defRPr>
            </a:lvl4pPr>
            <a:lvl5pPr algn="l">
              <a:defRPr sz="1575" b="1" i="0">
                <a:solidFill>
                  <a:srgbClr val="14243D"/>
                </a:solidFill>
                <a:latin typeface="Arial"/>
                <a:ea typeface="Arial"/>
                <a:cs typeface="Arial"/>
              </a:defRPr>
            </a:lvl5pPr>
            <a:lvl6pPr algn="l">
              <a:defRPr sz="1575" b="1" i="0">
                <a:solidFill>
                  <a:srgbClr val="14243D"/>
                </a:solidFill>
                <a:latin typeface="Arial"/>
                <a:ea typeface="Arial"/>
                <a:cs typeface="Arial"/>
              </a:defRPr>
            </a:lvl6pPr>
            <a:lvl7pPr algn="l">
              <a:defRPr sz="1575" b="1" i="0">
                <a:solidFill>
                  <a:srgbClr val="14243D"/>
                </a:solidFill>
                <a:latin typeface="Arial"/>
                <a:ea typeface="Arial"/>
                <a:cs typeface="Arial"/>
              </a:defRPr>
            </a:lvl7pPr>
            <a:lvl8pPr algn="l">
              <a:defRPr sz="1575" b="1" i="0">
                <a:solidFill>
                  <a:srgbClr val="14243D"/>
                </a:solidFill>
                <a:latin typeface="Arial"/>
                <a:ea typeface="Arial"/>
                <a:cs typeface="Arial"/>
              </a:defRPr>
            </a:lvl8pPr>
            <a:lvl9pPr algn="l">
              <a:defRPr sz="1575" b="1" i="0">
                <a:solidFill>
                  <a:srgbClr val="14243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1575" b="1" i="0">
                <a:solidFill>
                  <a:srgbClr val="14243D"/>
                </a:solidFill>
                <a:latin typeface="Arial"/>
                <a:ea typeface="Arial"/>
                <a:cs typeface="Arial"/>
              </a:defRPr>
            </a:pPr>
            <a:r>
              <a:rPr sz="1575" b="1" i="0">
                <a:solidFill>
                  <a:srgbClr val="14243D"/>
                </a:solidFill>
                <a:latin typeface="Arial"/>
                <a:ea typeface="Arial"/>
                <a:cs typeface="Arial"/>
              </a:rPr>
              <a:t>Filtrar un borough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5AA385A-4C88-420B-ABD2-6F69FE05B6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7050" y="2990850"/>
            <a:ext cx="39814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200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defPPr>
            <a:lvl1pPr algn="l">
              <a:defRPr sz="1200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lvl1pPr>
            <a:lvl2pPr algn="l">
              <a:defRPr sz="1200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lvl2pPr>
            <a:lvl3pPr algn="l">
              <a:defRPr sz="1200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lvl3pPr>
            <a:lvl4pPr algn="l">
              <a:defRPr sz="1200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lvl4pPr>
            <a:lvl5pPr algn="l">
              <a:defRPr sz="1200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lvl5pPr>
            <a:lvl6pPr algn="l">
              <a:defRPr sz="1200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lvl6pPr>
            <a:lvl7pPr algn="l">
              <a:defRPr sz="1200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lvl7pPr>
            <a:lvl8pPr algn="l">
              <a:defRPr sz="1200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lvl8pPr>
            <a:lvl9pPr algn="l">
              <a:defRPr sz="1200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1200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1200" b="0" i="0">
                <a:solidFill>
                  <a:srgbClr val="667085"/>
                </a:solidFill>
                <a:latin typeface="Arial"/>
                <a:ea typeface="Arial"/>
                <a:cs typeface="Arial"/>
              </a:rPr>
              <a:t>Leer volumen y mediana observada con el filtro aplicado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4EA7313-AF95-4E7B-8042-73955F5A5B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1775" y="3524250"/>
            <a:ext cx="4000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D9DEE8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78B7070-FC52-434A-A3E5-305AB181A2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3771900"/>
            <a:ext cx="4000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00" b="1" i="0">
                <a:solidFill>
                  <a:srgbClr val="6D4AFF"/>
                </a:solidFill>
                <a:latin typeface="Arial"/>
                <a:ea typeface="Arial"/>
                <a:cs typeface="Arial"/>
              </a:defRPr>
            </a:defPPr>
            <a:lvl1pPr algn="l">
              <a:defRPr sz="2100" b="1" i="0">
                <a:solidFill>
                  <a:srgbClr val="6D4AFF"/>
                </a:solidFill>
                <a:latin typeface="Arial"/>
                <a:ea typeface="Arial"/>
                <a:cs typeface="Arial"/>
              </a:defRPr>
            </a:lvl1pPr>
            <a:lvl2pPr algn="l">
              <a:defRPr sz="2100" b="1" i="0">
                <a:solidFill>
                  <a:srgbClr val="6D4AFF"/>
                </a:solidFill>
                <a:latin typeface="Arial"/>
                <a:ea typeface="Arial"/>
                <a:cs typeface="Arial"/>
              </a:defRPr>
            </a:lvl2pPr>
            <a:lvl3pPr algn="l">
              <a:defRPr sz="2100" b="1" i="0">
                <a:solidFill>
                  <a:srgbClr val="6D4AFF"/>
                </a:solidFill>
                <a:latin typeface="Arial"/>
                <a:ea typeface="Arial"/>
                <a:cs typeface="Arial"/>
              </a:defRPr>
            </a:lvl3pPr>
            <a:lvl4pPr algn="l">
              <a:defRPr sz="2100" b="1" i="0">
                <a:solidFill>
                  <a:srgbClr val="6D4AFF"/>
                </a:solidFill>
                <a:latin typeface="Arial"/>
                <a:ea typeface="Arial"/>
                <a:cs typeface="Arial"/>
              </a:defRPr>
            </a:lvl4pPr>
            <a:lvl5pPr algn="l">
              <a:defRPr sz="2100" b="1" i="0">
                <a:solidFill>
                  <a:srgbClr val="6D4AFF"/>
                </a:solidFill>
                <a:latin typeface="Arial"/>
                <a:ea typeface="Arial"/>
                <a:cs typeface="Arial"/>
              </a:defRPr>
            </a:lvl5pPr>
            <a:lvl6pPr algn="l">
              <a:defRPr sz="2100" b="1" i="0">
                <a:solidFill>
                  <a:srgbClr val="6D4AFF"/>
                </a:solidFill>
                <a:latin typeface="Arial"/>
                <a:ea typeface="Arial"/>
                <a:cs typeface="Arial"/>
              </a:defRPr>
            </a:lvl6pPr>
            <a:lvl7pPr algn="l">
              <a:defRPr sz="2100" b="1" i="0">
                <a:solidFill>
                  <a:srgbClr val="6D4AFF"/>
                </a:solidFill>
                <a:latin typeface="Arial"/>
                <a:ea typeface="Arial"/>
                <a:cs typeface="Arial"/>
              </a:defRPr>
            </a:lvl7pPr>
            <a:lvl8pPr algn="l">
              <a:defRPr sz="2100" b="1" i="0">
                <a:solidFill>
                  <a:srgbClr val="6D4AFF"/>
                </a:solidFill>
                <a:latin typeface="Arial"/>
                <a:ea typeface="Arial"/>
                <a:cs typeface="Arial"/>
              </a:defRPr>
            </a:lvl8pPr>
            <a:lvl9pPr algn="l">
              <a:defRPr sz="2100" b="1" i="0">
                <a:solidFill>
                  <a:srgbClr val="6D4A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2100" b="1" i="0">
                <a:solidFill>
                  <a:srgbClr val="6D4AFF"/>
                </a:solidFill>
                <a:latin typeface="Arial"/>
                <a:ea typeface="Arial"/>
                <a:cs typeface="Arial"/>
              </a:defRPr>
            </a:pPr>
            <a:r>
              <a:rPr sz="2100" b="1" i="0">
                <a:solidFill>
                  <a:srgbClr val="6D4AFF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F51968B-8B8C-4291-B3C0-64681F055E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7050" y="3771900"/>
            <a:ext cx="39814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75" b="1" i="0">
                <a:solidFill>
                  <a:srgbClr val="14243D"/>
                </a:solidFill>
                <a:latin typeface="Arial"/>
                <a:ea typeface="Arial"/>
                <a:cs typeface="Arial"/>
              </a:defRPr>
            </a:defPPr>
            <a:lvl1pPr algn="l">
              <a:defRPr sz="1575" b="1" i="0">
                <a:solidFill>
                  <a:srgbClr val="14243D"/>
                </a:solidFill>
                <a:latin typeface="Arial"/>
                <a:ea typeface="Arial"/>
                <a:cs typeface="Arial"/>
              </a:defRPr>
            </a:lvl1pPr>
            <a:lvl2pPr algn="l">
              <a:defRPr sz="1575" b="1" i="0">
                <a:solidFill>
                  <a:srgbClr val="14243D"/>
                </a:solidFill>
                <a:latin typeface="Arial"/>
                <a:ea typeface="Arial"/>
                <a:cs typeface="Arial"/>
              </a:defRPr>
            </a:lvl2pPr>
            <a:lvl3pPr algn="l">
              <a:defRPr sz="1575" b="1" i="0">
                <a:solidFill>
                  <a:srgbClr val="14243D"/>
                </a:solidFill>
                <a:latin typeface="Arial"/>
                <a:ea typeface="Arial"/>
                <a:cs typeface="Arial"/>
              </a:defRPr>
            </a:lvl3pPr>
            <a:lvl4pPr algn="l">
              <a:defRPr sz="1575" b="1" i="0">
                <a:solidFill>
                  <a:srgbClr val="14243D"/>
                </a:solidFill>
                <a:latin typeface="Arial"/>
                <a:ea typeface="Arial"/>
                <a:cs typeface="Arial"/>
              </a:defRPr>
            </a:lvl4pPr>
            <a:lvl5pPr algn="l">
              <a:defRPr sz="1575" b="1" i="0">
                <a:solidFill>
                  <a:srgbClr val="14243D"/>
                </a:solidFill>
                <a:latin typeface="Arial"/>
                <a:ea typeface="Arial"/>
                <a:cs typeface="Arial"/>
              </a:defRPr>
            </a:lvl5pPr>
            <a:lvl6pPr algn="l">
              <a:defRPr sz="1575" b="1" i="0">
                <a:solidFill>
                  <a:srgbClr val="14243D"/>
                </a:solidFill>
                <a:latin typeface="Arial"/>
                <a:ea typeface="Arial"/>
                <a:cs typeface="Arial"/>
              </a:defRPr>
            </a:lvl6pPr>
            <a:lvl7pPr algn="l">
              <a:defRPr sz="1575" b="1" i="0">
                <a:solidFill>
                  <a:srgbClr val="14243D"/>
                </a:solidFill>
                <a:latin typeface="Arial"/>
                <a:ea typeface="Arial"/>
                <a:cs typeface="Arial"/>
              </a:defRPr>
            </a:lvl7pPr>
            <a:lvl8pPr algn="l">
              <a:defRPr sz="1575" b="1" i="0">
                <a:solidFill>
                  <a:srgbClr val="14243D"/>
                </a:solidFill>
                <a:latin typeface="Arial"/>
                <a:ea typeface="Arial"/>
                <a:cs typeface="Arial"/>
              </a:defRPr>
            </a:lvl8pPr>
            <a:lvl9pPr algn="l">
              <a:defRPr sz="1575" b="1" i="0">
                <a:solidFill>
                  <a:srgbClr val="14243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1575" b="1" i="0">
                <a:solidFill>
                  <a:srgbClr val="14243D"/>
                </a:solidFill>
                <a:latin typeface="Arial"/>
                <a:ea typeface="Arial"/>
                <a:cs typeface="Arial"/>
              </a:defRPr>
            </a:pPr>
            <a:r>
              <a:rPr sz="1575" b="1" i="0">
                <a:solidFill>
                  <a:srgbClr val="14243D"/>
                </a:solidFill>
                <a:latin typeface="Arial"/>
                <a:ea typeface="Arial"/>
                <a:cs typeface="Arial"/>
              </a:rPr>
              <a:t>Aislar sin perfil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87A230D-C714-41B7-A536-7DA2369234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7050" y="4076700"/>
            <a:ext cx="39814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200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defPPr>
            <a:lvl1pPr algn="l">
              <a:defRPr sz="1200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lvl1pPr>
            <a:lvl2pPr algn="l">
              <a:defRPr sz="1200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lvl2pPr>
            <a:lvl3pPr algn="l">
              <a:defRPr sz="1200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lvl3pPr>
            <a:lvl4pPr algn="l">
              <a:defRPr sz="1200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lvl4pPr>
            <a:lvl5pPr algn="l">
              <a:defRPr sz="1200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lvl5pPr>
            <a:lvl6pPr algn="l">
              <a:defRPr sz="1200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lvl6pPr>
            <a:lvl7pPr algn="l">
              <a:defRPr sz="1200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lvl7pPr>
            <a:lvl8pPr algn="l">
              <a:defRPr sz="1200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lvl8pPr>
            <a:lvl9pPr algn="l">
              <a:defRPr sz="1200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1200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1200" b="0" i="0">
                <a:solidFill>
                  <a:srgbClr val="667085"/>
                </a:solidFill>
                <a:latin typeface="Arial"/>
                <a:ea typeface="Arial"/>
                <a:cs typeface="Arial"/>
              </a:rPr>
              <a:t>14,310 solicitudes · la cuadratura se conserva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30B931D-0406-4952-A87D-BA5F8C25DB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1775" y="4610100"/>
            <a:ext cx="4000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D9DEE8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10B72CC-C756-40C3-94B3-2E77C270E4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857750"/>
            <a:ext cx="4000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00" b="1" i="0">
                <a:solidFill>
                  <a:srgbClr val="2463EB"/>
                </a:solidFill>
                <a:latin typeface="Arial"/>
                <a:ea typeface="Arial"/>
                <a:cs typeface="Arial"/>
              </a:defRPr>
            </a:defPPr>
            <a:lvl1pPr algn="l">
              <a:defRPr sz="2100" b="1" i="0">
                <a:solidFill>
                  <a:srgbClr val="2463EB"/>
                </a:solidFill>
                <a:latin typeface="Arial"/>
                <a:ea typeface="Arial"/>
                <a:cs typeface="Arial"/>
              </a:defRPr>
            </a:lvl1pPr>
            <a:lvl2pPr algn="l">
              <a:defRPr sz="2100" b="1" i="0">
                <a:solidFill>
                  <a:srgbClr val="2463EB"/>
                </a:solidFill>
                <a:latin typeface="Arial"/>
                <a:ea typeface="Arial"/>
                <a:cs typeface="Arial"/>
              </a:defRPr>
            </a:lvl2pPr>
            <a:lvl3pPr algn="l">
              <a:defRPr sz="2100" b="1" i="0">
                <a:solidFill>
                  <a:srgbClr val="2463EB"/>
                </a:solidFill>
                <a:latin typeface="Arial"/>
                <a:ea typeface="Arial"/>
                <a:cs typeface="Arial"/>
              </a:defRPr>
            </a:lvl3pPr>
            <a:lvl4pPr algn="l">
              <a:defRPr sz="2100" b="1" i="0">
                <a:solidFill>
                  <a:srgbClr val="2463EB"/>
                </a:solidFill>
                <a:latin typeface="Arial"/>
                <a:ea typeface="Arial"/>
                <a:cs typeface="Arial"/>
              </a:defRPr>
            </a:lvl4pPr>
            <a:lvl5pPr algn="l">
              <a:defRPr sz="2100" b="1" i="0">
                <a:solidFill>
                  <a:srgbClr val="2463EB"/>
                </a:solidFill>
                <a:latin typeface="Arial"/>
                <a:ea typeface="Arial"/>
                <a:cs typeface="Arial"/>
              </a:defRPr>
            </a:lvl5pPr>
            <a:lvl6pPr algn="l">
              <a:defRPr sz="2100" b="1" i="0">
                <a:solidFill>
                  <a:srgbClr val="2463EB"/>
                </a:solidFill>
                <a:latin typeface="Arial"/>
                <a:ea typeface="Arial"/>
                <a:cs typeface="Arial"/>
              </a:defRPr>
            </a:lvl6pPr>
            <a:lvl7pPr algn="l">
              <a:defRPr sz="2100" b="1" i="0">
                <a:solidFill>
                  <a:srgbClr val="2463EB"/>
                </a:solidFill>
                <a:latin typeface="Arial"/>
                <a:ea typeface="Arial"/>
                <a:cs typeface="Arial"/>
              </a:defRPr>
            </a:lvl7pPr>
            <a:lvl8pPr algn="l">
              <a:defRPr sz="2100" b="1" i="0">
                <a:solidFill>
                  <a:srgbClr val="2463EB"/>
                </a:solidFill>
                <a:latin typeface="Arial"/>
                <a:ea typeface="Arial"/>
                <a:cs typeface="Arial"/>
              </a:defRPr>
            </a:lvl8pPr>
            <a:lvl9pPr algn="l">
              <a:defRPr sz="2100" b="1" i="0">
                <a:solidFill>
                  <a:srgbClr val="2463E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2100" b="1" i="0">
                <a:solidFill>
                  <a:srgbClr val="2463EB"/>
                </a:solidFill>
                <a:latin typeface="Arial"/>
                <a:ea typeface="Arial"/>
                <a:cs typeface="Arial"/>
              </a:defRPr>
            </a:pPr>
            <a:r>
              <a:rPr sz="2100" b="1" i="0">
                <a:solidFill>
                  <a:srgbClr val="2463EB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A9B89C4-E051-4EDF-81C4-76D874543F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7050" y="4857750"/>
            <a:ext cx="39814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75" b="1" i="0">
                <a:solidFill>
                  <a:srgbClr val="14243D"/>
                </a:solidFill>
                <a:latin typeface="Arial"/>
                <a:ea typeface="Arial"/>
                <a:cs typeface="Arial"/>
              </a:defRPr>
            </a:defPPr>
            <a:lvl1pPr algn="l">
              <a:defRPr sz="1575" b="1" i="0">
                <a:solidFill>
                  <a:srgbClr val="14243D"/>
                </a:solidFill>
                <a:latin typeface="Arial"/>
                <a:ea typeface="Arial"/>
                <a:cs typeface="Arial"/>
              </a:defRPr>
            </a:lvl1pPr>
            <a:lvl2pPr algn="l">
              <a:defRPr sz="1575" b="1" i="0">
                <a:solidFill>
                  <a:srgbClr val="14243D"/>
                </a:solidFill>
                <a:latin typeface="Arial"/>
                <a:ea typeface="Arial"/>
                <a:cs typeface="Arial"/>
              </a:defRPr>
            </a:lvl2pPr>
            <a:lvl3pPr algn="l">
              <a:defRPr sz="1575" b="1" i="0">
                <a:solidFill>
                  <a:srgbClr val="14243D"/>
                </a:solidFill>
                <a:latin typeface="Arial"/>
                <a:ea typeface="Arial"/>
                <a:cs typeface="Arial"/>
              </a:defRPr>
            </a:lvl3pPr>
            <a:lvl4pPr algn="l">
              <a:defRPr sz="1575" b="1" i="0">
                <a:solidFill>
                  <a:srgbClr val="14243D"/>
                </a:solidFill>
                <a:latin typeface="Arial"/>
                <a:ea typeface="Arial"/>
                <a:cs typeface="Arial"/>
              </a:defRPr>
            </a:lvl4pPr>
            <a:lvl5pPr algn="l">
              <a:defRPr sz="1575" b="1" i="0">
                <a:solidFill>
                  <a:srgbClr val="14243D"/>
                </a:solidFill>
                <a:latin typeface="Arial"/>
                <a:ea typeface="Arial"/>
                <a:cs typeface="Arial"/>
              </a:defRPr>
            </a:lvl5pPr>
            <a:lvl6pPr algn="l">
              <a:defRPr sz="1575" b="1" i="0">
                <a:solidFill>
                  <a:srgbClr val="14243D"/>
                </a:solidFill>
                <a:latin typeface="Arial"/>
                <a:ea typeface="Arial"/>
                <a:cs typeface="Arial"/>
              </a:defRPr>
            </a:lvl6pPr>
            <a:lvl7pPr algn="l">
              <a:defRPr sz="1575" b="1" i="0">
                <a:solidFill>
                  <a:srgbClr val="14243D"/>
                </a:solidFill>
                <a:latin typeface="Arial"/>
                <a:ea typeface="Arial"/>
                <a:cs typeface="Arial"/>
              </a:defRPr>
            </a:lvl7pPr>
            <a:lvl8pPr algn="l">
              <a:defRPr sz="1575" b="1" i="0">
                <a:solidFill>
                  <a:srgbClr val="14243D"/>
                </a:solidFill>
                <a:latin typeface="Arial"/>
                <a:ea typeface="Arial"/>
                <a:cs typeface="Arial"/>
              </a:defRPr>
            </a:lvl8pPr>
            <a:lvl9pPr algn="l">
              <a:defRPr sz="1575" b="1" i="0">
                <a:solidFill>
                  <a:srgbClr val="14243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1575" b="1" i="0">
                <a:solidFill>
                  <a:srgbClr val="14243D"/>
                </a:solidFill>
                <a:latin typeface="Arial"/>
                <a:ea typeface="Arial"/>
                <a:cs typeface="Arial"/>
              </a:defRPr>
            </a:pPr>
            <a:r>
              <a:rPr sz="1575" b="1" i="0">
                <a:solidFill>
                  <a:srgbClr val="14243D"/>
                </a:solidFill>
                <a:latin typeface="Arial"/>
                <a:ea typeface="Arial"/>
                <a:cs typeface="Arial"/>
              </a:rPr>
              <a:t>Volver al universo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577FBEC-735C-479B-B107-F299456E6F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7050" y="5162550"/>
            <a:ext cx="39814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200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defPPr>
            <a:lvl1pPr algn="l">
              <a:defRPr sz="1200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lvl1pPr>
            <a:lvl2pPr algn="l">
              <a:defRPr sz="1200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lvl2pPr>
            <a:lvl3pPr algn="l">
              <a:defRPr sz="1200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lvl3pPr>
            <a:lvl4pPr algn="l">
              <a:defRPr sz="1200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lvl4pPr>
            <a:lvl5pPr algn="l">
              <a:defRPr sz="1200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lvl5pPr>
            <a:lvl6pPr algn="l">
              <a:defRPr sz="1200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lvl6pPr>
            <a:lvl7pPr algn="l">
              <a:defRPr sz="1200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lvl7pPr>
            <a:lvl8pPr algn="l">
              <a:defRPr sz="1200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lvl8pPr>
            <a:lvl9pPr algn="l">
              <a:defRPr sz="1200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1200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1200" b="0" i="0">
                <a:solidFill>
                  <a:srgbClr val="667085"/>
                </a:solidFill>
                <a:latin typeface="Arial"/>
                <a:ea typeface="Arial"/>
                <a:cs typeface="Arial"/>
              </a:rPr>
              <a:t>1,312,465 solicitudes · P75 histórico 4,329 min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6D4EDD4-BDC2-4076-9429-48A5CB761D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10972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900" b="0" i="0">
                <a:solidFill>
                  <a:srgbClr val="98A2B3"/>
                </a:solidFill>
                <a:latin typeface="Arial"/>
                <a:ea typeface="Arial"/>
                <a:cs typeface="Arial"/>
              </a:defRPr>
            </a:defPPr>
            <a:lvl1pPr algn="l">
              <a:defRPr sz="900" b="0" i="0">
                <a:solidFill>
                  <a:srgbClr val="98A2B3"/>
                </a:solidFill>
                <a:latin typeface="Arial"/>
                <a:ea typeface="Arial"/>
                <a:cs typeface="Arial"/>
              </a:defRPr>
            </a:lvl1pPr>
            <a:lvl2pPr algn="l">
              <a:defRPr sz="900" b="0" i="0">
                <a:solidFill>
                  <a:srgbClr val="98A2B3"/>
                </a:solidFill>
                <a:latin typeface="Arial"/>
                <a:ea typeface="Arial"/>
                <a:cs typeface="Arial"/>
              </a:defRPr>
            </a:lvl2pPr>
            <a:lvl3pPr algn="l">
              <a:defRPr sz="900" b="0" i="0">
                <a:solidFill>
                  <a:srgbClr val="98A2B3"/>
                </a:solidFill>
                <a:latin typeface="Arial"/>
                <a:ea typeface="Arial"/>
                <a:cs typeface="Arial"/>
              </a:defRPr>
            </a:lvl3pPr>
            <a:lvl4pPr algn="l">
              <a:defRPr sz="900" b="0" i="0">
                <a:solidFill>
                  <a:srgbClr val="98A2B3"/>
                </a:solidFill>
                <a:latin typeface="Arial"/>
                <a:ea typeface="Arial"/>
                <a:cs typeface="Arial"/>
              </a:defRPr>
            </a:lvl4pPr>
            <a:lvl5pPr algn="l">
              <a:defRPr sz="900" b="0" i="0">
                <a:solidFill>
                  <a:srgbClr val="98A2B3"/>
                </a:solidFill>
                <a:latin typeface="Arial"/>
                <a:ea typeface="Arial"/>
                <a:cs typeface="Arial"/>
              </a:defRPr>
            </a:lvl5pPr>
            <a:lvl6pPr algn="l">
              <a:defRPr sz="900" b="0" i="0">
                <a:solidFill>
                  <a:srgbClr val="98A2B3"/>
                </a:solidFill>
                <a:latin typeface="Arial"/>
                <a:ea typeface="Arial"/>
                <a:cs typeface="Arial"/>
              </a:defRPr>
            </a:lvl6pPr>
            <a:lvl7pPr algn="l">
              <a:defRPr sz="900" b="0" i="0">
                <a:solidFill>
                  <a:srgbClr val="98A2B3"/>
                </a:solidFill>
                <a:latin typeface="Arial"/>
                <a:ea typeface="Arial"/>
                <a:cs typeface="Arial"/>
              </a:defRPr>
            </a:lvl7pPr>
            <a:lvl8pPr algn="l">
              <a:defRPr sz="900" b="0" i="0">
                <a:solidFill>
                  <a:srgbClr val="98A2B3"/>
                </a:solidFill>
                <a:latin typeface="Arial"/>
                <a:ea typeface="Arial"/>
                <a:cs typeface="Arial"/>
              </a:defRPr>
            </a:lvl8pPr>
            <a:lvl9pPr algn="l">
              <a:defRPr sz="900" b="0" i="0">
                <a:solidFill>
                  <a:srgbClr val="98A2B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900" b="0" i="0">
                <a:solidFill>
                  <a:srgbClr val="98A2B3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98A2B3"/>
                </a:solidFill>
                <a:latin typeface="Arial"/>
                <a:ea typeface="Arial"/>
                <a:cs typeface="Arial"/>
              </a:rPr>
              <a:t>Fuentes: validación del modelo BI y guion de defensa. Marco ético: Ley de Protección de Datos Personales (2024).</a:t>
            </a:r>
          </a:p>
        </p:txBody>
      </p:sp>
    </p:spTree>
    <p:extLst>
      <p:ext uri="{BB962C8B-B14F-4D97-AF65-F5344CB8AC3E}">
        <p14:creationId xmlns:p14="http://schemas.microsoft.com/office/powerpoint/2010/main" val="248611040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7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3D127B8-942C-4876-8A78-7DA1D1EF88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2667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975" b="1" i="0">
                <a:solidFill>
                  <a:srgbClr val="2463EB"/>
                </a:solidFill>
                <a:latin typeface="Arial"/>
                <a:ea typeface="Arial"/>
                <a:cs typeface="Arial"/>
              </a:defRPr>
            </a:defPPr>
            <a:lvl1pPr algn="l">
              <a:defRPr sz="975" b="1" i="0">
                <a:solidFill>
                  <a:srgbClr val="2463EB"/>
                </a:solidFill>
                <a:latin typeface="Arial"/>
                <a:ea typeface="Arial"/>
                <a:cs typeface="Arial"/>
              </a:defRPr>
            </a:lvl1pPr>
            <a:lvl2pPr algn="l">
              <a:defRPr sz="975" b="1" i="0">
                <a:solidFill>
                  <a:srgbClr val="2463EB"/>
                </a:solidFill>
                <a:latin typeface="Arial"/>
                <a:ea typeface="Arial"/>
                <a:cs typeface="Arial"/>
              </a:defRPr>
            </a:lvl2pPr>
            <a:lvl3pPr algn="l">
              <a:defRPr sz="975" b="1" i="0">
                <a:solidFill>
                  <a:srgbClr val="2463EB"/>
                </a:solidFill>
                <a:latin typeface="Arial"/>
                <a:ea typeface="Arial"/>
                <a:cs typeface="Arial"/>
              </a:defRPr>
            </a:lvl3pPr>
            <a:lvl4pPr algn="l">
              <a:defRPr sz="975" b="1" i="0">
                <a:solidFill>
                  <a:srgbClr val="2463EB"/>
                </a:solidFill>
                <a:latin typeface="Arial"/>
                <a:ea typeface="Arial"/>
                <a:cs typeface="Arial"/>
              </a:defRPr>
            </a:lvl4pPr>
            <a:lvl5pPr algn="l">
              <a:defRPr sz="975" b="1" i="0">
                <a:solidFill>
                  <a:srgbClr val="2463EB"/>
                </a:solidFill>
                <a:latin typeface="Arial"/>
                <a:ea typeface="Arial"/>
                <a:cs typeface="Arial"/>
              </a:defRPr>
            </a:lvl5pPr>
            <a:lvl6pPr algn="l">
              <a:defRPr sz="975" b="1" i="0">
                <a:solidFill>
                  <a:srgbClr val="2463EB"/>
                </a:solidFill>
                <a:latin typeface="Arial"/>
                <a:ea typeface="Arial"/>
                <a:cs typeface="Arial"/>
              </a:defRPr>
            </a:lvl6pPr>
            <a:lvl7pPr algn="l">
              <a:defRPr sz="975" b="1" i="0">
                <a:solidFill>
                  <a:srgbClr val="2463EB"/>
                </a:solidFill>
                <a:latin typeface="Arial"/>
                <a:ea typeface="Arial"/>
                <a:cs typeface="Arial"/>
              </a:defRPr>
            </a:lvl7pPr>
            <a:lvl8pPr algn="l">
              <a:defRPr sz="975" b="1" i="0">
                <a:solidFill>
                  <a:srgbClr val="2463EB"/>
                </a:solidFill>
                <a:latin typeface="Arial"/>
                <a:ea typeface="Arial"/>
                <a:cs typeface="Arial"/>
              </a:defRPr>
            </a:lvl8pPr>
            <a:lvl9pPr algn="l">
              <a:defRPr sz="975" b="1" i="0">
                <a:solidFill>
                  <a:srgbClr val="2463E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975" b="1" i="0">
                <a:solidFill>
                  <a:srgbClr val="2463EB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2463EB"/>
                </a:solidFill>
                <a:latin typeface="Arial"/>
                <a:ea typeface="Arial"/>
                <a:cs typeface="Arial"/>
              </a:rPr>
              <a:t>NYC311 / FASE 3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420AE45-A70A-41F2-B3EB-96132E0A75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44200" y="285750"/>
            <a:ext cx="8382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975" b="1" i="0">
                <a:solidFill>
                  <a:srgbClr val="98A2B3"/>
                </a:solidFill>
                <a:latin typeface="Arial"/>
                <a:ea typeface="Arial"/>
                <a:cs typeface="Arial"/>
              </a:defRPr>
            </a:defPPr>
            <a:lvl1pPr algn="r">
              <a:defRPr sz="975" b="1" i="0">
                <a:solidFill>
                  <a:srgbClr val="98A2B3"/>
                </a:solidFill>
                <a:latin typeface="Arial"/>
                <a:ea typeface="Arial"/>
                <a:cs typeface="Arial"/>
              </a:defRPr>
            </a:lvl1pPr>
            <a:lvl2pPr algn="r">
              <a:defRPr sz="975" b="1" i="0">
                <a:solidFill>
                  <a:srgbClr val="98A2B3"/>
                </a:solidFill>
                <a:latin typeface="Arial"/>
                <a:ea typeface="Arial"/>
                <a:cs typeface="Arial"/>
              </a:defRPr>
            </a:lvl2pPr>
            <a:lvl3pPr algn="r">
              <a:defRPr sz="975" b="1" i="0">
                <a:solidFill>
                  <a:srgbClr val="98A2B3"/>
                </a:solidFill>
                <a:latin typeface="Arial"/>
                <a:ea typeface="Arial"/>
                <a:cs typeface="Arial"/>
              </a:defRPr>
            </a:lvl3pPr>
            <a:lvl4pPr algn="r">
              <a:defRPr sz="975" b="1" i="0">
                <a:solidFill>
                  <a:srgbClr val="98A2B3"/>
                </a:solidFill>
                <a:latin typeface="Arial"/>
                <a:ea typeface="Arial"/>
                <a:cs typeface="Arial"/>
              </a:defRPr>
            </a:lvl4pPr>
            <a:lvl5pPr algn="r">
              <a:defRPr sz="975" b="1" i="0">
                <a:solidFill>
                  <a:srgbClr val="98A2B3"/>
                </a:solidFill>
                <a:latin typeface="Arial"/>
                <a:ea typeface="Arial"/>
                <a:cs typeface="Arial"/>
              </a:defRPr>
            </a:lvl5pPr>
            <a:lvl6pPr algn="r">
              <a:defRPr sz="975" b="1" i="0">
                <a:solidFill>
                  <a:srgbClr val="98A2B3"/>
                </a:solidFill>
                <a:latin typeface="Arial"/>
                <a:ea typeface="Arial"/>
                <a:cs typeface="Arial"/>
              </a:defRPr>
            </a:lvl6pPr>
            <a:lvl7pPr algn="r">
              <a:defRPr sz="975" b="1" i="0">
                <a:solidFill>
                  <a:srgbClr val="98A2B3"/>
                </a:solidFill>
                <a:latin typeface="Arial"/>
                <a:ea typeface="Arial"/>
                <a:cs typeface="Arial"/>
              </a:defRPr>
            </a:lvl7pPr>
            <a:lvl8pPr algn="r">
              <a:defRPr sz="975" b="1" i="0">
                <a:solidFill>
                  <a:srgbClr val="98A2B3"/>
                </a:solidFill>
                <a:latin typeface="Arial"/>
                <a:ea typeface="Arial"/>
                <a:cs typeface="Arial"/>
              </a:defRPr>
            </a:lvl8pPr>
            <a:lvl9pPr algn="r">
              <a:defRPr sz="975" b="1" i="0">
                <a:solidFill>
                  <a:srgbClr val="98A2B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r">
              <a:lnSpc>
                <a:spcPct val="105000"/>
              </a:lnSpc>
              <a:buNone/>
              <a:defRPr sz="975" b="1" i="0">
                <a:solidFill>
                  <a:srgbClr val="98A2B3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98A2B3"/>
                </a:solidFill>
                <a:latin typeface="Arial"/>
                <a:ea typeface="Arial"/>
                <a:cs typeface="Arial"/>
              </a:rPr>
              <a:t>13 / 13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DC9970B-BC4D-4C36-B0C9-AD18B450F0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"/>
            <a:ext cx="9906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2850" b="1" i="0">
                <a:solidFill>
                  <a:srgbClr val="14243D"/>
                </a:solidFill>
                <a:latin typeface="Arial"/>
                <a:ea typeface="Arial"/>
                <a:cs typeface="Arial"/>
              </a:defRPr>
            </a:defPPr>
            <a:lvl1pPr algn="l">
              <a:defRPr sz="2850" b="1" i="0">
                <a:solidFill>
                  <a:srgbClr val="14243D"/>
                </a:solidFill>
                <a:latin typeface="Arial"/>
                <a:ea typeface="Arial"/>
                <a:cs typeface="Arial"/>
              </a:defRPr>
            </a:lvl1pPr>
            <a:lvl2pPr algn="l">
              <a:defRPr sz="2850" b="1" i="0">
                <a:solidFill>
                  <a:srgbClr val="14243D"/>
                </a:solidFill>
                <a:latin typeface="Arial"/>
                <a:ea typeface="Arial"/>
                <a:cs typeface="Arial"/>
              </a:defRPr>
            </a:lvl2pPr>
            <a:lvl3pPr algn="l">
              <a:defRPr sz="2850" b="1" i="0">
                <a:solidFill>
                  <a:srgbClr val="14243D"/>
                </a:solidFill>
                <a:latin typeface="Arial"/>
                <a:ea typeface="Arial"/>
                <a:cs typeface="Arial"/>
              </a:defRPr>
            </a:lvl3pPr>
            <a:lvl4pPr algn="l">
              <a:defRPr sz="2850" b="1" i="0">
                <a:solidFill>
                  <a:srgbClr val="14243D"/>
                </a:solidFill>
                <a:latin typeface="Arial"/>
                <a:ea typeface="Arial"/>
                <a:cs typeface="Arial"/>
              </a:defRPr>
            </a:lvl4pPr>
            <a:lvl5pPr algn="l">
              <a:defRPr sz="2850" b="1" i="0">
                <a:solidFill>
                  <a:srgbClr val="14243D"/>
                </a:solidFill>
                <a:latin typeface="Arial"/>
                <a:ea typeface="Arial"/>
                <a:cs typeface="Arial"/>
              </a:defRPr>
            </a:lvl5pPr>
            <a:lvl6pPr algn="l">
              <a:defRPr sz="2850" b="1" i="0">
                <a:solidFill>
                  <a:srgbClr val="14243D"/>
                </a:solidFill>
                <a:latin typeface="Arial"/>
                <a:ea typeface="Arial"/>
                <a:cs typeface="Arial"/>
              </a:defRPr>
            </a:lvl6pPr>
            <a:lvl7pPr algn="l">
              <a:defRPr sz="2850" b="1" i="0">
                <a:solidFill>
                  <a:srgbClr val="14243D"/>
                </a:solidFill>
                <a:latin typeface="Arial"/>
                <a:ea typeface="Arial"/>
                <a:cs typeface="Arial"/>
              </a:defRPr>
            </a:lvl7pPr>
            <a:lvl8pPr algn="l">
              <a:defRPr sz="2850" b="1" i="0">
                <a:solidFill>
                  <a:srgbClr val="14243D"/>
                </a:solidFill>
                <a:latin typeface="Arial"/>
                <a:ea typeface="Arial"/>
                <a:cs typeface="Arial"/>
              </a:defRPr>
            </a:lvl8pPr>
            <a:lvl9pPr algn="l">
              <a:defRPr sz="2850" b="1" i="0">
                <a:solidFill>
                  <a:srgbClr val="14243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lnSpc>
                <a:spcPct val="95000"/>
              </a:lnSpc>
              <a:buNone/>
              <a:defRPr sz="2850" b="1" i="0">
                <a:solidFill>
                  <a:srgbClr val="14243D"/>
                </a:solidFill>
                <a:latin typeface="Arial"/>
                <a:ea typeface="Arial"/>
                <a:cs typeface="Arial"/>
              </a:defRPr>
            </a:pPr>
            <a:r>
              <a:rPr sz="2850" b="1" i="0">
                <a:solidFill>
                  <a:srgbClr val="14243D"/>
                </a:solidFill>
                <a:latin typeface="Arial"/>
                <a:ea typeface="Arial"/>
                <a:cs typeface="Arial"/>
              </a:rPr>
              <a:t>Marco teórico y referencias académicas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455B9BD-FF3E-4F1F-B952-BDFA710608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95400"/>
            <a:ext cx="9906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350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defPPr>
            <a:lvl1pPr algn="l">
              <a:defRPr sz="1350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lvl1pPr>
            <a:lvl2pPr algn="l">
              <a:defRPr sz="1350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lvl2pPr>
            <a:lvl3pPr algn="l">
              <a:defRPr sz="1350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lvl3pPr>
            <a:lvl4pPr algn="l">
              <a:defRPr sz="1350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lvl4pPr>
            <a:lvl5pPr algn="l">
              <a:defRPr sz="1350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lvl5pPr>
            <a:lvl6pPr algn="l">
              <a:defRPr sz="1350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lvl6pPr>
            <a:lvl7pPr algn="l">
              <a:defRPr sz="1350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lvl7pPr>
            <a:lvl8pPr algn="l">
              <a:defRPr sz="1350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lvl8pPr>
            <a:lvl9pPr algn="l">
              <a:defRPr sz="1350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lnSpc>
                <a:spcPct val="100000"/>
              </a:lnSpc>
              <a:buNone/>
              <a:defRPr sz="1350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1350" b="0" i="0">
                <a:solidFill>
                  <a:srgbClr val="667085"/>
                </a:solidFill>
                <a:latin typeface="Arial"/>
                <a:ea typeface="Arial"/>
                <a:cs typeface="Arial"/>
              </a:rPr>
              <a:t>Sustentación metodológica, normativa y bibliográfica de las Fases 1, 2 y 3 (documentos de referencia).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C0FE88B-D3AB-4A9B-9E92-ED8D2F2E4F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526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DEE8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F374D06-B9EE-4A87-86CB-B6698DDAA7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43100"/>
            <a:ext cx="5295900" cy="2038350"/>
          </a:xfrm>
          <a:prstGeom xmlns:a="http://schemas.openxmlformats.org/drawingml/2006/main" prst="roundRect">
            <a:avLst>
              <a:gd name="adj" fmla="val 560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EE8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C3957FA-7942-4823-ADBE-673E3E6571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076450"/>
            <a:ext cx="48387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275" b="1" i="0">
                <a:solidFill>
                  <a:srgbClr val="14243D"/>
                </a:solidFill>
                <a:latin typeface="Arial"/>
                <a:ea typeface="Arial"/>
                <a:cs typeface="Arial"/>
              </a:defRPr>
            </a:defPPr>
            <a:lvl1pPr algn="l">
              <a:defRPr sz="1275" b="1" i="0">
                <a:solidFill>
                  <a:srgbClr val="14243D"/>
                </a:solidFill>
                <a:latin typeface="Arial"/>
                <a:ea typeface="Arial"/>
                <a:cs typeface="Arial"/>
              </a:defRPr>
            </a:lvl1pPr>
            <a:lvl2pPr algn="l">
              <a:defRPr sz="1275" b="1" i="0">
                <a:solidFill>
                  <a:srgbClr val="14243D"/>
                </a:solidFill>
                <a:latin typeface="Arial"/>
                <a:ea typeface="Arial"/>
                <a:cs typeface="Arial"/>
              </a:defRPr>
            </a:lvl2pPr>
            <a:lvl3pPr algn="l">
              <a:defRPr sz="1275" b="1" i="0">
                <a:solidFill>
                  <a:srgbClr val="14243D"/>
                </a:solidFill>
                <a:latin typeface="Arial"/>
                <a:ea typeface="Arial"/>
                <a:cs typeface="Arial"/>
              </a:defRPr>
            </a:lvl3pPr>
            <a:lvl4pPr algn="l">
              <a:defRPr sz="1275" b="1" i="0">
                <a:solidFill>
                  <a:srgbClr val="14243D"/>
                </a:solidFill>
                <a:latin typeface="Arial"/>
                <a:ea typeface="Arial"/>
                <a:cs typeface="Arial"/>
              </a:defRPr>
            </a:lvl4pPr>
            <a:lvl5pPr algn="l">
              <a:defRPr sz="1275" b="1" i="0">
                <a:solidFill>
                  <a:srgbClr val="14243D"/>
                </a:solidFill>
                <a:latin typeface="Arial"/>
                <a:ea typeface="Arial"/>
                <a:cs typeface="Arial"/>
              </a:defRPr>
            </a:lvl5pPr>
            <a:lvl6pPr algn="l">
              <a:defRPr sz="1275" b="1" i="0">
                <a:solidFill>
                  <a:srgbClr val="14243D"/>
                </a:solidFill>
                <a:latin typeface="Arial"/>
                <a:ea typeface="Arial"/>
                <a:cs typeface="Arial"/>
              </a:defRPr>
            </a:lvl6pPr>
            <a:lvl7pPr algn="l">
              <a:defRPr sz="1275" b="1" i="0">
                <a:solidFill>
                  <a:srgbClr val="14243D"/>
                </a:solidFill>
                <a:latin typeface="Arial"/>
                <a:ea typeface="Arial"/>
                <a:cs typeface="Arial"/>
              </a:defRPr>
            </a:lvl7pPr>
            <a:lvl8pPr algn="l">
              <a:defRPr sz="1275" b="1" i="0">
                <a:solidFill>
                  <a:srgbClr val="14243D"/>
                </a:solidFill>
                <a:latin typeface="Arial"/>
                <a:ea typeface="Arial"/>
                <a:cs typeface="Arial"/>
              </a:defRPr>
            </a:lvl8pPr>
            <a:lvl9pPr algn="l">
              <a:defRPr sz="1275" b="1" i="0">
                <a:solidFill>
                  <a:srgbClr val="14243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1275" b="1" i="0">
                <a:solidFill>
                  <a:srgbClr val="14243D"/>
                </a:solidFill>
                <a:latin typeface="Arial"/>
                <a:ea typeface="Arial"/>
                <a:cs typeface="Arial"/>
              </a:defRPr>
            </a:pPr>
            <a:r>
              <a:rPr sz="1275" b="1" i="0">
                <a:solidFill>
                  <a:srgbClr val="14243D"/>
                </a:solidFill>
                <a:latin typeface="Arial"/>
                <a:ea typeface="Arial"/>
                <a:cs typeface="Arial"/>
              </a:rPr>
              <a:t>Data Warehouse y Modelado Dimensional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15B9630-AB5F-4214-AF5B-01AC67F9AA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381250"/>
            <a:ext cx="4838700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088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defPPr>
            <a:lvl1pPr algn="l">
              <a:defRPr sz="1088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lvl1pPr>
            <a:lvl2pPr algn="l">
              <a:defRPr sz="1088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lvl2pPr>
            <a:lvl3pPr algn="l">
              <a:defRPr sz="1088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lvl3pPr>
            <a:lvl4pPr algn="l">
              <a:defRPr sz="1088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lvl4pPr>
            <a:lvl5pPr algn="l">
              <a:defRPr sz="1088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lvl5pPr>
            <a:lvl6pPr algn="l">
              <a:defRPr sz="1088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lvl6pPr>
            <a:lvl7pPr algn="l">
              <a:defRPr sz="1088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lvl7pPr>
            <a:lvl8pPr algn="l">
              <a:defRPr sz="1088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lvl8pPr>
            <a:lvl9pPr algn="l">
              <a:defRPr sz="1088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lnSpc>
                <a:spcPct val="115000"/>
              </a:lnSpc>
              <a:buNone/>
              <a:defRPr sz="1088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1088" b="0" i="0">
                <a:solidFill>
                  <a:srgbClr val="667085"/>
                </a:solidFill>
                <a:latin typeface="Arial"/>
                <a:ea typeface="Arial"/>
                <a:cs typeface="Arial"/>
              </a:rPr>
              <a:t>· Kimball, R., et al. (1998). The Data Warehouse Lifecycle Toolkit. Metodología de 10 etapas; hecho atómico dw.FactSolicitud y dimensiones conformadas.</a:t>
            </a:r>
          </a:p>
          <a:p xmlns:a="http://schemas.openxmlformats.org/drawingml/2006/main">
            <a:pPr algn="l">
              <a:lnSpc>
                <a:spcPct val="115000"/>
              </a:lnSpc>
              <a:buNone/>
              <a:defRPr sz="1088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1088" b="0" i="0">
                <a:solidFill>
                  <a:srgbClr val="667085"/>
                </a:solidFill>
                <a:latin typeface="Arial"/>
                <a:ea typeface="Arial"/>
                <a:cs typeface="Arial"/>
              </a:rPr>
              <a:t>· Microsoft Learn (2026). SQL Server Integration Services (SSIS). Flujos ETL y staging.</a:t>
            </a:r>
          </a:p>
          <a:p xmlns:a="http://schemas.openxmlformats.org/drawingml/2006/main">
            <a:pPr algn="l">
              <a:lnSpc>
                <a:spcPct val="115000"/>
              </a:lnSpc>
              <a:buNone/>
              <a:defRPr sz="1088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1088" b="0" i="0">
                <a:solidFill>
                  <a:srgbClr val="667085"/>
                </a:solidFill>
                <a:latin typeface="Arial"/>
                <a:ea typeface="Arial"/>
                <a:cs typeface="Arial"/>
              </a:rPr>
              <a:t>· NYC Open Data (2026). 311 Service Requests (erm2-nwe9). Fuente primaria de datos abiertos.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B4D141F-4AC7-4EE5-A6B9-EE9098E1E0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33850"/>
            <a:ext cx="5295900" cy="2038350"/>
          </a:xfrm>
          <a:prstGeom xmlns:a="http://schemas.openxmlformats.org/drawingml/2006/main" prst="roundRect">
            <a:avLst>
              <a:gd name="adj" fmla="val 560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EE8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C723A25-31DC-46F3-B7D8-44EEE0BCEC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267200"/>
            <a:ext cx="48387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275" b="1" i="0">
                <a:solidFill>
                  <a:srgbClr val="14243D"/>
                </a:solidFill>
                <a:latin typeface="Arial"/>
                <a:ea typeface="Arial"/>
                <a:cs typeface="Arial"/>
              </a:defRPr>
            </a:defPPr>
            <a:lvl1pPr algn="l">
              <a:defRPr sz="1275" b="1" i="0">
                <a:solidFill>
                  <a:srgbClr val="14243D"/>
                </a:solidFill>
                <a:latin typeface="Arial"/>
                <a:ea typeface="Arial"/>
                <a:cs typeface="Arial"/>
              </a:defRPr>
            </a:lvl1pPr>
            <a:lvl2pPr algn="l">
              <a:defRPr sz="1275" b="1" i="0">
                <a:solidFill>
                  <a:srgbClr val="14243D"/>
                </a:solidFill>
                <a:latin typeface="Arial"/>
                <a:ea typeface="Arial"/>
                <a:cs typeface="Arial"/>
              </a:defRPr>
            </a:lvl2pPr>
            <a:lvl3pPr algn="l">
              <a:defRPr sz="1275" b="1" i="0">
                <a:solidFill>
                  <a:srgbClr val="14243D"/>
                </a:solidFill>
                <a:latin typeface="Arial"/>
                <a:ea typeface="Arial"/>
                <a:cs typeface="Arial"/>
              </a:defRPr>
            </a:lvl3pPr>
            <a:lvl4pPr algn="l">
              <a:defRPr sz="1275" b="1" i="0">
                <a:solidFill>
                  <a:srgbClr val="14243D"/>
                </a:solidFill>
                <a:latin typeface="Arial"/>
                <a:ea typeface="Arial"/>
                <a:cs typeface="Arial"/>
              </a:defRPr>
            </a:lvl4pPr>
            <a:lvl5pPr algn="l">
              <a:defRPr sz="1275" b="1" i="0">
                <a:solidFill>
                  <a:srgbClr val="14243D"/>
                </a:solidFill>
                <a:latin typeface="Arial"/>
                <a:ea typeface="Arial"/>
                <a:cs typeface="Arial"/>
              </a:defRPr>
            </a:lvl5pPr>
            <a:lvl6pPr algn="l">
              <a:defRPr sz="1275" b="1" i="0">
                <a:solidFill>
                  <a:srgbClr val="14243D"/>
                </a:solidFill>
                <a:latin typeface="Arial"/>
                <a:ea typeface="Arial"/>
                <a:cs typeface="Arial"/>
              </a:defRPr>
            </a:lvl6pPr>
            <a:lvl7pPr algn="l">
              <a:defRPr sz="1275" b="1" i="0">
                <a:solidFill>
                  <a:srgbClr val="14243D"/>
                </a:solidFill>
                <a:latin typeface="Arial"/>
                <a:ea typeface="Arial"/>
                <a:cs typeface="Arial"/>
              </a:defRPr>
            </a:lvl7pPr>
            <a:lvl8pPr algn="l">
              <a:defRPr sz="1275" b="1" i="0">
                <a:solidFill>
                  <a:srgbClr val="14243D"/>
                </a:solidFill>
                <a:latin typeface="Arial"/>
                <a:ea typeface="Arial"/>
                <a:cs typeface="Arial"/>
              </a:defRPr>
            </a:lvl8pPr>
            <a:lvl9pPr algn="l">
              <a:defRPr sz="1275" b="1" i="0">
                <a:solidFill>
                  <a:srgbClr val="14243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1275" b="1" i="0">
                <a:solidFill>
                  <a:srgbClr val="14243D"/>
                </a:solidFill>
                <a:latin typeface="Arial"/>
                <a:ea typeface="Arial"/>
                <a:cs typeface="Arial"/>
              </a:defRPr>
            </a:pPr>
            <a:r>
              <a:rPr sz="1275" b="1" i="0">
                <a:solidFill>
                  <a:srgbClr val="14243D"/>
                </a:solidFill>
                <a:latin typeface="Arial"/>
                <a:ea typeface="Arial"/>
                <a:cs typeface="Arial"/>
              </a:rPr>
              <a:t>Minería de Datos y Proceso KDD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0716E45-9609-4A81-B2FC-C583A88A93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572000"/>
            <a:ext cx="4838700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088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defPPr>
            <a:lvl1pPr algn="l">
              <a:defRPr sz="1088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lvl1pPr>
            <a:lvl2pPr algn="l">
              <a:defRPr sz="1088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lvl2pPr>
            <a:lvl3pPr algn="l">
              <a:defRPr sz="1088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lvl3pPr>
            <a:lvl4pPr algn="l">
              <a:defRPr sz="1088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lvl4pPr>
            <a:lvl5pPr algn="l">
              <a:defRPr sz="1088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lvl5pPr>
            <a:lvl6pPr algn="l">
              <a:defRPr sz="1088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lvl6pPr>
            <a:lvl7pPr algn="l">
              <a:defRPr sz="1088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lvl7pPr>
            <a:lvl8pPr algn="l">
              <a:defRPr sz="1088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lvl8pPr>
            <a:lvl9pPr algn="l">
              <a:defRPr sz="1088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lnSpc>
                <a:spcPct val="115000"/>
              </a:lnSpc>
              <a:buNone/>
              <a:defRPr sz="1088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1088" b="0" i="0">
                <a:solidFill>
                  <a:srgbClr val="667085"/>
                </a:solidFill>
                <a:latin typeface="Arial"/>
                <a:ea typeface="Arial"/>
                <a:cs typeface="Arial"/>
              </a:rPr>
              <a:t>· Pedregosa, F., et al. (2011). Scikit-learn: Machine Learning in Python. JMLR.</a:t>
            </a:r>
          </a:p>
          <a:p xmlns:a="http://schemas.openxmlformats.org/drawingml/2006/main">
            <a:pPr algn="l">
              <a:lnSpc>
                <a:spcPct val="115000"/>
              </a:lnSpc>
              <a:buNone/>
              <a:defRPr sz="1088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1088" b="0" i="0">
                <a:solidFill>
                  <a:srgbClr val="667085"/>
                </a:solidFill>
                <a:latin typeface="Arial"/>
                <a:ea typeface="Arial"/>
                <a:cs typeface="Arial"/>
              </a:rPr>
              <a:t>· Scikit-learn Developers (2026). Árboles CART con GridSearchCV y K-Means.</a:t>
            </a:r>
          </a:p>
          <a:p xmlns:a="http://schemas.openxmlformats.org/drawingml/2006/main">
            <a:pPr algn="l">
              <a:lnSpc>
                <a:spcPct val="115000"/>
              </a:lnSpc>
              <a:buNone/>
              <a:defRPr sz="1088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1088" b="0" i="0">
                <a:solidFill>
                  <a:srgbClr val="667085"/>
                </a:solidFill>
                <a:latin typeface="Arial"/>
                <a:ea typeface="Arial"/>
                <a:cs typeface="Arial"/>
              </a:rPr>
              <a:t>· Metodología KDD: selección, limpieza, transformación, minería y evaluación en prueba (Recall 95.15% en test; K=3 sobre 480 perfiles F2). La publicación BI actual reejecutada conserva 481 perfiles.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3F6A915-7AD0-40FE-823B-2BA3444D4F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1943100"/>
            <a:ext cx="5334000" cy="2038350"/>
          </a:xfrm>
          <a:prstGeom xmlns:a="http://schemas.openxmlformats.org/drawingml/2006/main" prst="roundRect">
            <a:avLst>
              <a:gd name="adj" fmla="val 560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EE8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2ADE004-E0E4-4055-AD0F-CF11595D5F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2076450"/>
            <a:ext cx="48768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275" b="1" i="0">
                <a:solidFill>
                  <a:srgbClr val="14243D"/>
                </a:solidFill>
                <a:latin typeface="Arial"/>
                <a:ea typeface="Arial"/>
                <a:cs typeface="Arial"/>
              </a:defRPr>
            </a:defPPr>
            <a:lvl1pPr algn="l">
              <a:defRPr sz="1275" b="1" i="0">
                <a:solidFill>
                  <a:srgbClr val="14243D"/>
                </a:solidFill>
                <a:latin typeface="Arial"/>
                <a:ea typeface="Arial"/>
                <a:cs typeface="Arial"/>
              </a:defRPr>
            </a:lvl1pPr>
            <a:lvl2pPr algn="l">
              <a:defRPr sz="1275" b="1" i="0">
                <a:solidFill>
                  <a:srgbClr val="14243D"/>
                </a:solidFill>
                <a:latin typeface="Arial"/>
                <a:ea typeface="Arial"/>
                <a:cs typeface="Arial"/>
              </a:defRPr>
            </a:lvl2pPr>
            <a:lvl3pPr algn="l">
              <a:defRPr sz="1275" b="1" i="0">
                <a:solidFill>
                  <a:srgbClr val="14243D"/>
                </a:solidFill>
                <a:latin typeface="Arial"/>
                <a:ea typeface="Arial"/>
                <a:cs typeface="Arial"/>
              </a:defRPr>
            </a:lvl3pPr>
            <a:lvl4pPr algn="l">
              <a:defRPr sz="1275" b="1" i="0">
                <a:solidFill>
                  <a:srgbClr val="14243D"/>
                </a:solidFill>
                <a:latin typeface="Arial"/>
                <a:ea typeface="Arial"/>
                <a:cs typeface="Arial"/>
              </a:defRPr>
            </a:lvl4pPr>
            <a:lvl5pPr algn="l">
              <a:defRPr sz="1275" b="1" i="0">
                <a:solidFill>
                  <a:srgbClr val="14243D"/>
                </a:solidFill>
                <a:latin typeface="Arial"/>
                <a:ea typeface="Arial"/>
                <a:cs typeface="Arial"/>
              </a:defRPr>
            </a:lvl5pPr>
            <a:lvl6pPr algn="l">
              <a:defRPr sz="1275" b="1" i="0">
                <a:solidFill>
                  <a:srgbClr val="14243D"/>
                </a:solidFill>
                <a:latin typeface="Arial"/>
                <a:ea typeface="Arial"/>
                <a:cs typeface="Arial"/>
              </a:defRPr>
            </a:lvl6pPr>
            <a:lvl7pPr algn="l">
              <a:defRPr sz="1275" b="1" i="0">
                <a:solidFill>
                  <a:srgbClr val="14243D"/>
                </a:solidFill>
                <a:latin typeface="Arial"/>
                <a:ea typeface="Arial"/>
                <a:cs typeface="Arial"/>
              </a:defRPr>
            </a:lvl7pPr>
            <a:lvl8pPr algn="l">
              <a:defRPr sz="1275" b="1" i="0">
                <a:solidFill>
                  <a:srgbClr val="14243D"/>
                </a:solidFill>
                <a:latin typeface="Arial"/>
                <a:ea typeface="Arial"/>
                <a:cs typeface="Arial"/>
              </a:defRPr>
            </a:lvl8pPr>
            <a:lvl9pPr algn="l">
              <a:defRPr sz="1275" b="1" i="0">
                <a:solidFill>
                  <a:srgbClr val="14243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1275" b="1" i="0">
                <a:solidFill>
                  <a:srgbClr val="14243D"/>
                </a:solidFill>
                <a:latin typeface="Arial"/>
                <a:ea typeface="Arial"/>
                <a:cs typeface="Arial"/>
              </a:defRPr>
            </a:pPr>
            <a:r>
              <a:rPr sz="1275" b="1" i="0">
                <a:solidFill>
                  <a:srgbClr val="14243D"/>
                </a:solidFill>
                <a:latin typeface="Arial"/>
                <a:ea typeface="Arial"/>
                <a:cs typeface="Arial"/>
              </a:rPr>
              <a:t>Finanzas, CAPEX/OPEX y FinOps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6CAE0AA-A7E3-4CBC-81DF-D5BAE2E53B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2381250"/>
            <a:ext cx="4876800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088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defPPr>
            <a:lvl1pPr algn="l">
              <a:defRPr sz="1088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lvl1pPr>
            <a:lvl2pPr algn="l">
              <a:defRPr sz="1088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lvl2pPr>
            <a:lvl3pPr algn="l">
              <a:defRPr sz="1088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lvl3pPr>
            <a:lvl4pPr algn="l">
              <a:defRPr sz="1088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lvl4pPr>
            <a:lvl5pPr algn="l">
              <a:defRPr sz="1088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lvl5pPr>
            <a:lvl6pPr algn="l">
              <a:defRPr sz="1088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lvl6pPr>
            <a:lvl7pPr algn="l">
              <a:defRPr sz="1088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lvl7pPr>
            <a:lvl8pPr algn="l">
              <a:defRPr sz="1088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lvl8pPr>
            <a:lvl9pPr algn="l">
              <a:defRPr sz="1088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lnSpc>
                <a:spcPct val="115000"/>
              </a:lnSpc>
              <a:buNone/>
              <a:defRPr sz="1088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1088" b="0" i="0">
                <a:solidFill>
                  <a:srgbClr val="667085"/>
                </a:solidFill>
                <a:latin typeface="Arial"/>
                <a:ea typeface="Arial"/>
                <a:cs typeface="Arial"/>
              </a:rPr>
              <a:t>· Horngren, C. T., et al. (2012). Contabilidad de costos: un enfoque gerencial. Escenario de CAPEX (US$4,520) y OPEX anual (US$4,200).</a:t>
            </a:r>
          </a:p>
          <a:p xmlns:a="http://schemas.openxmlformats.org/drawingml/2006/main">
            <a:pPr algn="l">
              <a:lnSpc>
                <a:spcPct val="115000"/>
              </a:lnSpc>
              <a:buNone/>
              <a:defRPr sz="1088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1088" b="0" i="0">
                <a:solidFill>
                  <a:srgbClr val="667085"/>
                </a:solidFill>
                <a:latin typeface="Arial"/>
                <a:ea typeface="Arial"/>
                <a:cs typeface="Arial"/>
              </a:rPr>
              <a:t>· Ross, S. A., et al. (2019). Fundamentals of Corporate Finance. TCO 3 años (US$17,120), análisis de sensibilidad y ROI (31.2% a 293.6%).</a:t>
            </a:r>
          </a:p>
          <a:p xmlns:a="http://schemas.openxmlformats.org/drawingml/2006/main">
            <a:pPr algn="l">
              <a:lnSpc>
                <a:spcPct val="115000"/>
              </a:lnSpc>
              <a:buNone/>
              <a:defRPr sz="1088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1088" b="0" i="0">
                <a:solidFill>
                  <a:srgbClr val="667085"/>
                </a:solidFill>
                <a:latin typeface="Arial"/>
                <a:ea typeface="Arial"/>
                <a:cs typeface="Arial"/>
              </a:rPr>
              <a:t>· Storment, J. R., &amp; Fuller, M. (2020). Cloud FinOps. Sostenibilidad y costos elásticos.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9F5CD14-2619-4965-93F7-92AD1CFEC5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4133850"/>
            <a:ext cx="5334000" cy="2038350"/>
          </a:xfrm>
          <a:prstGeom xmlns:a="http://schemas.openxmlformats.org/drawingml/2006/main" prst="roundRect">
            <a:avLst>
              <a:gd name="adj" fmla="val 560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EE8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FFBA09E-5EE4-4F07-90F8-04860323F9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4267200"/>
            <a:ext cx="48768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275" b="1" i="0">
                <a:solidFill>
                  <a:srgbClr val="14243D"/>
                </a:solidFill>
                <a:latin typeface="Arial"/>
                <a:ea typeface="Arial"/>
                <a:cs typeface="Arial"/>
              </a:defRPr>
            </a:defPPr>
            <a:lvl1pPr algn="l">
              <a:defRPr sz="1275" b="1" i="0">
                <a:solidFill>
                  <a:srgbClr val="14243D"/>
                </a:solidFill>
                <a:latin typeface="Arial"/>
                <a:ea typeface="Arial"/>
                <a:cs typeface="Arial"/>
              </a:defRPr>
            </a:lvl1pPr>
            <a:lvl2pPr algn="l">
              <a:defRPr sz="1275" b="1" i="0">
                <a:solidFill>
                  <a:srgbClr val="14243D"/>
                </a:solidFill>
                <a:latin typeface="Arial"/>
                <a:ea typeface="Arial"/>
                <a:cs typeface="Arial"/>
              </a:defRPr>
            </a:lvl2pPr>
            <a:lvl3pPr algn="l">
              <a:defRPr sz="1275" b="1" i="0">
                <a:solidFill>
                  <a:srgbClr val="14243D"/>
                </a:solidFill>
                <a:latin typeface="Arial"/>
                <a:ea typeface="Arial"/>
                <a:cs typeface="Arial"/>
              </a:defRPr>
            </a:lvl3pPr>
            <a:lvl4pPr algn="l">
              <a:defRPr sz="1275" b="1" i="0">
                <a:solidFill>
                  <a:srgbClr val="14243D"/>
                </a:solidFill>
                <a:latin typeface="Arial"/>
                <a:ea typeface="Arial"/>
                <a:cs typeface="Arial"/>
              </a:defRPr>
            </a:lvl4pPr>
            <a:lvl5pPr algn="l">
              <a:defRPr sz="1275" b="1" i="0">
                <a:solidFill>
                  <a:srgbClr val="14243D"/>
                </a:solidFill>
                <a:latin typeface="Arial"/>
                <a:ea typeface="Arial"/>
                <a:cs typeface="Arial"/>
              </a:defRPr>
            </a:lvl5pPr>
            <a:lvl6pPr algn="l">
              <a:defRPr sz="1275" b="1" i="0">
                <a:solidFill>
                  <a:srgbClr val="14243D"/>
                </a:solidFill>
                <a:latin typeface="Arial"/>
                <a:ea typeface="Arial"/>
                <a:cs typeface="Arial"/>
              </a:defRPr>
            </a:lvl6pPr>
            <a:lvl7pPr algn="l">
              <a:defRPr sz="1275" b="1" i="0">
                <a:solidFill>
                  <a:srgbClr val="14243D"/>
                </a:solidFill>
                <a:latin typeface="Arial"/>
                <a:ea typeface="Arial"/>
                <a:cs typeface="Arial"/>
              </a:defRPr>
            </a:lvl7pPr>
            <a:lvl8pPr algn="l">
              <a:defRPr sz="1275" b="1" i="0">
                <a:solidFill>
                  <a:srgbClr val="14243D"/>
                </a:solidFill>
                <a:latin typeface="Arial"/>
                <a:ea typeface="Arial"/>
                <a:cs typeface="Arial"/>
              </a:defRPr>
            </a:lvl8pPr>
            <a:lvl9pPr algn="l">
              <a:defRPr sz="1275" b="1" i="0">
                <a:solidFill>
                  <a:srgbClr val="14243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1275" b="1" i="0">
                <a:solidFill>
                  <a:srgbClr val="14243D"/>
                </a:solidFill>
                <a:latin typeface="Arial"/>
                <a:ea typeface="Arial"/>
                <a:cs typeface="Arial"/>
              </a:defRPr>
            </a:pPr>
            <a:r>
              <a:rPr sz="1275" b="1" i="0">
                <a:solidFill>
                  <a:srgbClr val="14243D"/>
                </a:solidFill>
                <a:latin typeface="Arial"/>
                <a:ea typeface="Arial"/>
                <a:cs typeface="Arial"/>
              </a:rPr>
              <a:t>Operaciones y Marco Normativo Ético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60363B9-5077-420B-A575-5C5A4B9F72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4572000"/>
            <a:ext cx="4876800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088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defPPr>
            <a:lvl1pPr algn="l">
              <a:defRPr sz="1088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lvl1pPr>
            <a:lvl2pPr algn="l">
              <a:defRPr sz="1088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lvl2pPr>
            <a:lvl3pPr algn="l">
              <a:defRPr sz="1088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lvl3pPr>
            <a:lvl4pPr algn="l">
              <a:defRPr sz="1088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lvl4pPr>
            <a:lvl5pPr algn="l">
              <a:defRPr sz="1088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lvl5pPr>
            <a:lvl6pPr algn="l">
              <a:defRPr sz="1088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lvl6pPr>
            <a:lvl7pPr algn="l">
              <a:defRPr sz="1088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lvl7pPr>
            <a:lvl8pPr algn="l">
              <a:defRPr sz="1088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lvl8pPr>
            <a:lvl9pPr algn="l">
              <a:defRPr sz="1088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lnSpc>
                <a:spcPct val="115000"/>
              </a:lnSpc>
              <a:buNone/>
              <a:defRPr sz="1088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1088" b="0" i="0">
                <a:solidFill>
                  <a:srgbClr val="667085"/>
                </a:solidFill>
                <a:latin typeface="Arial"/>
                <a:ea typeface="Arial"/>
                <a:cs typeface="Arial"/>
              </a:rPr>
              <a:t>· Richards, G. (2018). Warehouse Management. Gestión de cuellos de botella y balanceo de cuadrillas en perfiles de resolución prolongada.</a:t>
            </a:r>
          </a:p>
          <a:p xmlns:a="http://schemas.openxmlformats.org/drawingml/2006/main">
            <a:pPr algn="l">
              <a:lnSpc>
                <a:spcPct val="115000"/>
              </a:lnSpc>
              <a:buNone/>
              <a:defRPr sz="1088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1088" b="0" i="0">
                <a:solidFill>
                  <a:srgbClr val="667085"/>
                </a:solidFill>
                <a:latin typeface="Arial"/>
                <a:ea typeface="Arial"/>
                <a:cs typeface="Arial"/>
              </a:rPr>
              <a:t>· Asamblea Legislativa de El Salvador (2024). Ley para la Protección de Datos Personales (Decreto 144). Principios de minimización, anonimización espacial y supervisión humana obligatoria (Human-in-the-Loop) sin decisiones punitivas automáticas.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71E507D-65F6-4D20-9360-3C5A1F59BF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10972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900" b="0" i="0">
                <a:solidFill>
                  <a:srgbClr val="98A2B3"/>
                </a:solidFill>
                <a:latin typeface="Arial"/>
                <a:ea typeface="Arial"/>
                <a:cs typeface="Arial"/>
              </a:defRPr>
            </a:defPPr>
            <a:lvl1pPr algn="l">
              <a:defRPr sz="900" b="0" i="0">
                <a:solidFill>
                  <a:srgbClr val="98A2B3"/>
                </a:solidFill>
                <a:latin typeface="Arial"/>
                <a:ea typeface="Arial"/>
                <a:cs typeface="Arial"/>
              </a:defRPr>
            </a:lvl1pPr>
            <a:lvl2pPr algn="l">
              <a:defRPr sz="900" b="0" i="0">
                <a:solidFill>
                  <a:srgbClr val="98A2B3"/>
                </a:solidFill>
                <a:latin typeface="Arial"/>
                <a:ea typeface="Arial"/>
                <a:cs typeface="Arial"/>
              </a:defRPr>
            </a:lvl2pPr>
            <a:lvl3pPr algn="l">
              <a:defRPr sz="900" b="0" i="0">
                <a:solidFill>
                  <a:srgbClr val="98A2B3"/>
                </a:solidFill>
                <a:latin typeface="Arial"/>
                <a:ea typeface="Arial"/>
                <a:cs typeface="Arial"/>
              </a:defRPr>
            </a:lvl3pPr>
            <a:lvl4pPr algn="l">
              <a:defRPr sz="900" b="0" i="0">
                <a:solidFill>
                  <a:srgbClr val="98A2B3"/>
                </a:solidFill>
                <a:latin typeface="Arial"/>
                <a:ea typeface="Arial"/>
                <a:cs typeface="Arial"/>
              </a:defRPr>
            </a:lvl4pPr>
            <a:lvl5pPr algn="l">
              <a:defRPr sz="900" b="0" i="0">
                <a:solidFill>
                  <a:srgbClr val="98A2B3"/>
                </a:solidFill>
                <a:latin typeface="Arial"/>
                <a:ea typeface="Arial"/>
                <a:cs typeface="Arial"/>
              </a:defRPr>
            </a:lvl5pPr>
            <a:lvl6pPr algn="l">
              <a:defRPr sz="900" b="0" i="0">
                <a:solidFill>
                  <a:srgbClr val="98A2B3"/>
                </a:solidFill>
                <a:latin typeface="Arial"/>
                <a:ea typeface="Arial"/>
                <a:cs typeface="Arial"/>
              </a:defRPr>
            </a:lvl6pPr>
            <a:lvl7pPr algn="l">
              <a:defRPr sz="900" b="0" i="0">
                <a:solidFill>
                  <a:srgbClr val="98A2B3"/>
                </a:solidFill>
                <a:latin typeface="Arial"/>
                <a:ea typeface="Arial"/>
                <a:cs typeface="Arial"/>
              </a:defRPr>
            </a:lvl7pPr>
            <a:lvl8pPr algn="l">
              <a:defRPr sz="900" b="0" i="0">
                <a:solidFill>
                  <a:srgbClr val="98A2B3"/>
                </a:solidFill>
                <a:latin typeface="Arial"/>
                <a:ea typeface="Arial"/>
                <a:cs typeface="Arial"/>
              </a:defRPr>
            </a:lvl8pPr>
            <a:lvl9pPr algn="l">
              <a:defRPr sz="900" b="0" i="0">
                <a:solidFill>
                  <a:srgbClr val="98A2B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900" b="0" i="0">
                <a:solidFill>
                  <a:srgbClr val="98A2B3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98A2B3"/>
                </a:solidFill>
                <a:latin typeface="Arial"/>
                <a:ea typeface="Arial"/>
                <a:cs typeface="Arial"/>
              </a:rPr>
              <a:t>Referencias académicas y normativas consolidadas según premisa general de la cátedra DMD104 (Universidad Don Bosco).</a:t>
            </a:r>
          </a:p>
        </p:txBody>
      </p:sp>
    </p:spTree>
    <p:extLst>
      <p:ext uri="{BB962C8B-B14F-4D97-AF65-F5344CB8AC3E}">
        <p14:creationId xmlns:p14="http://schemas.microsoft.com/office/powerpoint/2010/main" val="1353324872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2026-10-26T11:37:21.2610000Z</dcterms:created>
  <dcterms:modified xsi:type="dcterms:W3CDTF">2026-10-26T11:37:21.2610000Z</dcterms:modified>
</coreProperties>
</file>