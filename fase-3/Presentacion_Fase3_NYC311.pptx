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05840"/>
            <a:ext cx="9448495" cy="484632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sz="1300" b="1">
                <a:solidFill>
                  <a:srgbClr val="1F5D78"/>
                </a:solidFill>
                <a:latin typeface="Segoe UI"/>
              </a:defRPr>
            </a:pPr>
            <a:r>
              <a:t>UNIVERSIDAD DON BOSCO — FACULTAD DE ESTUDIOS DE POSTGRADOS</a:t>
            </a:r>
          </a:p>
          <a:p>
            <a:pPr>
              <a:defRPr sz="1500">
                <a:solidFill>
                  <a:srgbClr val="4A5560"/>
                </a:solidFill>
                <a:latin typeface="Segoe UI"/>
              </a:defRPr>
            </a:pPr>
            <a:r>
              <a:t>Data Warehouse y Minería de Datos (DMD104) · Fase 3</a:t>
            </a:r>
          </a:p>
          <a:p>
            <a:pPr>
              <a:spcBef>
                <a:spcPts val="1600"/>
              </a:spcBef>
              <a:spcAft>
                <a:spcPts val="1400"/>
              </a:spcAft>
              <a:defRPr sz="2700" b="1">
                <a:solidFill>
                  <a:srgbClr val="12304A"/>
                </a:solidFill>
                <a:latin typeface="Segoe UI"/>
              </a:defRPr>
            </a:pPr>
            <a:r>
              <a:t>Solución Integral de Inteligencia de Negocios y Minería de Datos: NYC311</a:t>
            </a:r>
          </a:p>
          <a:p>
            <a:pPr>
              <a:spcAft>
                <a:spcPts val="2000"/>
              </a:spcAft>
              <a:defRPr sz="1300">
                <a:solidFill>
                  <a:srgbClr val="4A5560"/>
                </a:solidFill>
                <a:latin typeface="Segoe UI"/>
              </a:defRPr>
            </a:pPr>
            <a:r>
              <a:t>Integración analítica extremo a extremo: Esquema estrella SQL Server, Minería KDD (Árbol CART + K-Means) y Capa de Presentación Interactiva en Power BI.</a:t>
            </a:r>
          </a:p>
          <a:p>
            <a:pPr>
              <a:defRPr sz="1200" b="1">
                <a:solidFill>
                  <a:srgbClr val="1F5D78"/>
                </a:solidFill>
                <a:latin typeface="Segoe UI"/>
              </a:defRPr>
            </a:pPr>
            <a:r>
              <a:t>INTEGRANTES DEL EQUIPO:</a:t>
            </a:r>
          </a:p>
          <a:p>
            <a:pPr>
              <a:defRPr sz="1100">
                <a:solidFill>
                  <a:srgbClr val="111827"/>
                </a:solidFill>
                <a:latin typeface="Segoe UI"/>
              </a:defRPr>
            </a:pPr>
            <a:r>
              <a:t>•  Lemus Mejía, Fernando José (LM212528)</a:t>
            </a:r>
          </a:p>
          <a:p>
            <a:pPr>
              <a:defRPr sz="1100">
                <a:solidFill>
                  <a:srgbClr val="111827"/>
                </a:solidFill>
                <a:latin typeface="Segoe UI"/>
              </a:defRPr>
            </a:pPr>
            <a:r>
              <a:t>•  Bonilla Saz, Gerardo Rafael (BS242634)</a:t>
            </a:r>
          </a:p>
          <a:p>
            <a:pPr>
              <a:defRPr sz="1100">
                <a:solidFill>
                  <a:srgbClr val="111827"/>
                </a:solidFill>
                <a:latin typeface="Segoe UI"/>
              </a:defRPr>
            </a:pPr>
            <a:r>
              <a:t>•  Chávez Castillo, Edson Enrique (CC242635)</a:t>
            </a:r>
          </a:p>
          <a:p>
            <a:pPr>
              <a:defRPr sz="1100">
                <a:solidFill>
                  <a:srgbClr val="111827"/>
                </a:solidFill>
                <a:latin typeface="Segoe UI"/>
              </a:defRPr>
            </a:pPr>
            <a:r>
              <a:t>•  López Ortiz, César Giovanni (LO232756)</a:t>
            </a:r>
          </a:p>
          <a:p>
            <a:pPr>
              <a:defRPr sz="1100">
                <a:solidFill>
                  <a:srgbClr val="111827"/>
                </a:solidFill>
                <a:latin typeface="Segoe UI"/>
              </a:defRPr>
            </a:pPr>
            <a:r>
              <a:t>•  Galdámez Soto, Juan José (GS242646)</a:t>
            </a:r>
          </a:p>
          <a:p>
            <a:pPr>
              <a:spcBef>
                <a:spcPts val="1400"/>
              </a:spcBef>
              <a:defRPr sz="1100" i="1">
                <a:solidFill>
                  <a:srgbClr val="4A5560"/>
                </a:solidFill>
                <a:latin typeface="Segoe UI"/>
              </a:defRPr>
            </a:pPr>
            <a:r>
              <a:t>Docente: Ing. Díaz Campos  |  BI actual: enero y abril–julio 2026  |  F2 original: abril–julio 2026  |  Noviembre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1. Problema de Negocio y Alcance Operativo de NYC311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El reto: priorizar carga masiva heterogénea y distinguir demoras críticas sin distorsionar los datos.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00:00–02:00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08960" cy="438912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CONTEXTO NYC311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Sistema centralizado de atención ciudadana no urgente de la Ciudad de Nueva York.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Universo BI actual: 1,312,465 solicitudes disponibles entre enero y julio de 2026 (enero y abril–julio).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Alta dispersión geográfica (5 boroughs) y operativa (más de 20 agencias ejecutoras).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Canales múltiples: Teléfono 311, portal Web, Mobile App y Open Data 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737360"/>
            <a:ext cx="3108960" cy="438912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9E2A2B"/>
                </a:solidFill>
              </a:defRPr>
            </a:pPr>
            <a:r>
              <a:t>PROBLEMA OPERATIVO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Incapacidad de priorizar preventivamente: las demoras se detectan cuando ya vencieron.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Asimetría severa en tiempos: la mediana global actual es 330 min (~5.5 h), pero el P75 histórico alcanza 4,329 min (~72.2 h).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Problema de calidad analítica: 63,467 solicitudes actuales carecen de fecha de cierre observada.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Riesgo de sesgo: imputar duración cero o normal distorsionaría la gestión pública.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737360"/>
            <a:ext cx="3200400" cy="438912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B7A4B"/>
                </a:solidFill>
              </a:defRPr>
            </a:pPr>
            <a:r>
              <a:t>OBJETIVO FASE 3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Construir un tablero analítico en Power BI conectado directamente al DW SQL Server.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Consumir los 481 perfiles de la publicación BI actual sin perder el grano individual; el snapshot F2 original tuvo 480.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Aislar de forma transparente los 14,310 casos actuales fuera de clúster y las 63,467 solicitudes sin duración.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Demostrar viabilidad y retorno operativo con escenarios transparentes y defendibles.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2. Arquitectura de Datos y Linaje Extremo a Extremo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Trazabilidad técnica desde la API oficial de NYC hasta el modelo semántico en Power BI.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02:00–04:00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2286000" cy="365760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1000"/>
              </a:spcAft>
              <a:defRPr b="1" sz="1200">
                <a:solidFill>
                  <a:srgbClr val="1F5D78"/>
                </a:solidFill>
              </a:defRPr>
            </a:pPr>
            <a:r>
              <a:t>1. INGESTA Y STAGING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NYC Open Data (erm2-nwe9)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Extracción periódica JSON/CSV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Carga a raw.Solicitud y stg.Solicitud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Paquete SSIS de Fase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737360"/>
            <a:ext cx="2286000" cy="365760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1000"/>
              </a:spcAft>
              <a:defRPr b="1" sz="1200">
                <a:solidFill>
                  <a:srgbClr val="1F5D78"/>
                </a:solidFill>
              </a:defRPr>
            </a:pPr>
            <a:r>
              <a:t>2. DATA WAREHOUSE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SQL Server DW_NYC311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Fact: dw.FactSolicitud (1.29M filas)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6 Dimensiones con llaves subrogadas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Grano estricto: 1 fila por solicitud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59" y="1737360"/>
            <a:ext cx="2286000" cy="365760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1000"/>
              </a:spcAft>
              <a:defRPr b="1" sz="1200">
                <a:solidFill>
                  <a:srgbClr val="1F5D78"/>
                </a:solidFill>
              </a:defRPr>
            </a:pPr>
            <a:r>
              <a:t>3. MINERÍA (KDD)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Vista mining.vw_dataset_fase2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Árbol CART (Recall 95.15% en test F2)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K-Means actual (481 perfiles, K=3)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Persistencia en bi.PerfilCluster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737360"/>
            <a:ext cx="2286000" cy="365760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1000"/>
              </a:spcAft>
              <a:defRPr b="1" sz="1200">
                <a:solidFill>
                  <a:srgbClr val="1F5D78"/>
                </a:solidFill>
              </a:defRPr>
            </a:pPr>
            <a:r>
              <a:t>4. PRESENTACIÓN BI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Vista bi.vw_solicitudes_segmentadas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Power BI Desktop (Modo Import)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PBIP + PBIR + TMDL (Git nativo)</a:t>
            </a:r>
          </a:p>
          <a:p>
            <a:pPr>
              <a:spcBef>
                <a:spcPts val="400"/>
              </a:spcBef>
              <a:defRPr sz="1100">
                <a:solidFill>
                  <a:srgbClr val="4A5560"/>
                </a:solidFill>
              </a:defRPr>
            </a:pPr>
            <a:r>
              <a:t>• 3 Páginas interactivas validadas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69280"/>
            <a:ext cx="10698480" cy="73152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100">
                <a:solidFill>
                  <a:srgbClr val="12304A"/>
                </a:solidFill>
              </a:defRPr>
            </a:pPr>
            <a:r>
              <a:t>REGLA DE INTEGRIDAD: No existen CSVs sueltos ni datos desconectados. El Dashboard consume exclusivamente la vista SQL bi.vw_solicitudes_segmentadas, reconciliando exactamente 1,312,465 registros en todas las capas.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3. Fase 1: Modelo Dimensional y Esquema Estrella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Estructura analítica en SQL Server diseñada para soportar consultas analíticas de alto rendimiento.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04:00–05:30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TABLA DE HECHOS CENTRAL: dw.FactSolicitud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Grano: Exactamente una fila por cada solicitud de servicio recibida.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Identificador: codigo_solicitud único (UQ_FactSolicitud).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Medida analítica principal: minutos_resolucion (Duración en minutos desde creación hasta cierre).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Tratamiento de Nulos: minutos_resolucion es NULL si la solicitud sigue abierta. No se imputa a cero.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Coordenadas: latitude y longitude para agregación y mapeo geoespacial.</a:t>
            </a:r>
          </a:p>
          <a:p>
            <a:pPr>
              <a:spcBef>
                <a:spcPts val="800"/>
              </a:spcBef>
              <a:defRPr sz="1100">
                <a:solidFill>
                  <a:srgbClr val="4A5560"/>
                </a:solidFill>
              </a:defRPr>
            </a:pPr>
            <a:r>
              <a:t>• Llaves foráneas hacia 6 dimensiones con integridad referencial garantizada.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TABLAS DE DIMENSIONES (6 EJES DE ANÁLISIS)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dw.DimFecha: fecha_key (YYYYMMDD), año, mes, día, día de semana. Rol dual creación / cierre.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dw.DimAgencia: agencia_key, acrónimo de agencia (NYPD, HPD, DOT, DSNY) y nombre oficial.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dw.DimProblema: problema_key, complaint_type, descriptor operativo y sub-descriptor.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dw.DimGeografia: geografia_key, borough (5 distritos), ZIP code, community board y precinto.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dw.DimEstado: estado_key, status operativo (Closed, Open, Pending, In Progress, Assigned).</a:t>
            </a:r>
          </a:p>
          <a:p>
            <a:pPr>
              <a:spcBef>
                <a:spcPts val="600"/>
              </a:spcBef>
              <a:defRPr sz="1050">
                <a:solidFill>
                  <a:srgbClr val="4A5560"/>
                </a:solidFill>
              </a:defRPr>
            </a:pPr>
            <a:r>
              <a:t>• dw.DimCanal: canal_key, open_data_channel_type (Phone, Online, Mobile, Other, Unknown).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4. Fase 1: Proceso ETL y Garantía de Calidad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Extracción, estandarización de catálogos y generación de llaves subrogadas con SSIS.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05:30–07:00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200400" cy="384048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F5D78"/>
                </a:solidFill>
              </a:defRPr>
            </a:pPr>
            <a:r>
              <a:t>1. EXTRACCIÓN (Extract)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Descarga estructurada desde NYC Open Data mediante endpoint REST erm2-nwe9.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Carga cruda inicial hacia schema raw.Solicitud.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Captura de campos temporales, geográficos, categorización y estado administrativo.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737360"/>
            <a:ext cx="3200400" cy="384048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F5D78"/>
                </a:solidFill>
              </a:defRPr>
            </a:pPr>
            <a:r>
              <a:t>2. TRANSFORMACIÓN (Transform)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Limpieza de inconsistencias textuales y colaciones en nombres de agencia y borough.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Normalización de coordenadas espaciales anómalas fuera del rango de NYC.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Cálculo derivado de minutos_resolucion = DATEDIFF(minute, created_date, closed_date).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Mapeo de llaves de negocio a dimensiones conformadas (Surrogate Keys).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737360"/>
            <a:ext cx="3200400" cy="384048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spcAft>
                <a:spcPts val="800"/>
              </a:spcAft>
              <a:defRPr b="1" sz="1200">
                <a:solidFill>
                  <a:srgbClr val="1F5D78"/>
                </a:solidFill>
              </a:defRPr>
            </a:pPr>
            <a:r>
              <a:t>3. CARGA (Load)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Poblado masivo con SSIS Package.dtsx aplicando inserción en bloques optimizada.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Manejo estricto de duplicados mediante UQ_FactSolicitud en dw.FactSolicitud.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Comprobación de cuadratura: 1,312,465 registros cargados exitosamente.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698480" cy="640080"/>
          </a:xfrm>
          <a:prstGeom prst="roundRect">
            <a:avLst/>
          </a:prstGeom>
          <a:solidFill>
            <a:srgbClr val="F5F9FC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sz="1050">
                <a:solidFill>
                  <a:srgbClr val="4A5560"/>
                </a:solidFill>
              </a:defRPr>
            </a:pPr>
            <a:r>
              <a:t>EVIDENCIA TÉCNICA: Código SSIS disponible en catedra_fase1/Package.dtsx y scripts DDL en sql/03_ddl_dw.sql. En defensa se presenta la traza de ejecución fechada y verificación de conteos.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5. Fase 2: Minería Predictiva — Árbol de Clasificación (CART)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Detección preventiva temprana de riesgo de demora alta en el momento de creación del ticket.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07:00–09:30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FORMULACIÓN METODOLÓGICA (KDD)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Etiqueta objetivo (demora_alta): 1 si minutos_resolucion &gt; P75 (4,329 min / ~72.2 h); 0 si &lt;= P75; NULL si no cerrada.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Universo de entrenamiento: 1,230,737 casos resueltos (923,081 normales y 307,656 demoras altas).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Variables predictoras (X): agency, complaint_type, borough, open_data_channel_type, mes, dia_semana.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Prevención estricta de fuga de datos (Data Leakage): Se excluyen duración, fecha_cierre y status, ya que no existen al momento de radicar el caso.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Alineación al negocio: En servicio público es prioritario minimizar falsos negativos (casos demorados no detectados).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B7A4B"/>
                </a:solidFill>
              </a:defRPr>
            </a:pPr>
            <a:r>
              <a:t>DESEMPEÑO EN CONJUNTO DE PRUEBA (TEST)</a:t>
            </a:r>
          </a:p>
          <a:p>
            <a:pPr>
              <a:spcBef>
                <a:spcPts val="500"/>
              </a:spcBef>
              <a:defRPr b="1" sz="1200">
                <a:solidFill>
                  <a:srgbClr val="12304A"/>
                </a:solidFill>
              </a:defRPr>
            </a:pPr>
            <a:r>
              <a:t>Recall (Sensibilidad): 95.15%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→ Detecta 58,549 de 61,531 demoras críticas reales</a:t>
            </a:r>
          </a:p>
          <a:p>
            <a:pPr>
              <a:spcBef>
                <a:spcPts val="500"/>
              </a:spcBef>
              <a:defRPr b="1" sz="1200">
                <a:solidFill>
                  <a:srgbClr val="12304A"/>
                </a:solidFill>
              </a:defRPr>
            </a:pPr>
            <a:r>
              <a:t>F1-Score: 78.37%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→ Equilibrio sólido entre precisión y exhaustividad</a:t>
            </a:r>
          </a:p>
          <a:p>
            <a:pPr>
              <a:spcBef>
                <a:spcPts val="500"/>
              </a:spcBef>
              <a:defRPr b="1" sz="1200">
                <a:solidFill>
                  <a:srgbClr val="12304A"/>
                </a:solidFill>
              </a:defRPr>
            </a:pPr>
            <a:r>
              <a:t>ROC-AUC: 0.952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→ Excelente capacidad de discriminación probabilística</a:t>
            </a:r>
          </a:p>
          <a:p>
            <a:pPr>
              <a:spcBef>
                <a:spcPts val="500"/>
              </a:spcBef>
              <a:defRPr b="1" sz="1200">
                <a:solidFill>
                  <a:srgbClr val="12304A"/>
                </a:solidFill>
              </a:defRPr>
            </a:pPr>
            <a:r>
              <a:t>Falsos Negativos: 2,982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→ Solo 4.85% de las demoras altas escaparon al modelo</a:t>
            </a:r>
          </a:p>
          <a:p>
            <a:pPr>
              <a:spcBef>
                <a:spcPts val="500"/>
              </a:spcBef>
              <a:defRPr b="1" sz="1200">
                <a:solidFill>
                  <a:srgbClr val="12304A"/>
                </a:solidFill>
              </a:defRPr>
            </a:pPr>
            <a:r>
              <a:t>Falsos Positivos: 29,328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→ Alertas preventivas que requirieron revisión</a:t>
            </a:r>
          </a:p>
          <a:p>
            <a:pPr>
              <a:spcBef>
                <a:spcPts val="800"/>
              </a:spcBef>
              <a:defRPr sz="950" i="1">
                <a:solidFill>
                  <a:srgbClr val="9E2A2B"/>
                </a:solidFill>
              </a:defRPr>
            </a:pPr>
            <a:r>
              <a:t>ADVERTENCIA TÉCNICA: Las métricas corresponden a evaluación histórica de prueba; en el dashboard se presentan como contexto explicativo, no como pronósticos en producción.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6. Fase 2: Minería Descriptiva — Segmentación K-Means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El snapshot F2 tuvo 480 perfiles; la publicación BI actual reejecuta el pipeline sobre el rango disponible y conserva la trazabilidad.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09:30–12:00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METODOLOGÍA DE CLUSTERING POR PERFILES OPERATIVOS</a:t>
            </a:r>
          </a:p>
          <a:p>
            <a:pPr>
              <a:spcAft>
                <a:spcPts val="1000"/>
              </a:spcAft>
              <a:defRPr sz="1100">
                <a:solidFill>
                  <a:srgbClr val="4A5560"/>
                </a:solidFill>
              </a:defRPr>
            </a:pPr>
            <a:r>
              <a:t>K-Means NO se aplicó fila por fila a 1.3M tickets: se construyeron perfiles agregados por (agency + complaint_type + borough). La publicación BI actual obtuvo 481 perfiles elegibles sobre el rango disponible, con K=3, StandardScaler y parámetros reproducibles; el experimento F2 original documentó 480 perfiles y Silhouette 0.421.</a:t>
            </a:r>
          </a:p>
          <a:p>
            <a:pPr>
              <a:spcBef>
                <a:spcPts val="600"/>
              </a:spcBef>
              <a:defRPr b="1" sz="1150">
                <a:solidFill>
                  <a:srgbClr val="12304A"/>
                </a:solidFill>
              </a:defRPr>
            </a:pPr>
            <a:r>
              <a:t>Clúster 1: Resolución Rápida y Baja Demora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203 perfiles | 910,529 solicitudes (69.4% del universo)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Mediana duración: 129 min (~2.2 h) | Tasa demora alta: 5.92% | Sin duración: 1.12%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Interpretación: Servicios de resolución relativamente rápida en el rango actual.</a:t>
            </a:r>
          </a:p>
          <a:p>
            <a:pPr>
              <a:spcBef>
                <a:spcPts val="600"/>
              </a:spcBef>
              <a:defRPr b="1" sz="1150">
                <a:solidFill>
                  <a:srgbClr val="12304A"/>
                </a:solidFill>
              </a:defRPr>
            </a:pPr>
            <a:r>
              <a:t>Clúster 2: Resolución Prolongada y Alta Demora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249 perfiles | 358,005 solicitudes (27.3% del universo)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Mediana duración: 11,241 min (~7.8 días) | Tasa demora alta: 75.12% | Sin duración: 6.49%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Interpretación: Perfiles de alta demora que requieren revisión de capacidad.</a:t>
            </a:r>
          </a:p>
          <a:p>
            <a:pPr>
              <a:spcBef>
                <a:spcPts val="600"/>
              </a:spcBef>
              <a:defRPr b="1" sz="1150">
                <a:solidFill>
                  <a:srgbClr val="12304A"/>
                </a:solidFill>
              </a:defRPr>
            </a:pPr>
            <a:r>
              <a:t>Clúster 3: Rezago Crítico y Alta Proporción Sin Resolver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29 perfiles | 29,621 solicitudes (2.3% del universo)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Mediana duración: 21,277 min (~14.8 días) | Tasa demora alta: 80.26% | Sin duración: 81.65%</a:t>
            </a:r>
          </a:p>
          <a:p>
            <a:pPr>
              <a:defRPr sz="1050">
                <a:solidFill>
                  <a:srgbClr val="4A5560"/>
                </a:solidFill>
              </a:defRPr>
            </a:pPr>
            <a:r>
              <a:t>  Interpretación: Perfiles con rezago y alta falta de cierre observado.</a:t>
            </a:r>
          </a:p>
          <a:p>
            <a:pPr>
              <a:spcBef>
                <a:spcPts val="800"/>
              </a:spcBef>
              <a:defRPr b="1" sz="1100">
                <a:solidFill>
                  <a:srgbClr val="1F5D78"/>
                </a:solidFill>
              </a:defRPr>
            </a:pPr>
            <a:r>
              <a:t>CONTROL DE COBERTURA: 910,529 + 358,005 + 29,621 = 1,298,155 solicitudes segmentadas. Las 14,310 solicitudes restantes se preservan como 'Sin perfil K-Means' (1.09% del total). ¡Ninguna solicitud desaparece del BI!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7. Fase 3: Integración Técnica DW — Minería — Power BI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Diseño relacional de consumo sin dispersión de grano y persistencia de perfiles en SQL Server.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12:00–14:00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OBJETOS DE INTEGRACIÓN EN SQL SERVER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Tabla bi.PerfilCluster: Almacena los 481 perfiles de la publicación actual, con cluster_id, cluster_nombre, versión de modelo y metadatos.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Índices Únicos Filtrados: UX_PerfilCluster_TernaNoNula y UX_PerfilCluster_TernaNula garantizan unicidad de la terna (agency, complaint_type, borough).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Vista bi.vw_solicitudes_segmentadas: Realiza LEFT JOIN nulo-seguro entre mining.vw_dataset_fase2 y bi.PerfilCluster.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Preservación de Grano: 1,312,465 filas en la vista = 1,312,465 solicitudes distintas. No hay multiplicación ni joins 1:N.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Bandera es_segmentado: 1 para las 1,298,155 con clúster; 0 para las 14,310 'Sin perfil K-Means'.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MODELO SEMÁNTICO EN POWER BI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Modo de Conexión: Import: Garantiza estabilidad, velocidad sub-segundo e independencia en la máquina de exposición.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Medida DAX Solicitudes distintas: DISTINCTCOUNT(codigo_solicitud) = 1,312,465 exactos.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Medida DAX Tasa demora alta: DIVIDE([Solicitudes demora alta], [Solicitudes con tiempo]). Excluye estrictamente las 63,467 solicitudes sin duración.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Formato PBIP / PBIR / TMDL: Proyecto versionable en Git con definición modular de visuales y modelo semántico legible.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Sincronización con Guion: El segmentador de cluster_nombre permite filtrar 'Sin perfil K-Means' y verificar 14,310 casos en vivo.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8. Demostración en Vivo: Dashboard — Páginas 1 y 2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Panorama de atención ciudadana y diagnóstico de capacidad operativa por agencia y distrito.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14:00–17:00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PÁGINA 1: PANORAMA CIUDADANO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Fila de KPIs: 1,312,465 solicitudes recibidas | Mediana 330 min (~5.5 h) | 313,360 demoras altas observadas | 63,467 sin duración.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Segmentadores Interactivos: Borough, Agencia, Clúster K-Means y Estado.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Tendencia Temporal (Mes/Año): Enero y abril–julio 2026, sin agregaciones erróneas de identificadores.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Carga por Borough: Brooklyn (417k) y Queens (335k) concentran el mayor volumen.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Mapa Geoespacial: Distribución por distritos urbanos con escala proporcional de burbujas.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Interacción cruzada: Filtrar una agencia recalcula instantáneamente KPIs y mapa.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PÁGINA 2: DÓNDE CONCENTRAR CAPACIDAD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Pregunta de Decisión: ¿En qué agencias y zonas se originan los cuellos de botella operativos?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Mediana por Agencia: DOHMH y HPD presentan medianas superiores a 1,200 min, mientras NYPD resuelve en ~85 min.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Mediana por Borough: Staten Island y Bronx reflejan tiempos típicos superiores a Manhattan.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Volumen por Canal de Entrada: El canal Phone (311) domina llamadas iniciales, pero Online/Mobile concentra mayor seguimiento.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Estado Operativo: 94.8% de solicitudes figuran 'Closed', 4.87% 'Pending/Open', permitiendo auditar backlog.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9. Demostración en Vivo: Dashboard — Página 3 y Segmentación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Consumo de los 481 perfiles actuales y contexto predictivo histórico del Árbol CART.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17:00–19:00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PÁGINA 3: SEGMENTACIÓN DE MINERÍA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Segmentador de Clústeres F2: Permite alternar entre los 3 grupos y la categoría 'Sin perfil K-Means'.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Prueba de Cuadratura en Vivo: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  → Al seleccionar 'Sin perfil K-Means', la tarjeta muestra exactamente 14,310 casos.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  → Al seleccionar 'Rezago crítico', se filtran 29,621 solicitudes con mediana de 21,277 min.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  → Al limpiar el filtro, el tablero retorna al total íntegro de 1,312,465.</a:t>
            </a:r>
          </a:p>
          <a:p>
            <a:pPr>
              <a:spcBef>
                <a:spcPts val="500"/>
              </a:spcBef>
              <a:defRPr sz="1100">
                <a:solidFill>
                  <a:srgbClr val="4A5560"/>
                </a:solidFill>
              </a:defRPr>
            </a:pPr>
            <a:r>
              <a:t>• Gráfico Comparativo de Mediana por Clúster: Evidencia visual del contraste entre Rápida (129 min) y Rezago (21,277 min).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USABILIDAD PARA LA TOMA DE DECISIONES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Asignación Preventiva de Cuadrillas: Al identificar reclamos clasificados en perfiles de Rezago Crítico, la agencia reasigna inspectores antes de superar el P75.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Descongestión de Canales: Permite a los supervisores de distrito auditar qué agencias demoran más de 72 horas.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Contextualización Metodológica: Los paneles explican las métricas del árbol (Recall 95.15%) y los supuestos de K-Means para evitar que se interpreten como certezas causales.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10. Análisis de Costos, Viabilidad y Retorno Operativo (ROI)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Modelo financiero estructurado a 3 años para la gestión pública sin ingresos por ticket.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19:00–21:00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ESTRUCTURA DE COSTOS (HORIZONTE 3 AÑOS)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Desarrollo Inicial (CAPEX): 4,520 USD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280 h equipo (15 USD/h) + capacitación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Infraestructura Cloud / Servidor: 1,800 USD/año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SQL Server / Azure SQL VM (150 USD/mes)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Licenciamiento Power BI Pro: 600 USD/año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5 usuarios supervisores (10 USD/mes c/u)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Soporte y Mantenimiento (OPEX): 1,800 USD/año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10 h/mes soporte y reentrenamiento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Costo Recurrente Anual: 4,200 USD/año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Infraestructura + Licencias + Soporte</a:t>
            </a:r>
          </a:p>
          <a:p>
            <a:pPr>
              <a:spcBef>
                <a:spcPts val="400"/>
              </a:spcBef>
              <a:defRPr b="1" sz="1100">
                <a:solidFill>
                  <a:srgbClr val="12304A"/>
                </a:solidFill>
              </a:defRPr>
            </a:pPr>
            <a:r>
              <a:t>• Costo Total a 3 Años (TCO): 17,120 USD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  4,520 CAPEX + (3 × 4,200 OPEX)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B7A4B"/>
                </a:solidFill>
              </a:defRPr>
            </a:pPr>
            <a:r>
              <a:t>ESCENARIOS DE BENEFICIO Y RETORNO (ROI)</a:t>
            </a:r>
          </a:p>
          <a:p>
            <a:pPr>
              <a:spcBef>
                <a:spcPts val="500"/>
              </a:spcBef>
              <a:defRPr b="1" sz="1150">
                <a:solidFill>
                  <a:srgbClr val="12304A"/>
                </a:solidFill>
              </a:defRPr>
            </a:pPr>
            <a:r>
              <a:t>Escenario Conservador (Bajo)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Ahorro de 8 h/semana entre analistas (416 h/año a 18 USD/h)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Beneficio 3 años: 22,464 USD  |  Beneficio Neto: 5,344 USD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ROI: 31.2%  |  Punto de Equilibrio: Mes 28</a:t>
            </a:r>
          </a:p>
          <a:p>
            <a:pPr>
              <a:spcBef>
                <a:spcPts val="500"/>
              </a:spcBef>
              <a:defRPr b="1" sz="1150">
                <a:solidFill>
                  <a:srgbClr val="12304A"/>
                </a:solidFill>
              </a:defRPr>
            </a:pPr>
            <a:r>
              <a:t>Escenario Base (Más Probable)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Ahorro de 16 h/semana en consolidación y cruces (832 h/año)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Beneficio 3 años: 44,928 USD  |  Beneficio Neto: 27,808 USD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ROI: 162.4%  |  Punto de Equilibrio: Mes 14</a:t>
            </a:r>
          </a:p>
          <a:p>
            <a:pPr>
              <a:spcBef>
                <a:spcPts val="500"/>
              </a:spcBef>
              <a:defRPr b="1" sz="1150">
                <a:solidFill>
                  <a:srgbClr val="12304A"/>
                </a:solidFill>
              </a:defRPr>
            </a:pPr>
            <a:r>
              <a:t>Escenario Optimista (Alto)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Ahorro de 24 h/semana + 5% reducción de reprocesos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Beneficio 3 años: 66,000 USD  |  Beneficio Neto: 48,880 USD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ROI: 285.5%  |  Punto de Equilibrio: Mes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2304A"/>
                </a:solidFill>
                <a:latin typeface="Segoe UI"/>
              </a:defRPr>
            </a:pPr>
            <a:r>
              <a:t>11. Conclusiones, Ética y Sustentación Teórica</a:t>
            </a:r>
          </a:p>
          <a:p>
            <a:pPr>
              <a:defRPr sz="1300">
                <a:solidFill>
                  <a:srgbClr val="4A5560"/>
                </a:solidFill>
                <a:latin typeface="Segoe UI"/>
              </a:defRPr>
            </a:pPr>
            <a:r>
              <a:t>Síntesis de aprendizajes, límites del modelo y preparación ante el tribunal evaluador.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0" y="411480"/>
            <a:ext cx="1371600" cy="411480"/>
          </a:xfrm>
          <a:prstGeom prst="roundRect">
            <a:avLst/>
          </a:prstGeom>
          <a:solidFill>
            <a:srgbClr val="EAF3F8"/>
          </a:solidFill>
          <a:ln w="12700">
            <a:solidFill>
              <a:srgbClr val="1F5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F5D78"/>
                </a:solidFill>
                <a:latin typeface="Segoe UI"/>
              </a:defRPr>
            </a:pPr>
            <a:r>
              <a:t>21:00–23:00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CONCLUSIONES TÉCNICAS Y OPERATIVAS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Integración Real: Se logró una solución analítica completa que conecta SQL Server, modelos KDD en Python y Power BI nativo.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Respeto a la Integridad de Datos: Se preservaron las 63,467 solicitudes actuales sin duración y los 14,310 casos fuera de clúster sin forzar imputaciones artificiales.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Acción sobre Causalidad: El tablero no prueba causas, pero orienta investigaciones de campo con precisión de datos verificada.</a:t>
            </a:r>
          </a:p>
          <a:p>
            <a:pPr>
              <a:spcBef>
                <a:spcPts val="600"/>
              </a:spcBef>
              <a:defRPr sz="1100">
                <a:solidFill>
                  <a:srgbClr val="4A5560"/>
                </a:solidFill>
              </a:defRPr>
            </a:pPr>
            <a:r>
              <a:t>• Valor Ciudadano: Permite una distribución más justa y equitativa de los recursos municipales entre distritos.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37360"/>
            <a:ext cx="5029200" cy="4480560"/>
          </a:xfrm>
          <a:prstGeom prst="rect">
            <a:avLst/>
          </a:prstGeom>
          <a:noFill/>
        </p:spPr>
        <p:txBody>
          <a:bodyPr wrap="square" lIns="137160" tIns="137160" rIns="137160" bIns="137160">
            <a:spAutoFit/>
          </a:bodyPr>
          <a:lstStyle/>
          <a:p>
            <a:pPr>
              <a:defRPr b="1" sz="1300">
                <a:solidFill>
                  <a:srgbClr val="1F5D78"/>
                </a:solidFill>
              </a:defRPr>
            </a:pPr>
            <a:r>
              <a:t>DOMINIO TEÓRICO ANTE EL TRIBUNAL</a:t>
            </a:r>
          </a:p>
          <a:p>
            <a:pPr>
              <a:spcBef>
                <a:spcPts val="500"/>
              </a:spcBef>
              <a:defRPr b="1" sz="1100">
                <a:solidFill>
                  <a:srgbClr val="12304A"/>
                </a:solidFill>
              </a:defRPr>
            </a:pPr>
            <a:r>
              <a:t>¿Por qué P75 no es SLA?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→ Es un umbral histórico interno derivado del periodo abril–julio 2026 (4,329 min), no un compromiso contractual normativo.</a:t>
            </a:r>
          </a:p>
          <a:p>
            <a:pPr>
              <a:spcBef>
                <a:spcPts val="500"/>
              </a:spcBef>
              <a:defRPr b="1" sz="1100">
                <a:solidFill>
                  <a:srgbClr val="12304A"/>
                </a:solidFill>
              </a:defRPr>
            </a:pPr>
            <a:r>
              <a:t>¿Por qué K-Means no agrupó tickets individuales?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→ Porque se modelaron perfiles operativos por agencia+queja+borough; F2 documentó 480 y la publicación BI actual reejecutada conserva 481.</a:t>
            </a:r>
          </a:p>
          <a:p>
            <a:pPr>
              <a:spcBef>
                <a:spcPts val="500"/>
              </a:spcBef>
              <a:defRPr b="1" sz="1100">
                <a:solidFill>
                  <a:srgbClr val="12304A"/>
                </a:solidFill>
              </a:defRPr>
            </a:pPr>
            <a:r>
              <a:t>¿Por qué Import y no DirectQuery?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→ Import asegura estabilidad, tiempo de respuesta &lt;1s y autonomía frente a caídas de red durante la defensa oral.</a:t>
            </a:r>
          </a:p>
          <a:p>
            <a:pPr>
              <a:spcBef>
                <a:spcPts val="500"/>
              </a:spcBef>
              <a:defRPr b="1" sz="1100">
                <a:solidFill>
                  <a:srgbClr val="12304A"/>
                </a:solidFill>
              </a:defRPr>
            </a:pPr>
            <a:r>
              <a:t>¿El ROI es dinero real ganado?</a:t>
            </a:r>
          </a:p>
          <a:p>
            <a:pPr>
              <a:defRPr sz="1000">
                <a:solidFill>
                  <a:srgbClr val="4A5560"/>
                </a:solidFill>
              </a:defRPr>
            </a:pPr>
            <a:r>
              <a:t>  → Es una estimación de ahorro en horas y reprocesos en un servicio público, modelado con escenarios transparentes.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