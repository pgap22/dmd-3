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4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5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6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7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ddafb87ba2481c" /><Relationship Type="http://schemas.openxmlformats.org/officeDocument/2006/relationships/extended-properties" Target="/docProps/app.xml" Id="R58cbd0a3422747fb" /><Relationship Type="http://schemas.openxmlformats.org/officeDocument/2006/relationships/officeDocument" Target="/ppt/presentation.xml" Id="R613bb3dcb86c40f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6757fb37f0483c"/>
  </p:sldMasterIdLst>
  <p:notesMasterIdLst>
    <p:notesMasterId xmlns:r="http://schemas.openxmlformats.org/officeDocument/2006/relationships" r:id="Ref76bd8c887549a4"/>
  </p:notesMasterIdLst>
  <p:sldIdLst>
    <p:sldId xmlns:r="http://schemas.openxmlformats.org/officeDocument/2006/relationships" id="256" r:id="R416ccc6650114ac5"/>
    <p:sldId xmlns:r="http://schemas.openxmlformats.org/officeDocument/2006/relationships" id="257" r:id="R2c57bdecbaae48ba"/>
    <p:sldId xmlns:r="http://schemas.openxmlformats.org/officeDocument/2006/relationships" id="258" r:id="Rc1578c0b7bbb4f32"/>
    <p:sldId xmlns:r="http://schemas.openxmlformats.org/officeDocument/2006/relationships" id="259" r:id="Rb768969229e44dd5"/>
    <p:sldId xmlns:r="http://schemas.openxmlformats.org/officeDocument/2006/relationships" id="260" r:id="R2d5b77749bf74a05"/>
    <p:sldId xmlns:r="http://schemas.openxmlformats.org/officeDocument/2006/relationships" id="261" r:id="Rb9711736a051489d"/>
    <p:sldId xmlns:r="http://schemas.openxmlformats.org/officeDocument/2006/relationships" id="262" r:id="Rf64dee6633124327"/>
    <p:sldId xmlns:r="http://schemas.openxmlformats.org/officeDocument/2006/relationships" id="263" r:id="R8330938d63cb4664"/>
    <p:sldId xmlns:r="http://schemas.openxmlformats.org/officeDocument/2006/relationships" id="264" r:id="Rd6823ae0847c492c"/>
    <p:sldId xmlns:r="http://schemas.openxmlformats.org/officeDocument/2006/relationships" id="265" r:id="R9ebb1857b12a4700"/>
    <p:sldId xmlns:r="http://schemas.openxmlformats.org/officeDocument/2006/relationships" id="266" r:id="R8a7d1131f93a4265"/>
    <p:sldId xmlns:r="http://schemas.openxmlformats.org/officeDocument/2006/relationships" id="267" r:id="Rc774fe2820504c8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22af0b010a4e52" /><Relationship Type="http://schemas.openxmlformats.org/officeDocument/2006/relationships/slideMaster" Target="/ppt/slideMasters/slideMaster1.xml" Id="Rd16757fb37f0483c" /><Relationship Type="http://schemas.openxmlformats.org/officeDocument/2006/relationships/notesMaster" Target="/ppt/notesMasters/notesMaster1.xml" Id="Ref76bd8c887549a4" /><Relationship Type="http://schemas.openxmlformats.org/officeDocument/2006/relationships/presProps" Target="/ppt/presProps.xml" Id="Rc4ad12ac09054338" /><Relationship Type="http://schemas.openxmlformats.org/officeDocument/2006/relationships/tableStyles" Target="/ppt/tableStyles.xml" Id="Rbea85e647f424e4b" /><Relationship Type="http://schemas.openxmlformats.org/officeDocument/2006/relationships/slide" Target="/ppt/slides/slide1.xml" Id="R416ccc6650114ac5" /><Relationship Type="http://schemas.openxmlformats.org/officeDocument/2006/relationships/slide" Target="/ppt/slides/slide2.xml" Id="R2c57bdecbaae48ba" /><Relationship Type="http://schemas.openxmlformats.org/officeDocument/2006/relationships/slide" Target="/ppt/slides/slide3.xml" Id="Rc1578c0b7bbb4f32" /><Relationship Type="http://schemas.openxmlformats.org/officeDocument/2006/relationships/slide" Target="/ppt/slides/slide4.xml" Id="Rb768969229e44dd5" /><Relationship Type="http://schemas.openxmlformats.org/officeDocument/2006/relationships/slide" Target="/ppt/slides/slide5.xml" Id="R2d5b77749bf74a05" /><Relationship Type="http://schemas.openxmlformats.org/officeDocument/2006/relationships/slide" Target="/ppt/slides/slide6.xml" Id="Rb9711736a051489d" /><Relationship Type="http://schemas.openxmlformats.org/officeDocument/2006/relationships/slide" Target="/ppt/slides/slide7.xml" Id="Rf64dee6633124327" /><Relationship Type="http://schemas.openxmlformats.org/officeDocument/2006/relationships/slide" Target="/ppt/slides/slide8.xml" Id="R8330938d63cb4664" /><Relationship Type="http://schemas.openxmlformats.org/officeDocument/2006/relationships/slide" Target="/ppt/slides/slide9.xml" Id="Rd6823ae0847c492c" /><Relationship Type="http://schemas.openxmlformats.org/officeDocument/2006/relationships/slide" Target="/ppt/slides/slide10.xml" Id="R9ebb1857b12a4700" /><Relationship Type="http://schemas.openxmlformats.org/officeDocument/2006/relationships/slide" Target="/ppt/slides/slide11.xml" Id="R8a7d1131f93a4265" /><Relationship Type="http://schemas.openxmlformats.org/officeDocument/2006/relationships/slide" Target="/ppt/slides/slide12.xml" Id="Rc774fe2820504c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a6a5e42d71e46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1978bfd9824727" /><Relationship Type="http://schemas.openxmlformats.org/officeDocument/2006/relationships/notesMaster" Target="/ppt/notesMasters/notesMaster1.xml" Id="Re24bd797530a46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5470cac7c654662" /><Relationship Type="http://schemas.openxmlformats.org/officeDocument/2006/relationships/notesMaster" Target="/ppt/notesMasters/notesMaster1.xml" Id="Rf23ae7096dbe4b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81e7a8af374ecb" /><Relationship Type="http://schemas.openxmlformats.org/officeDocument/2006/relationships/notesMaster" Target="/ppt/notesMasters/notesMaster1.xml" Id="R44986a2fa3eb416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79003fb72fa47ec" /><Relationship Type="http://schemas.openxmlformats.org/officeDocument/2006/relationships/notesMaster" Target="/ppt/notesMasters/notesMaster1.xml" Id="R6e21a414d6cd429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1ed7453a814be2" /><Relationship Type="http://schemas.openxmlformats.org/officeDocument/2006/relationships/notesMaster" Target="/ppt/notesMasters/notesMaster1.xml" Id="R91f036fc7d32459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00f64ddd897437b" /><Relationship Type="http://schemas.openxmlformats.org/officeDocument/2006/relationships/notesMaster" Target="/ppt/notesMasters/notesMaster1.xml" Id="R15147cfab7cc40d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6d8a54701764b90" /><Relationship Type="http://schemas.openxmlformats.org/officeDocument/2006/relationships/notesMaster" Target="/ppt/notesMasters/notesMaster1.xml" Id="R7709c81e6274417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638c4042e134fe4" /><Relationship Type="http://schemas.openxmlformats.org/officeDocument/2006/relationships/notesMaster" Target="/ppt/notesMasters/notesMaster1.xml" Id="Rf036c5845eef486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449ed0e992841b3" /><Relationship Type="http://schemas.openxmlformats.org/officeDocument/2006/relationships/notesMaster" Target="/ppt/notesMasters/notesMaster1.xml" Id="Rb29551aac10a4c1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67112eab5534284" /><Relationship Type="http://schemas.openxmlformats.org/officeDocument/2006/relationships/notesMaster" Target="/ppt/notesMasters/notesMaster1.xml" Id="R73e65684a5a442b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ca5c311dc3e465d" /><Relationship Type="http://schemas.openxmlformats.org/officeDocument/2006/relationships/notesMaster" Target="/ppt/notesMasters/notesMaster1.xml" Id="Ra655a4ac572848f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5341a66c5ec4415" /><Relationship Type="http://schemas.openxmlformats.org/officeDocument/2006/relationships/notesMaster" Target="/ppt/notesMasters/notesMaster1.xml" Id="R83539fddf94541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interna: Fuentes de Fase 2 y validación del modelo BI (comprobación: 26 de octubre de 2026).</a:t>
            </a:r>
          </a:p>
          <a:p xmlns:a="http://schemas.openxmlformats.org/drawingml/2006/main">
            <a:r>
              <a:t>Portada académica. La cifra grande corresponde al universo validado en SQL Server y Power BI.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interna: Informe de Fase 2 y validación del modelo BI.</a:t>
            </a:r>
          </a:p>
          <a:p xmlns:a="http://schemas.openxmlformats.org/drawingml/2006/main">
            <a:r>
              <a:t>La duración NULL no es demora normal. El P75 es la regla histórica usada para demora_alta y no representa un compromiso de servicio.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interna: Validación del modelo BI, sección de medidas DAX.</a:t>
            </a:r>
          </a:p>
          <a:p xmlns:a="http://schemas.openxmlformats.org/drawingml/2006/main">
            <a:r>
              <a:t>La tasa de demora alta usa como denominador las 1,230,737 solicitudes con duración observada.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interna: DDL y paquete SSIS de Fase 1; guía de integración y ficha del modelo BI.</a:t>
            </a:r>
          </a:p>
          <a:p xmlns:a="http://schemas.openxmlformats.org/drawingml/2006/main">
            <a:r>
              <a:t>El diagrama conserva únicamente objetos y relaciones documentados. La ejecución histórica del SSIS se presenta como evidencia de Fase 1, no como una ejecución repetida en esta sesión.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interna: Informe de Fase 2, guía de defensa y ficha de hechos comprobados.</a:t>
            </a:r>
          </a:p>
          <a:p xmlns:a="http://schemas.openxmlformats.org/drawingml/2006/main">
            <a:r>
              <a:t>El P75 se calculó sobre las duraciones observadas de abril–julio 2026. La etiqueta no se asigna a solicitudes sin duración.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interna: Informe de Fase 2, ficha de hechos comprobados y validación del modelo BI.</a:t>
            </a:r>
          </a:p>
          <a:p xmlns:a="http://schemas.openxmlformats.org/drawingml/2006/main">
            <a:r>
              <a:t>Los valores de volumen corresponden a la vista BI validada. Sin perfil K-Means no es un cuarto clúster y se conserva como categoría de auditoría.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interna: Informe de Fase 2, guía de defensa y especificación del dashboard.</a:t>
            </a:r>
          </a:p>
          <a:p xmlns:a="http://schemas.openxmlformats.org/drawingml/2006/main">
            <a:r>
              <a:t>La cifra de 2,982 corresponde a falsos negativos reportados en prueba. No se presenta como una cantidad operativa actual.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interna: La diapositiva resume las medidas del PBIX final: solicitudes distintas, mediana observada y cobertura de duración.</a:t>
            </a:r>
          </a:p>
          <a:p xmlns:a="http://schemas.openxmlformats.org/drawingml/2006/main">
            <a:r>
              <a:t>Las cifras distinguen casos observados de casos sin duración; no se imputan demoras.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interna: La diapositiva usa medidas y el filtro de Bronx validados contra el modelo tabular del PBIX final.</a:t>
            </a:r>
          </a:p>
          <a:p xmlns:a="http://schemas.openxmlformats.org/drawingml/2006/main">
            <a:r>
              <a:t>La mediana solo describe cierres observados; el tablero sirve para orientar capacidad y priorizar revisión, no para atribuir causas.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interna: Informe de Fase 2, guía de integración y validación del modelo BI.</a:t>
            </a:r>
          </a:p>
          <a:p xmlns:a="http://schemas.openxmlformats.org/drawingml/2006/main">
            <a:r>
              <a:t>La segmentación no asigna un clúster a cada ticket por inferencia individual. La vista BI expone los casos fuera de perfil para auditoría.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interna: Documento Fase 3, sección de costos y viabilidad; guía de costos y ficha del modelo BI.</a:t>
            </a:r>
          </a:p>
          <a:p xmlns:a="http://schemas.openxmlformats.org/drawingml/2006/main">
            <a:r>
              <a:t>El CAPEX, OPEX, TCO y ROI son supuestos de escenario para defender viabilidad. No representan un retorno observado por NYC311.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interna: Validación del modelo BI, guion de defensa y guía de defensa.</a:t>
            </a:r>
          </a:p>
          <a:p xmlns:a="http://schemas.openxmlformats.org/drawingml/2006/main">
            <a:r>
              <a:t>Las tres interacciones de demo están documentadas como consultas DAX parametrizadas. La revisión humana final debe abrir el PBIX en Power BI Desktop.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5e4517721e499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d1e9bd41d045d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6e8b567e124fc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189c9ecb2644a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c47ee9972a46b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4169cf061f4fb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D6CCBE4-36F9-4767-8086-C83B9D5FCC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F386680-6A4D-424B-BF15-8ADAC2E4DE4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4D99626-D4EB-4555-96C0-8683396B51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1ADE53C-AA93-4E97-842F-00AE1001D7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1AC3AF9-E195-4B37-B9C1-6212F72074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8FD6569-4D22-4D7D-A045-E5EECD05EA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D23353E-1FCB-4902-98F7-BD35E237677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28D4C90-66FE-435C-832D-2497594BF3E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11BA186-EDC2-4E29-9F48-1F41359700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D9A79B5-35C2-4387-8C28-2F8B51B1CF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4b8e07b9a64415" /><Relationship Type="http://schemas.openxmlformats.org/officeDocument/2006/relationships/slideLayout" Target="/ppt/slideLayouts/slideLayout1.xml" Id="Ra99f5372107d49d0" /><Relationship Type="http://schemas.openxmlformats.org/officeDocument/2006/relationships/slideLayout" Target="/ppt/slideLayouts/slideLayout2.xml" Id="R6a5b42ec90a14a2d" /><Relationship Type="http://schemas.openxmlformats.org/officeDocument/2006/relationships/slideLayout" Target="/ppt/slideLayouts/slideLayout3.xml" Id="R1eb4c84b132e4461" /><Relationship Type="http://schemas.openxmlformats.org/officeDocument/2006/relationships/slideLayout" Target="/ppt/slideLayouts/slideLayout4.xml" Id="Rb389f1e603274b27" /><Relationship Type="http://schemas.openxmlformats.org/officeDocument/2006/relationships/slideLayout" Target="/ppt/slideLayouts/slideLayout5.xml" Id="R602618ef3ca34a78" /><Relationship Type="http://schemas.openxmlformats.org/officeDocument/2006/relationships/slideLayout" Target="/ppt/slideLayouts/slideLayout6.xml" Id="R8a427df3bce74eb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9f5372107d49d0"/>
    <p:sldLayoutId xmlns:r="http://schemas.openxmlformats.org/officeDocument/2006/relationships" id="2147483650" r:id="R6a5b42ec90a14a2d"/>
    <p:sldLayoutId xmlns:r="http://schemas.openxmlformats.org/officeDocument/2006/relationships" id="2147483651" r:id="R1eb4c84b132e4461"/>
    <p:sldLayoutId xmlns:r="http://schemas.openxmlformats.org/officeDocument/2006/relationships" id="2147483652" r:id="Rb389f1e603274b27"/>
    <p:sldLayoutId xmlns:r="http://schemas.openxmlformats.org/officeDocument/2006/relationships" id="2147483653" r:id="R602618ef3ca34a78"/>
    <p:sldLayoutId xmlns:r="http://schemas.openxmlformats.org/officeDocument/2006/relationships" id="2147483654" r:id="R8a427df3bce74eb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f1b6c518644951" /><Relationship Type="http://schemas.openxmlformats.org/officeDocument/2006/relationships/notesSlide" Target="/ppt/notesSlides/notesSlide1.xml" Id="Rb867949c69234c3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c9cc408c9443c2" /><Relationship Type="http://schemas.openxmlformats.org/officeDocument/2006/relationships/chart" Target="/ppt/slides/charts/chart1.xml" Id="R9bc33e3111e14b10" /><Relationship Type="http://schemas.openxmlformats.org/officeDocument/2006/relationships/notesSlide" Target="/ppt/notesSlides/notesSlide2.xml" Id="Rc7a905d1e31242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46ab8453d94e83" /><Relationship Type="http://schemas.openxmlformats.org/officeDocument/2006/relationships/chart" Target="/ppt/slides/charts/chart2.xml" Id="R5275570cd9894f13" /><Relationship Type="http://schemas.openxmlformats.org/officeDocument/2006/relationships/notesSlide" Target="/ppt/notesSlides/notesSlide3.xml" Id="R49c9f7958d3d4b6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e78193040b4e6f" /><Relationship Type="http://schemas.openxmlformats.org/officeDocument/2006/relationships/notesSlide" Target="/ppt/notesSlides/notesSlide4.xml" Id="R28d23df44c6e41a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f3869436ed42ba" /><Relationship Type="http://schemas.openxmlformats.org/officeDocument/2006/relationships/chart" Target="/ppt/slides/charts/chart3.xml" Id="Rc6ecdfec12264f25" /><Relationship Type="http://schemas.openxmlformats.org/officeDocument/2006/relationships/notesSlide" Target="/ppt/notesSlides/notesSlide5.xml" Id="R30330104f5dd45c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c09241f2f24aad" /><Relationship Type="http://schemas.openxmlformats.org/officeDocument/2006/relationships/chart" Target="/ppt/slides/charts/chart4.xml" Id="R0fdb3d15c6494a0a" /><Relationship Type="http://schemas.openxmlformats.org/officeDocument/2006/relationships/notesSlide" Target="/ppt/notesSlides/notesSlide6.xml" Id="Raca5a6d85a0c485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dfaf59a0ac4bc6" /><Relationship Type="http://schemas.openxmlformats.org/officeDocument/2006/relationships/chart" Target="/ppt/slides/charts/chart5.xml" Id="R3a528e490f2543dd" /><Relationship Type="http://schemas.openxmlformats.org/officeDocument/2006/relationships/notesSlide" Target="/ppt/notesSlides/notesSlide7.xml" Id="R5eb3649994dd46d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a2f9897dcd405c" /><Relationship Type="http://schemas.openxmlformats.org/officeDocument/2006/relationships/chart" Target="/ppt/slides/charts/chart6.xml" Id="R491b0c22aa3e4da3" /><Relationship Type="http://schemas.openxmlformats.org/officeDocument/2006/relationships/notesSlide" Target="/ppt/notesSlides/notesSlide8.xml" Id="Ra7251f489bef4d1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e558fd533b4f44" /><Relationship Type="http://schemas.openxmlformats.org/officeDocument/2006/relationships/notesSlide" Target="/ppt/notesSlides/notesSlide9.xml" Id="R1179401993b4457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0a417aebb64ae3" /><Relationship Type="http://schemas.openxmlformats.org/officeDocument/2006/relationships/chart" Target="/ppt/slides/charts/chart7.xml" Id="Rf6650b295f634102" /><Relationship Type="http://schemas.openxmlformats.org/officeDocument/2006/relationships/notesSlide" Target="/ppt/notesSlides/notesSlide10.xml" Id="Rb9200c00020646a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34fdd574464798" /><Relationship Type="http://schemas.openxmlformats.org/officeDocument/2006/relationships/notesSlide" Target="/ppt/notesSlides/notesSlide11.xml" Id="R6b55a31d429e470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a7b090e0364cf2" /><Relationship Type="http://schemas.openxmlformats.org/officeDocument/2006/relationships/notesSlide" Target="/ppt/notesSlides/notesSlide12.xml" Id="R6b0e64f3d9ac412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4243D"/>
                </a:solidFill>
                <a:latin typeface="Arial"/>
                <a:ea typeface="Arial"/>
                <a:cs typeface="Arial"/>
              </a:rPr>
              <a:t>Minutos de resolución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solidFill>
                <a:srgbClr val="14243D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Minutos</c:v>
          </c:tx>
          <c:spPr>
            <a:solidFill xmlns:a="http://schemas.openxmlformats.org/drawingml/2006/main">
              <a:srgbClr val="2463EB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Mediana observada</c:v>
                </c:pt>
                <c:pt idx="1">
                  <c:v>P75 histórico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330</c:v>
                </c:pt>
                <c:pt idx="1">
                  <c:v>4329</c:v>
                </c:pt>
              </c:numCache>
            </c:numRef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4243D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1F6"/>
              </a:solidFill>
              <a:prstDash val="solid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9DE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E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4243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DEE8"/>
      </a:solidFill>
      <a:prstDash val="solid"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4243D"/>
                </a:solidFill>
                <a:latin typeface="Arial"/>
                <a:ea typeface="Arial"/>
                <a:cs typeface="Arial"/>
              </a:rPr>
              <a:t>Cobertura de duración observada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solidFill>
                <a:srgbClr val="14243D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Solicitudes</c:v>
          </c:tx>
          <c:spPr>
            <a:solidFill xmlns:a="http://schemas.openxmlformats.org/drawingml/2006/main">
              <a:srgbClr val="2463EB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Con duración</c:v>
                </c:pt>
                <c:pt idx="1">
                  <c:v>Sin duración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1230737</c:v>
                </c:pt>
                <c:pt idx="1">
                  <c:v>63079</c:v>
                </c:pt>
              </c:numCache>
            </c:numRef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4243D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1F6"/>
              </a:solidFill>
              <a:prstDash val="solid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9DE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E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4243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DEE8"/>
      </a:solidFill>
      <a:prstDash val="solid"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4243D"/>
                </a:solidFill>
                <a:latin typeface="Arial"/>
                <a:ea typeface="Arial"/>
                <a:cs typeface="Arial"/>
              </a:rPr>
              <a:t>Métricas del árbol en prueba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solidFill>
                <a:srgbClr val="14243D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Valor</c:v>
          </c:tx>
          <c:spPr>
            <a:solidFill xmlns:a="http://schemas.openxmlformats.org/drawingml/2006/main">
              <a:srgbClr val="2463EB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Recall</c:v>
                </c:pt>
                <c:pt idx="1">
                  <c:v>F1</c:v>
                </c:pt>
                <c:pt idx="2">
                  <c:v>ROC-AUC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0.9515</c:v>
                </c:pt>
                <c:pt idx="1">
                  <c:v>0.7837</c:v>
                </c:pt>
                <c:pt idx="2">
                  <c:v>0.952</c:v>
                </c:pt>
              </c:numCache>
            </c:numRef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4243D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1F6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9DE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E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4243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DEE8"/>
      </a:solidFill>
      <a:prstDash val="solid"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4243D"/>
                </a:solidFill>
                <a:latin typeface="Arial"/>
                <a:ea typeface="Arial"/>
                <a:cs typeface="Arial"/>
              </a:rPr>
              <a:t>Solicitudes por perfil y fuera de perfil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solidFill>
                <a:srgbClr val="14243D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Solicitudes</c:v>
          </c:tx>
          <c:spPr>
            <a:solidFill xmlns:a="http://schemas.openxmlformats.org/drawingml/2006/main">
              <a:srgbClr val="2463EB"/>
            </a:solidFill>
          </c:spPr>
          <c:invertIfNegative val="0"/>
          <c:dPt>
            <c:idx val="1"/>
            <c:invertIfNegative val="0"/>
            <c:spPr>
              <a:solidFill xmlns:a="http://schemas.openxmlformats.org/drawingml/2006/main">
                <a:srgbClr val="6D4AFF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9B8AF2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98A2B3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Rápida / baja demora</c:v>
                </c:pt>
                <c:pt idx="1">
                  <c:v>Prolongada / alta demora</c:v>
                </c:pt>
                <c:pt idx="2">
                  <c:v>Rezago crítico</c:v>
                </c:pt>
                <c:pt idx="3">
                  <c:v>Sin perfil K-Means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899050</c:v>
                </c:pt>
                <c:pt idx="1">
                  <c:v>351275</c:v>
                </c:pt>
                <c:pt idx="2">
                  <c:v>29467</c:v>
                </c:pt>
                <c:pt idx="3">
                  <c:v>14024</c:v>
                </c:pt>
              </c:numCache>
            </c:numRef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4243D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1F6"/>
              </a:solidFill>
              <a:prstDash val="solid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9DE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E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4243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DEE8"/>
      </a:solidFill>
      <a:prstDash val="solid"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4243D"/>
                </a:solidFill>
                <a:latin typeface="Arial"/>
                <a:ea typeface="Arial"/>
                <a:cs typeface="Arial"/>
              </a:rPr>
              <a:t>Demoras verdaderas en el conjunto de prueba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solidFill>
                <a:srgbClr val="14243D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Casos</c:v>
          </c:tx>
          <c:spPr>
            <a:solidFill xmlns:a="http://schemas.openxmlformats.org/drawingml/2006/main">
              <a:srgbClr val="2463EB"/>
            </a:solidFill>
          </c:spPr>
          <c:invertIfNegative val="0"/>
          <c:dPt>
            <c:idx val="1"/>
            <c:invertIfNegative val="0"/>
            <c:spPr>
              <a:solidFill xmlns:a="http://schemas.openxmlformats.org/drawingml/2006/main">
                <a:srgbClr val="B85C68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Detectadas</c:v>
                </c:pt>
                <c:pt idx="1">
                  <c:v>No detectadas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58549</c:v>
                </c:pt>
                <c:pt idx="1">
                  <c:v>2982</c:v>
                </c:pt>
              </c:numCache>
            </c:numRef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4243D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1F6"/>
              </a:solidFill>
              <a:prstDash val="solid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9DE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E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4243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DEE8"/>
      </a:solidFill>
      <a:prstDash val="solid"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4243D"/>
                </a:solidFill>
                <a:latin typeface="Arial"/>
                <a:ea typeface="Arial"/>
                <a:cs typeface="Arial"/>
              </a:rPr>
              <a:t>Cobertura temporal de las solicitudes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solidFill>
                <a:srgbClr val="14243D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Solicitudes</c:v>
          </c:tx>
          <c:spPr>
            <a:solidFill xmlns:a="http://schemas.openxmlformats.org/drawingml/2006/main">
              <a:srgbClr val="2463EB"/>
            </a:solidFill>
          </c:spPr>
          <c:invertIfNegative val="0"/>
          <c:dPt>
            <c:idx val="1"/>
            <c:invertIfNegative val="0"/>
            <c:spPr>
              <a:solidFill xmlns:a="http://schemas.openxmlformats.org/drawingml/2006/main">
                <a:srgbClr val="B85C68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Con duración observada</c:v>
                </c:pt>
                <c:pt idx="1">
                  <c:v>Sin duración observada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1230737</c:v>
                </c:pt>
                <c:pt idx="1">
                  <c:v>63079</c:v>
                </c:pt>
              </c:numCache>
            </c:numRef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4243D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1F6"/>
              </a:solidFill>
              <a:prstDash val="solid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9DE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E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4243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DEE8"/>
      </a:solidFill>
      <a:prstDash val="solid"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4243D"/>
                </a:solidFill>
                <a:latin typeface="Arial"/>
                <a:ea typeface="Arial"/>
                <a:cs typeface="Arial"/>
              </a:rPr>
              <a:t>Volumen por perfil operativo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solidFill>
                <a:srgbClr val="14243D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Solicitudes</c:v>
          </c:tx>
          <c:spPr>
            <a:solidFill xmlns:a="http://schemas.openxmlformats.org/drawingml/2006/main">
              <a:srgbClr val="2463EB"/>
            </a:solidFill>
          </c:spPr>
          <c:invertIfNegative val="0"/>
          <c:dPt>
            <c:idx val="1"/>
            <c:invertIfNegative val="0"/>
            <c:spPr>
              <a:solidFill xmlns:a="http://schemas.openxmlformats.org/drawingml/2006/main">
                <a:srgbClr val="6D4AFF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9B8AF2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98A2B3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Rápida / baja demora</c:v>
                </c:pt>
                <c:pt idx="1">
                  <c:v>Prolongada / alta demora</c:v>
                </c:pt>
                <c:pt idx="2">
                  <c:v>Rezago crítico</c:v>
                </c:pt>
                <c:pt idx="3">
                  <c:v>Sin perfil K-Means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899050</c:v>
                </c:pt>
                <c:pt idx="1">
                  <c:v>351275</c:v>
                </c:pt>
                <c:pt idx="2">
                  <c:v>29467</c:v>
                </c:pt>
                <c:pt idx="3">
                  <c:v>14024</c:v>
                </c:pt>
              </c:numCache>
            </c:numRef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4243D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1F6"/>
              </a:solidFill>
              <a:prstDash val="solid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9DE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E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4243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DEE8"/>
      </a:solidFill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358354-F69A-4E55-AFF5-2DAA1B49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463EB"/>
                </a:solidFill>
                <a:latin typeface="Arial"/>
                <a:ea typeface="Arial"/>
                <a:cs typeface="Arial"/>
              </a:rPr>
              <a:t>DMD104 / UNIVERSIDAD DON BOSCO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D2A8FA-770D-4A0A-B614-FB293ABA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6191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2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defPPr>
            <a:lvl1pPr algn="l">
              <a:defRPr sz="52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1pPr>
            <a:lvl2pPr algn="l">
              <a:defRPr sz="52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2pPr>
            <a:lvl3pPr algn="l">
              <a:defRPr sz="52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3pPr>
            <a:lvl4pPr algn="l">
              <a:defRPr sz="52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4pPr>
            <a:lvl5pPr algn="l">
              <a:defRPr sz="52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5pPr>
            <a:lvl6pPr algn="l">
              <a:defRPr sz="52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6pPr>
            <a:lvl7pPr algn="l">
              <a:defRPr sz="52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7pPr>
            <a:lvl8pPr algn="l">
              <a:defRPr sz="52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8pPr>
            <a:lvl9pPr algn="l">
              <a:defRPr sz="52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88000"/>
              </a:lnSpc>
              <a:buNone/>
              <a:defRPr sz="52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pPr>
            <a:r>
              <a:rPr sz="5250" b="1" i="0">
                <a:solidFill>
                  <a:srgbClr val="14243D"/>
                </a:solidFill>
                <a:latin typeface="Arial"/>
                <a:ea typeface="Arial"/>
                <a:cs typeface="Arial"/>
              </a:rPr>
              <a:t>NYC311</a:t>
            </a:r>
          </a:p>
          <a:p xmlns:a="http://schemas.openxmlformats.org/drawingml/2006/main">
            <a:pPr algn="l">
              <a:lnSpc>
                <a:spcPct val="88000"/>
              </a:lnSpc>
              <a:buNone/>
              <a:defRPr sz="52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pPr>
            <a:r>
              <a:rPr sz="5250" b="1" i="0">
                <a:solidFill>
                  <a:srgbClr val="14243D"/>
                </a:solidFill>
                <a:latin typeface="Arial"/>
                <a:ea typeface="Arial"/>
                <a:cs typeface="Arial"/>
              </a:rPr>
              <a:t>Fase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CD2C43-AB02-48C5-A806-12B486FB4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Del dato abierto a la decisión operativa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F713A1-FA5C-4A6F-96E6-04F539DD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Data Warehouse · Minería · Power BI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0E3A0F-DCC5-4652-838C-16FE3A59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43400"/>
            <a:ext cx="523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D4A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4A79E4-6EB1-4985-A762-1170AB3CA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529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Defensa · 26 octubre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872F6F-7832-4266-82F6-22116DA8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01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Lemus Mejía · Bonilla Saz · Chávez Castillo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López Ortiz · Galdámez Soto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233E47-0727-481A-B12D-40B531C0A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95300"/>
            <a:ext cx="2571750" cy="58102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14243D"/>
          </a:solidFill>
          <a:ln xmlns:a="http://schemas.openxmlformats.org/drawingml/2006/main" w="0">
            <a:solidFill>
              <a:srgbClr val="1424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80390B-6B7F-4AC9-80A3-CFB30468E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181100"/>
            <a:ext cx="1809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7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57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57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57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57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57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57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57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57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57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82000"/>
              </a:lnSpc>
              <a:buNone/>
              <a:defRPr sz="57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NYC</a:t>
            </a:r>
          </a:p>
          <a:p xmlns:a="http://schemas.openxmlformats.org/drawingml/2006/main">
            <a:pPr algn="l">
              <a:lnSpc>
                <a:spcPct val="82000"/>
              </a:lnSpc>
              <a:buNone/>
              <a:defRPr sz="57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311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06D8F7-19D1-49C5-96A5-FDFFB231A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28950"/>
            <a:ext cx="1447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6D4A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FC2F4F-ADA3-4D4B-928F-440B8B632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29000"/>
            <a:ext cx="1619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95000"/>
              </a:lnSpc>
              <a:buNone/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1,293,816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solicitudes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3663CE-4E1D-46CF-B26E-F0DDCAEEA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005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DCE8FF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DCE8FF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DCE8FF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DCE8FF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DCE8FF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DCE8FF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DCE8FF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DCE8FF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DCE8FF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DCE8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DCE8FF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DCE8FF"/>
                </a:solidFill>
                <a:latin typeface="Arial"/>
                <a:ea typeface="Arial"/>
                <a:cs typeface="Arial"/>
              </a:rPr>
              <a:t>abril–julio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D41A46-F438-488D-90C3-5DC3CBA5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3721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F1  →  F2  →  F3</a:t>
            </a:r>
          </a:p>
        </p:txBody>
      </p:sp>
    </p:spTree>
    <p:extLst>
      <p:ext uri="{BB962C8B-B14F-4D97-AF65-F5344CB8AC3E}">
        <p14:creationId xmlns:p14="http://schemas.microsoft.com/office/powerpoint/2010/main" val="13469792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C05232-B395-43F8-AD14-D1ED4166A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463EB"/>
                </a:solidFill>
                <a:latin typeface="Arial"/>
                <a:ea typeface="Arial"/>
                <a:cs typeface="Arial"/>
              </a:rPr>
              <a:t>NYC311 / FASE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FC14F7-DEE7-4E17-B790-C801E879B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85750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98A2B3"/>
                </a:solidFill>
                <a:latin typeface="Arial"/>
                <a:ea typeface="Arial"/>
                <a:cs typeface="Arial"/>
              </a:rPr>
              <a:t>02 /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D97C35-65AD-431B-86CD-8F4C67515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236"/>
          </a:bodyPr>
          <a:lstStyle xmlns:a="http://schemas.openxmlformats.org/drawingml/2006/main">
            <a:def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95000"/>
              </a:lnSpc>
              <a:buNone/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4243D"/>
                </a:solidFill>
                <a:latin typeface="Arial"/>
                <a:ea typeface="Arial"/>
                <a:cs typeface="Arial"/>
              </a:rPr>
              <a:t>La demora está concentrada y el dato faltante debe quedar visible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84D9CD-5AFA-4C97-AB27-184A76FB3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Período F2: abril–julio 2026. La pregunta es dónde priorizar atención sin imputar cierres que no existen.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A734BB-DA2E-4FAB-9F9F-9D93410E8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0DA73F-DFA1-4F5A-88D8-A42AA095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4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4243D"/>
                </a:solidFill>
                <a:latin typeface="Arial"/>
                <a:ea typeface="Arial"/>
                <a:cs typeface="Arial"/>
              </a:rPr>
              <a:t>1,293,816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65997A-AEE3-4D77-857B-3B7709B2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solicitudes en el universo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E96594-998B-4A90-BAE9-C05EC02EB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 i="0">
                <a:solidFill>
                  <a:srgbClr val="B85C68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 i="0">
                <a:solidFill>
                  <a:srgbClr val="B85C68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 i="0">
                <a:solidFill>
                  <a:srgbClr val="B85C68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 i="0">
                <a:solidFill>
                  <a:srgbClr val="B85C68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 i="0">
                <a:solidFill>
                  <a:srgbClr val="B85C68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 i="0">
                <a:solidFill>
                  <a:srgbClr val="B85C68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 i="0">
                <a:solidFill>
                  <a:srgbClr val="B85C68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 i="0">
                <a:solidFill>
                  <a:srgbClr val="B85C68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 i="0">
                <a:solidFill>
                  <a:srgbClr val="B85C68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 i="0">
                <a:solidFill>
                  <a:srgbClr val="B85C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450" b="1" i="0">
                <a:solidFill>
                  <a:srgbClr val="B85C68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B85C68"/>
                </a:solidFill>
                <a:latin typeface="Arial"/>
                <a:ea typeface="Arial"/>
                <a:cs typeface="Arial"/>
              </a:rPr>
              <a:t>63,079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C0E76D-260E-44B9-B849-085F80CD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sin duración observada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3467C8-ADBA-4E33-BB82-42F517106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398"/>
          </a:bodyPr>
          <a:lstStyle xmlns:a="http://schemas.openxmlformats.org/drawingml/2006/main">
            <a:def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El 4.87% del universo no tiene fecha de cierre. Se conserva como NULL y queda fuera de la etiqueta de demora alta.</a:t>
            </a:r>
          </a:p>
        </p:txBody>
      </p:sp>
      <p:graphicFrame>
        <p:nvGraphicFramePr>
          <p:cNvPr id="11" name="Chart">
            <a:extLst xmlns:a="http://schemas.openxmlformats.org/drawingml/2006/main">
              <a:ext uri="{FF2B5EF4-FFF2-40B4-BE49-F238E27FC236}">
                <a16:creationId xmlns:a16="http://schemas.microsoft.com/office/drawing/2014/main" id="{0A6840DF-215B-42EB-B600-883E4381EBFA}"/>
              </a:ext>
            </a:extLst>
          </p:cNvPr>
          <p:cNvGraphicFramePr/>
          <p:nvPr/>
        </p:nvGraphicFramePr>
        <p:xfrm>
          <a:off xmlns:a="http://schemas.openxmlformats.org/drawingml/2006/main" x="5619750" y="2190750"/>
          <a:ext xmlns:a="http://schemas.openxmlformats.org/drawingml/2006/main" cx="57150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bc33e3111e14b10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7E5EF7-8C21-442E-9211-B9A86CC3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75310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P75 = 4,329 min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Umbral histórico, no SLA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D8549D-8A5B-4B16-A4B2-DF53A9C1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98A2B3"/>
                </a:solidFill>
                <a:latin typeface="Arial"/>
                <a:ea typeface="Arial"/>
                <a:cs typeface="Arial"/>
              </a:rPr>
              <a:t>Fuente: Fase 2 README y validación BI. La mediana se calcula solo con duración observada.</a:t>
            </a:r>
          </a:p>
        </p:txBody>
      </p:sp>
    </p:spTree>
    <p:extLst>
      <p:ext uri="{BB962C8B-B14F-4D97-AF65-F5344CB8AC3E}">
        <p14:creationId xmlns:p14="http://schemas.microsoft.com/office/powerpoint/2010/main" val="14509308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158AB8-38DD-425B-99AE-F537FDE65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463EB"/>
                </a:solidFill>
                <a:latin typeface="Arial"/>
                <a:ea typeface="Arial"/>
                <a:cs typeface="Arial"/>
              </a:rPr>
              <a:t>NYC311 / FASE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12D135-9D9B-4213-81B2-C9274A555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85750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98A2B3"/>
                </a:solidFill>
                <a:latin typeface="Arial"/>
                <a:ea typeface="Arial"/>
                <a:cs typeface="Arial"/>
              </a:rPr>
              <a:t>03 /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101E19-6C51-4BDF-82B3-EF2F98828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95000"/>
              </a:lnSpc>
              <a:buNone/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4243D"/>
                </a:solidFill>
                <a:latin typeface="Arial"/>
                <a:ea typeface="Arial"/>
                <a:cs typeface="Arial"/>
              </a:rPr>
              <a:t>La cuadratura se conserva del DW al tablero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BCB72D-1860-4891-928B-D0244DE24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El modelo BI mantiene el grano de una fila por solicitud y el LEFT JOIN no multiplica registros.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91930C-6C84-4195-983A-EBF0D9C0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1AA1CC-FDC9-4C6D-A976-B6276AAA7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defPPr>
            <a:lvl1pPr algn="l">
              <a:defRPr sz="420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1pPr>
            <a:lvl2pPr algn="l">
              <a:defRPr sz="420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2pPr>
            <a:lvl3pPr algn="l">
              <a:defRPr sz="420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3pPr>
            <a:lvl4pPr algn="l">
              <a:defRPr sz="420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4pPr>
            <a:lvl5pPr algn="l">
              <a:defRPr sz="420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5pPr>
            <a:lvl6pPr algn="l">
              <a:defRPr sz="420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6pPr>
            <a:lvl7pPr algn="l">
              <a:defRPr sz="420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7pPr>
            <a:lvl8pPr algn="l">
              <a:defRPr sz="420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8pPr>
            <a:lvl9pPr algn="l">
              <a:defRPr sz="420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420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pPr>
            <a:r>
              <a:rPr sz="4200" b="1" i="0">
                <a:solidFill>
                  <a:srgbClr val="14243D"/>
                </a:solidFill>
                <a:latin typeface="Arial"/>
                <a:ea typeface="Arial"/>
                <a:cs typeface="Arial"/>
              </a:rPr>
              <a:t>1,293,816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A0E391-5E81-46C6-B26B-9BD8A7116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765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DW · minería · vista BI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E25F05-364C-4F06-B2EA-3B239A8F2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390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C54CEF-EAD9-418A-B33F-E14858CF2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 fila = 1 solicitud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Cero multiplicación en la integración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13862D-FF52-4368-81F8-401E0F3A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3667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909"/>
          </a:bodyPr>
          <a:lstStyle xmlns:a="http://schemas.openxmlformats.org/drawingml/2006/main">
            <a:defPPr algn="l">
              <a:defRPr sz="12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La población con duración observada y la población sin duración suman exactamente el universo.</a:t>
            </a:r>
          </a:p>
        </p:txBody>
      </p:sp>
      <p:graphicFrame>
        <p:nvGraphicFramePr>
          <p:cNvPr id="11" name="Chart">
            <a:extLst xmlns:a="http://schemas.openxmlformats.org/drawingml/2006/main">
              <a:ext uri="{FF2B5EF4-FFF2-40B4-BE49-F238E27FC236}">
                <a16:creationId xmlns:a16="http://schemas.microsoft.com/office/drawing/2014/main" id="{EB3D1F60-1A79-4AC8-9DE7-F0802E0DAEA4}"/>
              </a:ext>
            </a:extLst>
          </p:cNvPr>
          <p:cNvGraphicFramePr/>
          <p:nvPr/>
        </p:nvGraphicFramePr>
        <p:xfrm>
          <a:off xmlns:a="http://schemas.openxmlformats.org/drawingml/2006/main" x="5334000" y="2209800"/>
          <a:ext xmlns:a="http://schemas.openxmlformats.org/drawingml/2006/main" cx="6048375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275570cd9894f13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319E84-1DAF-444D-AA5E-C6E83FA10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391150"/>
            <a:ext cx="6048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6D4AFF"/>
                </a:solidFill>
                <a:latin typeface="Arial"/>
                <a:ea typeface="Arial"/>
                <a:cs typeface="Arial"/>
              </a:rPr>
              <a:t>307,656 demoras altas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6D4AFF"/>
                </a:solidFill>
                <a:latin typeface="Arial"/>
                <a:ea typeface="Arial"/>
                <a:cs typeface="Arial"/>
              </a:rPr>
              <a:t>25.0% entre los 1,230,737 casos con tiempo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403368-33B7-4363-8D95-4B94DB61F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98A2B3"/>
                </a:solidFill>
                <a:latin typeface="Arial"/>
                <a:ea typeface="Arial"/>
                <a:cs typeface="Arial"/>
              </a:rPr>
              <a:t>Fuente: validación del modelo BI y medidas DAX ejecutadas en VertiPaq.</a:t>
            </a:r>
          </a:p>
        </p:txBody>
      </p:sp>
    </p:spTree>
    <p:extLst>
      <p:ext uri="{BB962C8B-B14F-4D97-AF65-F5344CB8AC3E}">
        <p14:creationId xmlns:p14="http://schemas.microsoft.com/office/powerpoint/2010/main" val="17182074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EAFC79-0403-42FE-92BA-D010CF5D7E62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343900" y="30956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8A2B3"/>
            </a:solidFill>
            <a:prstDash val="solid"/>
            <a:tailEnd type="triangle" w="sm" len="sm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0280FE-663D-43B7-8148-A4C7F7998E1D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657850" y="30956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8A2B3"/>
            </a:solidFill>
            <a:prstDash val="solid"/>
            <a:tailEnd type="triangle" w="sm" len="sm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C082FD-9B14-40F9-ADAB-8FF12D309CA6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971800" y="30956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8A2B3"/>
            </a:solidFill>
            <a:prstDash val="solid"/>
            <a:tailEnd type="triangle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C143A10-4E6A-4451-B5FB-0372C3714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463EB"/>
                </a:solidFill>
                <a:latin typeface="Arial"/>
                <a:ea typeface="Arial"/>
                <a:cs typeface="Arial"/>
              </a:rPr>
              <a:t>NYC311 / FASE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FE6296-9294-475C-8230-35BE0AB17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85750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98A2B3"/>
                </a:solidFill>
                <a:latin typeface="Arial"/>
                <a:ea typeface="Arial"/>
                <a:cs typeface="Arial"/>
              </a:rPr>
              <a:t>04 /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BFE1DB-7036-4CE2-9C6A-40EB04D1D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95000"/>
              </a:lnSpc>
              <a:buNone/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4243D"/>
                </a:solidFill>
                <a:latin typeface="Arial"/>
                <a:ea typeface="Arial"/>
                <a:cs typeface="Arial"/>
              </a:rPr>
              <a:t>Arquitectura F1: una cadena de datos con grano explícito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9C92E7-510A-4585-9E1F-3525FAD90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La Fase 1 prepara el hecho dimensional que F2 y F3 consumen sin cambiar la unidad de análisis.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7DDD42-2F06-4CF4-9EA3-5E620754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75B86E-7888-4A45-9C5D-1FCDBBE56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23622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7AC513-317D-4A44-8150-E0F10860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198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27F709-FBE8-4787-96B0-74E809C80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86050"/>
            <a:ext cx="198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4243D"/>
                </a:solidFill>
                <a:latin typeface="Arial"/>
                <a:ea typeface="Arial"/>
                <a:cs typeface="Arial"/>
              </a:rPr>
              <a:t>Fuente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BD73C1-8DA3-4C27-A662-65CCE3B73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1981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NYC Open Data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Solicitudes 311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2A4933-9250-49F0-87A7-09CF4513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190750"/>
            <a:ext cx="23622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1092EE-BF54-481F-BA12-1A5E8E3E4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95550"/>
            <a:ext cx="198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D4A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28FC6D-8948-4C1D-AFE7-13C630B2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86050"/>
            <a:ext cx="198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4243D"/>
                </a:solidFill>
                <a:latin typeface="Arial"/>
                <a:ea typeface="Arial"/>
                <a:cs typeface="Arial"/>
              </a:rPr>
              <a:t>ETL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9509D8-4C51-463D-B004-8A40B175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143250"/>
            <a:ext cx="1981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raw → stg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limpieza y llaves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4E86AC-BB8B-4AF2-BB5D-D40D8BD0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90750"/>
            <a:ext cx="23622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51F65C-5B8B-48E0-B6A2-92B80E3B5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95550"/>
            <a:ext cx="198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FB15CA-94CE-4EB2-9522-BD459265C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86050"/>
            <a:ext cx="198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4243D"/>
                </a:solidFill>
                <a:latin typeface="Arial"/>
                <a:ea typeface="Arial"/>
                <a:cs typeface="Arial"/>
              </a:rPr>
              <a:t>DW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E2DA9A-F351-4E18-A4F2-128EBC4E9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43250"/>
            <a:ext cx="1981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dw.FactSolicitud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 fila por solicitud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422A2A-173D-405F-B555-9AAF62AF5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90750"/>
            <a:ext cx="23622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0884F6-9CE2-4EEF-9F2F-2E9314DD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95550"/>
            <a:ext cx="198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D4A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7D4953-1E92-4BFA-A5D8-C3E97905C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86050"/>
            <a:ext cx="198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4243D"/>
                </a:solidFill>
                <a:latin typeface="Arial"/>
                <a:ea typeface="Arial"/>
                <a:cs typeface="Arial"/>
              </a:rPr>
              <a:t>Dimensiones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7C3975-74F8-4BB7-8D66-65D481F5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43250"/>
            <a:ext cx="1981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Fecha · agencia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problema · geografía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estado · canal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D8F170-3027-42EF-A891-22B96566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420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243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3DA324-CDE8-489F-ACFA-70E6B01EE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463EB"/>
                </a:solidFill>
                <a:latin typeface="Arial"/>
                <a:ea typeface="Arial"/>
                <a:cs typeface="Arial"/>
              </a:rPr>
              <a:t>Medida central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405881-EECB-4D96-84F0-578F68FC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4243D"/>
                </a:solidFill>
                <a:latin typeface="Arial"/>
                <a:ea typeface="Arial"/>
                <a:cs typeface="Arial"/>
              </a:rPr>
              <a:t>minutos_resolucion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383C33-3106-4186-8D41-62B44E519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NULL cuando no existe fecha de cierre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1C3A49-5231-48A2-977F-978D6FD2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292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463EB"/>
                </a:solidFill>
                <a:latin typeface="Arial"/>
                <a:ea typeface="Arial"/>
                <a:cs typeface="Arial"/>
              </a:rPr>
              <a:t>F2 y F3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827124-7754-4C8F-BEE7-319B7192D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276850"/>
            <a:ext cx="352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57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4243D"/>
                </a:solidFill>
                <a:latin typeface="Arial"/>
                <a:ea typeface="Arial"/>
                <a:cs typeface="Arial"/>
              </a:rPr>
              <a:t>mining.vw_dataset_fase2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57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4243D"/>
                </a:solidFill>
                <a:latin typeface="Arial"/>
                <a:ea typeface="Arial"/>
                <a:cs typeface="Arial"/>
              </a:rPr>
              <a:t>bi.vw_solicitudes_segmentadas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4464D7-4F7B-46AE-BDF9-D2542B7F2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219700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Unión nulo-segura por agencia + complaint_type + borough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CE49EC-5952-4012-949D-A0B7BEEC6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98A2B3"/>
                </a:solidFill>
                <a:latin typeface="Arial"/>
                <a:ea typeface="Arial"/>
                <a:cs typeface="Arial"/>
              </a:rPr>
              <a:t>Fuente: Fase 1 DDL/SSIS y docs/02-INTEGRACION-DATOS.md. La conexión BI validada usa SQL Server DW_NYC311 en modo Import.</a:t>
            </a:r>
          </a:p>
        </p:txBody>
      </p:sp>
    </p:spTree>
    <p:extLst>
      <p:ext uri="{BB962C8B-B14F-4D97-AF65-F5344CB8AC3E}">
        <p14:creationId xmlns:p14="http://schemas.microsoft.com/office/powerpoint/2010/main" val="8849886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ABF0E5-72E0-4103-8896-16D64916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463EB"/>
                </a:solidFill>
                <a:latin typeface="Arial"/>
                <a:ea typeface="Arial"/>
                <a:cs typeface="Arial"/>
              </a:rPr>
              <a:t>NYC311 / FASE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560FBD-1261-4AA3-ADA7-9D69DA5B6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85750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98A2B3"/>
                </a:solidFill>
                <a:latin typeface="Arial"/>
                <a:ea typeface="Arial"/>
                <a:cs typeface="Arial"/>
              </a:rPr>
              <a:t>05 /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959BFF-09E0-4D2F-B93D-E7CF340CB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717"/>
          </a:bodyPr>
          <a:lstStyle xmlns:a="http://schemas.openxmlformats.org/drawingml/2006/main">
            <a:def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95000"/>
              </a:lnSpc>
              <a:buNone/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4243D"/>
                </a:solidFill>
                <a:latin typeface="Arial"/>
                <a:ea typeface="Arial"/>
                <a:cs typeface="Arial"/>
              </a:rPr>
              <a:t>Minería F2: el P75 convierte la demora en una etiqueta histórica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30E4FA-22BC-45A7-995A-A3CE01DB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El árbol se entrenó sobre variables disponibles antes del cierre y se evaluó en un conjunto de prueba.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7DA8AF-9531-4644-9D1A-84AC1917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6F30C2-5F74-4A63-BF5B-77B7BA77D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304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defPPr>
            <a:lvl1pPr algn="l">
              <a:defRPr sz="480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1pPr>
            <a:lvl2pPr algn="l">
              <a:defRPr sz="480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2pPr>
            <a:lvl3pPr algn="l">
              <a:defRPr sz="480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3pPr>
            <a:lvl4pPr algn="l">
              <a:defRPr sz="480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4pPr>
            <a:lvl5pPr algn="l">
              <a:defRPr sz="480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5pPr>
            <a:lvl6pPr algn="l">
              <a:defRPr sz="480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6pPr>
            <a:lvl7pPr algn="l">
              <a:defRPr sz="480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7pPr>
            <a:lvl8pPr algn="l">
              <a:defRPr sz="480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8pPr>
            <a:lvl9pPr algn="l">
              <a:defRPr sz="480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480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pPr>
            <a:r>
              <a:rPr sz="4800" b="1" i="0">
                <a:solidFill>
                  <a:srgbClr val="6D4AFF"/>
                </a:solidFill>
                <a:latin typeface="Arial"/>
                <a:ea typeface="Arial"/>
                <a:cs typeface="Arial"/>
              </a:rPr>
              <a:t>4,329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543D0D-8C74-4DD6-89C8-A97BA0C31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4243D"/>
                </a:solidFill>
                <a:latin typeface="Arial"/>
                <a:ea typeface="Arial"/>
                <a:cs typeface="Arial"/>
              </a:rPr>
              <a:t>minutos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3CBF3F-B769-4A8F-96C6-2BE52496D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86150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D4A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56BFD8-0AA8-45B7-BDF1-6D2CB796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342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demora_alta = 1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si la duración observada supera el P75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B0E23A-668A-43B1-A4AE-15D35253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B85C68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 i="0">
                <a:solidFill>
                  <a:srgbClr val="B85C68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 i="0">
                <a:solidFill>
                  <a:srgbClr val="B85C68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 i="0">
                <a:solidFill>
                  <a:srgbClr val="B85C68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 i="0">
                <a:solidFill>
                  <a:srgbClr val="B85C68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 i="0">
                <a:solidFill>
                  <a:srgbClr val="B85C68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 i="0">
                <a:solidFill>
                  <a:srgbClr val="B85C68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 i="0">
                <a:solidFill>
                  <a:srgbClr val="B85C68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 i="0">
                <a:solidFill>
                  <a:srgbClr val="B85C68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 i="0">
                <a:solidFill>
                  <a:srgbClr val="B85C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B85C6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B85C68"/>
                </a:solidFill>
                <a:latin typeface="Arial"/>
                <a:ea typeface="Arial"/>
                <a:cs typeface="Arial"/>
              </a:rPr>
              <a:t>Sin cierre: demora_alta = NULL</a:t>
            </a:r>
          </a:p>
        </p:txBody>
      </p:sp>
      <p:graphicFrame>
        <p:nvGraphicFramePr>
          <p:cNvPr id="11" name="Chart">
            <a:extLst xmlns:a="http://schemas.openxmlformats.org/drawingml/2006/main">
              <a:ext uri="{FF2B5EF4-FFF2-40B4-BE49-F238E27FC236}">
                <a16:creationId xmlns:a16="http://schemas.microsoft.com/office/drawing/2014/main" id="{2D16911F-8585-4461-9E4D-178500DD088E}"/>
              </a:ext>
            </a:extLst>
          </p:cNvPr>
          <p:cNvGraphicFramePr/>
          <p:nvPr/>
        </p:nvGraphicFramePr>
        <p:xfrm>
          <a:off xmlns:a="http://schemas.openxmlformats.org/drawingml/2006/main" x="4953000" y="2209800"/>
          <a:ext xmlns:a="http://schemas.openxmlformats.org/drawingml/2006/main" cx="6429375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6ecdfec12264f25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DA783B-2014-4B51-8E11-AEAE566B3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619750"/>
            <a:ext cx="6429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Métricas de test. No representan un score de producción ni prueban causalidad.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2826A1-1C26-4B3E-94D8-4F4FA0F8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98A2B3"/>
                </a:solidFill>
                <a:latin typeface="Arial"/>
                <a:ea typeface="Arial"/>
                <a:cs typeface="Arial"/>
              </a:rPr>
              <a:t>Fuente: informe de Fase 2 y guía de defensa.</a:t>
            </a:r>
          </a:p>
        </p:txBody>
      </p:sp>
    </p:spTree>
    <p:extLst>
      <p:ext uri="{BB962C8B-B14F-4D97-AF65-F5344CB8AC3E}">
        <p14:creationId xmlns:p14="http://schemas.microsoft.com/office/powerpoint/2010/main" val="2257973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F29FCE-3B7E-4F1C-A23C-64E7BE424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463EB"/>
                </a:solidFill>
                <a:latin typeface="Arial"/>
                <a:ea typeface="Arial"/>
                <a:cs typeface="Arial"/>
              </a:rPr>
              <a:t>NYC311 / FASE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1A4FE1-1CAF-458F-8DCA-7F8CDD88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85750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98A2B3"/>
                </a:solidFill>
                <a:latin typeface="Arial"/>
                <a:ea typeface="Arial"/>
                <a:cs typeface="Arial"/>
              </a:rPr>
              <a:t>06 /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BB87AC-1C9C-438C-A231-1835103C6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312"/>
          </a:bodyPr>
          <a:lstStyle xmlns:a="http://schemas.openxmlformats.org/drawingml/2006/main">
            <a:def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95000"/>
              </a:lnSpc>
              <a:buNone/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4243D"/>
                </a:solidFill>
                <a:latin typeface="Arial"/>
                <a:ea typeface="Arial"/>
                <a:cs typeface="Arial"/>
              </a:rPr>
              <a:t>K-Means segmentó perfiles operativos, no tickets individuales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19A86E-DABC-4A5E-A043-D816EC1D4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La terna agencia + tipo de reclamo + borough define el perfil. El universo no elegible queda visible.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8BCB0D-6E63-4443-A92E-82AEE373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FA82AD-359E-4CDE-B819-E65B3D690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330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defPPr>
            <a:lvl1pPr algn="ctr">
              <a:defRPr sz="330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1pPr>
            <a:lvl2pPr algn="ctr">
              <a:defRPr sz="330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2pPr>
            <a:lvl3pPr algn="ctr">
              <a:defRPr sz="330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3pPr>
            <a:lvl4pPr algn="ctr">
              <a:defRPr sz="330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4pPr>
            <a:lvl5pPr algn="ctr">
              <a:defRPr sz="330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5pPr>
            <a:lvl6pPr algn="ctr">
              <a:defRPr sz="330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6pPr>
            <a:lvl7pPr algn="ctr">
              <a:defRPr sz="330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7pPr>
            <a:lvl8pPr algn="ctr">
              <a:defRPr sz="330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8pPr>
            <a:lvl9pPr algn="ctr">
              <a:defRPr sz="330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330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4243D"/>
                </a:solidFill>
                <a:latin typeface="Arial"/>
                <a:ea typeface="Arial"/>
                <a:cs typeface="Arial"/>
              </a:rPr>
              <a:t>912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E2318B-838A-4A8F-994D-984DF6C8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perfiles iniciales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5D4201-0552-49A3-BAC7-176D1D249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266950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14D6BC-5F93-4BAF-9DFD-97545E871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95500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330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defPPr>
            <a:lvl1pPr algn="ctr">
              <a:defRPr sz="330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1pPr>
            <a:lvl2pPr algn="ctr">
              <a:defRPr sz="330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2pPr>
            <a:lvl3pPr algn="ctr">
              <a:defRPr sz="330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3pPr>
            <a:lvl4pPr algn="ctr">
              <a:defRPr sz="330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4pPr>
            <a:lvl5pPr algn="ctr">
              <a:defRPr sz="330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5pPr>
            <a:lvl6pPr algn="ctr">
              <a:defRPr sz="330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6pPr>
            <a:lvl7pPr algn="ctr">
              <a:defRPr sz="330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7pPr>
            <a:lvl8pPr algn="ctr">
              <a:defRPr sz="330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8pPr>
            <a:lvl9pPr algn="ctr">
              <a:defRPr sz="330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330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4243D"/>
                </a:solidFill>
                <a:latin typeface="Arial"/>
                <a:ea typeface="Arial"/>
                <a:cs typeface="Arial"/>
              </a:rPr>
              <a:t>487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B88A87-957F-4FDC-A60C-4B1BBB53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6289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con volumen ≥ 100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BC8806-A009-4420-B77A-72AF47027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266950"/>
            <a:ext cx="266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71BC12-0AE0-4DA7-BE03-29214D6F6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095500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330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defPPr>
            <a:lvl1pPr algn="ctr">
              <a:defRPr sz="330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1pPr>
            <a:lvl2pPr algn="ctr">
              <a:defRPr sz="330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2pPr>
            <a:lvl3pPr algn="ctr">
              <a:defRPr sz="330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3pPr>
            <a:lvl4pPr algn="ctr">
              <a:defRPr sz="330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4pPr>
            <a:lvl5pPr algn="ctr">
              <a:defRPr sz="330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5pPr>
            <a:lvl6pPr algn="ctr">
              <a:defRPr sz="330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6pPr>
            <a:lvl7pPr algn="ctr">
              <a:defRPr sz="330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7pPr>
            <a:lvl8pPr algn="ctr">
              <a:defRPr sz="330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8pPr>
            <a:lvl9pPr algn="ctr">
              <a:defRPr sz="330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330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6D4AFF"/>
                </a:solidFill>
                <a:latin typeface="Arial"/>
                <a:ea typeface="Arial"/>
                <a:cs typeface="Arial"/>
              </a:rPr>
              <a:t>480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1CA669-A780-43F0-970B-792FFA6D0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6289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modelados · K = 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0EC81D-A7AF-482F-B8CB-EC207EB4D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098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6D4AFF"/>
                </a:solidFill>
                <a:latin typeface="Arial"/>
                <a:ea typeface="Arial"/>
                <a:cs typeface="Arial"/>
              </a:rPr>
              <a:t>Silhouette = 0.421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7AB690-E6EA-4742-9DA9-A106583B9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098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separación útil, todavía moderada</a:t>
            </a:r>
          </a:p>
        </p:txBody>
      </p:sp>
      <p:graphicFrame>
        <p:nvGraphicFramePr>
          <p:cNvPr id="16" name="Chart">
            <a:extLst xmlns:a="http://schemas.openxmlformats.org/drawingml/2006/main">
              <a:ext uri="{FF2B5EF4-FFF2-40B4-BE49-F238E27FC236}">
                <a16:creationId xmlns:a16="http://schemas.microsoft.com/office/drawing/2014/main" id="{8BE284EC-4EC1-4261-A57F-92926B515869}"/>
              </a:ext>
            </a:extLst>
          </p:cNvPr>
          <p:cNvGraphicFramePr/>
          <p:nvPr/>
        </p:nvGraphicFramePr>
        <p:xfrm>
          <a:off xmlns:a="http://schemas.openxmlformats.org/drawingml/2006/main" x="685800" y="3333750"/>
          <a:ext xmlns:a="http://schemas.openxmlformats.org/drawingml/2006/main" cx="10744200" cy="2590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fdb3d15c6494a0a"/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B2FA81-840C-43EB-B756-2E154829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744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1,279,792 segmentadas + 14,024 sin perfil = 1,293,816 solicitudes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71EA40-A3A1-412D-B9EC-2839A9C2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98A2B3"/>
                </a:solidFill>
                <a:latin typeface="Arial"/>
                <a:ea typeface="Arial"/>
                <a:cs typeface="Arial"/>
              </a:rPr>
              <a:t>Fuente: validación del modelo BI. La cobertura de perfiles es 98.92% del universo.</a:t>
            </a:r>
          </a:p>
        </p:txBody>
      </p:sp>
    </p:spTree>
    <p:extLst>
      <p:ext uri="{BB962C8B-B14F-4D97-AF65-F5344CB8AC3E}">
        <p14:creationId xmlns:p14="http://schemas.microsoft.com/office/powerpoint/2010/main" val="15066062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71D424-55B8-4B95-83D5-A92B12E3A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463EB"/>
                </a:solidFill>
                <a:latin typeface="Arial"/>
                <a:ea typeface="Arial"/>
                <a:cs typeface="Arial"/>
              </a:rPr>
              <a:t>NYC311 / FASE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4D53D8-4A93-4686-96D6-27BB6D56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85750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98A2B3"/>
                </a:solidFill>
                <a:latin typeface="Arial"/>
                <a:ea typeface="Arial"/>
                <a:cs typeface="Arial"/>
              </a:rPr>
              <a:t>07 /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A84982-9AE1-4F51-A4E8-976BDDE32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95000"/>
              </a:lnSpc>
              <a:buNone/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4243D"/>
                </a:solidFill>
                <a:latin typeface="Arial"/>
                <a:ea typeface="Arial"/>
                <a:cs typeface="Arial"/>
              </a:rPr>
              <a:t>El árbol prioriza revisión, pero sus límites siguen visibles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5BDEE3-B4C7-43C3-8C7F-74B9E11E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La métrica clave es Recall en prueba. La clasificación histórica no equivale a predicción productiva.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499586-D1DD-48B3-B554-66A9BC189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FB60C5-C648-4065-8560-E22B62758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65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defPPr>
            <a:lvl1pPr algn="l">
              <a:defRPr sz="465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1pPr>
            <a:lvl2pPr algn="l">
              <a:defRPr sz="465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2pPr>
            <a:lvl3pPr algn="l">
              <a:defRPr sz="465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3pPr>
            <a:lvl4pPr algn="l">
              <a:defRPr sz="465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4pPr>
            <a:lvl5pPr algn="l">
              <a:defRPr sz="465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5pPr>
            <a:lvl6pPr algn="l">
              <a:defRPr sz="465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6pPr>
            <a:lvl7pPr algn="l">
              <a:defRPr sz="465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7pPr>
            <a:lvl8pPr algn="l">
              <a:defRPr sz="465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8pPr>
            <a:lvl9pPr algn="l">
              <a:defRPr sz="465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465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pPr>
            <a:r>
              <a:rPr sz="4650" b="1" i="0">
                <a:solidFill>
                  <a:srgbClr val="6D4AFF"/>
                </a:solidFill>
                <a:latin typeface="Arial"/>
                <a:ea typeface="Arial"/>
                <a:cs typeface="Arial"/>
              </a:rPr>
              <a:t>95.15%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58DFF6-8246-48F4-A026-AD8F12CA8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384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4243D"/>
                </a:solidFill>
                <a:latin typeface="Arial"/>
                <a:ea typeface="Arial"/>
                <a:cs typeface="Arial"/>
              </a:rPr>
              <a:t>Recall en prueba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C794EF-5858-4C93-B347-20875B30D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463EB"/>
                </a:solidFill>
                <a:latin typeface="Arial"/>
                <a:ea typeface="Arial"/>
                <a:cs typeface="Arial"/>
              </a:rPr>
              <a:t>Predictores válidos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DD4641-43D8-4B9C-8F0C-981A7964B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agency · complaint_type · borough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canal · mes · día de semana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C3EEAA-07AD-4170-9384-33AB0AF6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2440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Excluidos para evitar fuga: duración, estado, ID y coordenadas</a:t>
            </a:r>
          </a:p>
        </p:txBody>
      </p:sp>
      <p:graphicFrame>
        <p:nvGraphicFramePr>
          <p:cNvPr id="11" name="Chart">
            <a:extLst xmlns:a="http://schemas.openxmlformats.org/drawingml/2006/main">
              <a:ext uri="{FF2B5EF4-FFF2-40B4-BE49-F238E27FC236}">
                <a16:creationId xmlns:a16="http://schemas.microsoft.com/office/drawing/2014/main" id="{BC47833D-6FF9-46BC-A722-801EEDC664C2}"/>
              </a:ext>
            </a:extLst>
          </p:cNvPr>
          <p:cNvGraphicFramePr/>
          <p:nvPr/>
        </p:nvGraphicFramePr>
        <p:xfrm>
          <a:off xmlns:a="http://schemas.openxmlformats.org/drawingml/2006/main" x="4857750" y="2190750"/>
          <a:ext xmlns:a="http://schemas.openxmlformats.org/drawingml/2006/main" cx="6572250" cy="2381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a528e490f2543dd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880F39-1130-49B6-BBC9-CAB0721E6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010150"/>
            <a:ext cx="65722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0">
            <a:solidFill>
              <a:srgbClr val="EEE9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DF96B0-3BC5-4391-9407-A60ED96E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2006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6D4AFF"/>
                </a:solidFill>
                <a:latin typeface="Arial"/>
                <a:ea typeface="Arial"/>
                <a:cs typeface="Arial"/>
              </a:rPr>
              <a:t>Límites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8A88A0-E07D-4DFE-A65C-ADB11858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4864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380"/>
          </a:bodyPr>
          <a:lstStyle xmlns:a="http://schemas.openxmlformats.org/drawingml/2006/main">
            <a:defPPr algn="l">
              <a:defRPr sz="13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4243D"/>
                </a:solidFill>
                <a:latin typeface="Arial"/>
                <a:ea typeface="Arial"/>
                <a:cs typeface="Arial"/>
              </a:rPr>
              <a:t>Sin validación temporal · sin prueba causal · sin score por solicitud en producción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19EEA3-6168-49E7-A066-CE9689C6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98A2B3"/>
                </a:solidFill>
                <a:latin typeface="Arial"/>
                <a:ea typeface="Arial"/>
                <a:cs typeface="Arial"/>
              </a:rPr>
              <a:t>Fuente: informe de Fase 2. Recall, F1 y AUC son métricas del conjunto de prueba.</a:t>
            </a:r>
          </a:p>
        </p:txBody>
      </p:sp>
    </p:spTree>
    <p:extLst>
      <p:ext uri="{BB962C8B-B14F-4D97-AF65-F5344CB8AC3E}">
        <p14:creationId xmlns:p14="http://schemas.microsoft.com/office/powerpoint/2010/main" val="21149230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DDAF0F-5E3E-44E0-B53F-73FB917B7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463EB"/>
                </a:solidFill>
                <a:latin typeface="Arial"/>
                <a:ea typeface="Arial"/>
                <a:cs typeface="Arial"/>
              </a:rPr>
              <a:t>NYC311 / FASE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8EF7E0-6697-49D0-A748-88A12635D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85750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98A2B3"/>
                </a:solidFill>
                <a:latin typeface="Arial"/>
                <a:ea typeface="Arial"/>
                <a:cs typeface="Arial"/>
              </a:rPr>
              <a:t>08 /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C46805-D74D-4B5A-BA50-42A189C4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95000"/>
              </a:lnSpc>
              <a:buNone/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4243D"/>
                </a:solidFill>
                <a:latin typeface="Arial"/>
                <a:ea typeface="Arial"/>
                <a:cs typeface="Arial"/>
              </a:rPr>
              <a:t>Panorama Power BI: una lectura del universo completo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975C66-FDEC-4AEE-A284-69CE7D06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La página 1 combina volumen, mediana observada, demora alta y solicitudes sin duración.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2458A6-3999-4B4C-A722-1354DB33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37B073-8B58-4656-8788-6434D4C4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4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4243D"/>
                </a:solidFill>
                <a:latin typeface="Arial"/>
                <a:ea typeface="Arial"/>
                <a:cs typeface="Arial"/>
              </a:rPr>
              <a:t>1,293,816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B53E48-DE8A-4545-92D7-FE4A58C22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solicitudes distintas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57029F-9DB1-4E58-AE55-60A2B73DC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45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6D4AFF"/>
                </a:solidFill>
                <a:latin typeface="Arial"/>
                <a:ea typeface="Arial"/>
                <a:cs typeface="Arial"/>
              </a:rPr>
              <a:t>330 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64FDD9-B755-4733-9676-6CAB5ED7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mediana observada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D860C6-5439-4E7A-8603-16AFEE35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333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La primera lectura debe responder tres preguntas: cuánto entra, cuánto tarda y qué parte no puede clasificarse por falta de duración.</a:t>
            </a:r>
          </a:p>
        </p:txBody>
      </p:sp>
      <p:graphicFrame>
        <p:nvGraphicFramePr>
          <p:cNvPr id="11" name="Chart">
            <a:extLst xmlns:a="http://schemas.openxmlformats.org/drawingml/2006/main">
              <a:ext uri="{FF2B5EF4-FFF2-40B4-BE49-F238E27FC236}">
                <a16:creationId xmlns:a16="http://schemas.microsoft.com/office/drawing/2014/main" id="{83B41E44-831F-4EDB-98A6-7EE8763BA3EF}"/>
              </a:ext>
            </a:extLst>
          </p:cNvPr>
          <p:cNvGraphicFramePr/>
          <p:nvPr/>
        </p:nvGraphicFramePr>
        <p:xfrm>
          <a:off xmlns:a="http://schemas.openxmlformats.org/drawingml/2006/main" x="4686300" y="2038350"/>
          <a:ext xmlns:a="http://schemas.openxmlformats.org/drawingml/2006/main" cx="695325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91b0c22aa3e4da3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FC5ECD-F070-4243-8EE1-A35EE3635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219700"/>
            <a:ext cx="6953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DCE8FF"/>
          </a:solidFill>
          <a:ln xmlns:a="http://schemas.openxmlformats.org/drawingml/2006/main" w="0">
            <a:solidFill>
              <a:srgbClr val="DCE8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613016-1CA7-49E1-B9AF-074AE18B8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463EB"/>
                </a:solidFill>
                <a:latin typeface="Arial"/>
                <a:ea typeface="Arial"/>
                <a:cs typeface="Arial"/>
              </a:rPr>
              <a:t>Lectura de gestión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ACA543-459B-428D-B019-5F91A744B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69595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9365"/>
          </a:bodyPr>
          <a:lstStyle xmlns:a="http://schemas.openxmlformats.org/drawingml/2006/main">
            <a:defPPr algn="l">
              <a:defRPr sz="13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4243D"/>
                </a:solidFill>
                <a:latin typeface="Arial"/>
                <a:ea typeface="Arial"/>
                <a:cs typeface="Arial"/>
              </a:rPr>
              <a:t>La demora alta se calcula solo sobre cierres observados; los 63,079 casos sin duración permanecen como sin clasificar.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5A6168-DD13-4415-82C4-E5541B24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98A2B3"/>
                </a:solidFill>
                <a:latin typeface="Arial"/>
                <a:ea typeface="Arial"/>
                <a:cs typeface="Arial"/>
              </a:rPr>
              <a:t>Fuente: PBIX final y validación del modelo. Las cifras se presentan como conteos del universo, no como captura de pantalla.</a:t>
            </a:r>
          </a:p>
        </p:txBody>
      </p:sp>
    </p:spTree>
    <p:extLst>
      <p:ext uri="{BB962C8B-B14F-4D97-AF65-F5344CB8AC3E}">
        <p14:creationId xmlns:p14="http://schemas.microsoft.com/office/powerpoint/2010/main" val="7929848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548FE2-1E1A-4622-951D-8DEE37A4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463EB"/>
                </a:solidFill>
                <a:latin typeface="Arial"/>
                <a:ea typeface="Arial"/>
                <a:cs typeface="Arial"/>
              </a:rPr>
              <a:t>NYC311 / FASE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90D982-1BF8-40C3-A50E-977485D6F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85750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98A2B3"/>
                </a:solidFill>
                <a:latin typeface="Arial"/>
                <a:ea typeface="Arial"/>
                <a:cs typeface="Arial"/>
              </a:rPr>
              <a:t>09 /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7D2905-4BEC-433B-85A7-1A6E8629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95000"/>
              </a:lnSpc>
              <a:buNone/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4243D"/>
                </a:solidFill>
                <a:latin typeface="Arial"/>
                <a:ea typeface="Arial"/>
                <a:cs typeface="Arial"/>
              </a:rPr>
              <a:t>Diagnóstico operativo: dónde concentrar capacidad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3E58A6-BB4E-46E8-96CD-886C881DB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La página 2 cruza mediana observada, borough, canal y estado sin convertir NULL en demora normal.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7F697B-0E92-4120-932C-641D04D9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3B0DDC-D207-4D41-AE74-645A9702E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4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4243D"/>
                </a:solidFill>
                <a:latin typeface="Arial"/>
                <a:ea typeface="Arial"/>
                <a:cs typeface="Arial"/>
              </a:rPr>
              <a:t>330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E178EA-4831-4F34-9CB2-1E1461A0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mediana global observada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155751-7D98-4E7E-BE84-3FB13F294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669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45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6D4AFF"/>
                </a:solidFill>
                <a:latin typeface="Arial"/>
                <a:ea typeface="Arial"/>
                <a:cs typeface="Arial"/>
              </a:rPr>
              <a:t>4,329 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835422-C0A9-4B3D-9500-8F4C3BC44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194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P75 histórico; no es SLA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15EF0D-334A-4CD5-9761-F1D5B405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669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 i="0">
                <a:solidFill>
                  <a:srgbClr val="B85C68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 i="0">
                <a:solidFill>
                  <a:srgbClr val="B85C68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 i="0">
                <a:solidFill>
                  <a:srgbClr val="B85C68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 i="0">
                <a:solidFill>
                  <a:srgbClr val="B85C68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 i="0">
                <a:solidFill>
                  <a:srgbClr val="B85C68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 i="0">
                <a:solidFill>
                  <a:srgbClr val="B85C68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 i="0">
                <a:solidFill>
                  <a:srgbClr val="B85C68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 i="0">
                <a:solidFill>
                  <a:srgbClr val="B85C68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 i="0">
                <a:solidFill>
                  <a:srgbClr val="B85C68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 i="0">
                <a:solidFill>
                  <a:srgbClr val="B85C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450" b="1" i="0">
                <a:solidFill>
                  <a:srgbClr val="B85C68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B85C68"/>
                </a:solidFill>
                <a:latin typeface="Arial"/>
                <a:ea typeface="Arial"/>
                <a:cs typeface="Arial"/>
              </a:rPr>
              <a:t>63,079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3E3D40-79A4-4E2A-A8B6-72581F6CE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194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sin duración observada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E1B7A3-DED3-4E6C-AEB1-E23D9D8F2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0763250" cy="2305050"/>
          </a:xfrm>
          <a:prstGeom xmlns:a="http://schemas.openxmlformats.org/drawingml/2006/main" prst="roundRect">
            <a:avLst>
              <a:gd name="adj" fmla="val 49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515219-2C6F-4301-BB18-708BA69C2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767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463EB"/>
                </a:solidFill>
                <a:latin typeface="Arial"/>
                <a:ea typeface="Arial"/>
                <a:cs typeface="Arial"/>
              </a:rPr>
              <a:t>Ejemplo de drilldown validado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FB2542-495A-4989-816E-188BD2764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148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4243D"/>
                </a:solidFill>
                <a:latin typeface="Arial"/>
                <a:ea typeface="Arial"/>
                <a:cs typeface="Arial"/>
              </a:rPr>
              <a:t>Bronx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C5FA2E-5D54-4F8C-B7E9-1A95DC0B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256,770 solicitudes · 415 min de mediana observada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3D1A4A-8986-454A-A32B-E935E69DE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171950"/>
            <a:ext cx="19050" cy="1657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16524C-8670-4E8F-9D47-A58390125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767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463EB"/>
                </a:solidFill>
                <a:latin typeface="Arial"/>
                <a:ea typeface="Arial"/>
                <a:cs typeface="Arial"/>
              </a:rPr>
              <a:t>Preguntas que responde el tablero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664B78-0199-4DF9-8968-C788989E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14850"/>
            <a:ext cx="4572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4243D"/>
                </a:solidFill>
                <a:latin typeface="Arial"/>
                <a:ea typeface="Arial"/>
                <a:cs typeface="Arial"/>
              </a:rPr>
              <a:t>¿Qué borough, agencia o canal concentra volumen?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4243D"/>
                </a:solidFill>
                <a:latin typeface="Arial"/>
                <a:ea typeface="Arial"/>
                <a:cs typeface="Arial"/>
              </a:rPr>
              <a:t>¿Dónde sube la mediana observada?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4243D"/>
                </a:solidFill>
                <a:latin typeface="Arial"/>
                <a:ea typeface="Arial"/>
                <a:cs typeface="Arial"/>
              </a:rPr>
              <a:t>¿Qué casos requieren revisión por falta de duración?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547632-A8DE-40A4-B275-55908D8D4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98A2B3"/>
                </a:solidFill>
                <a:latin typeface="Arial"/>
                <a:ea typeface="Arial"/>
                <a:cs typeface="Arial"/>
              </a:rPr>
              <a:t>Fuente: PBIX final y validación del modelo. El drilldown de Bronx es un ejemplo de lectura, no una conclusión causal.</a:t>
            </a:r>
          </a:p>
        </p:txBody>
      </p:sp>
    </p:spTree>
    <p:extLst>
      <p:ext uri="{BB962C8B-B14F-4D97-AF65-F5344CB8AC3E}">
        <p14:creationId xmlns:p14="http://schemas.microsoft.com/office/powerpoint/2010/main" val="11022157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A00E1F-3519-42F3-9B1B-F2979BAB1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463EB"/>
                </a:solidFill>
                <a:latin typeface="Arial"/>
                <a:ea typeface="Arial"/>
                <a:cs typeface="Arial"/>
              </a:rPr>
              <a:t>NYC311 / FASE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5F297C-26D5-4FC0-A4E1-C6E36970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85750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98A2B3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C8AE0A-3422-4D13-8EA7-4E0E2C0D8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95000"/>
              </a:lnSpc>
              <a:buNone/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4243D"/>
                </a:solidFill>
                <a:latin typeface="Arial"/>
                <a:ea typeface="Arial"/>
                <a:cs typeface="Arial"/>
              </a:rPr>
              <a:t>Segmentación: cobertura alta, universo completo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1CB9E4-B823-425C-B735-EDDE66C15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Los tres perfiles sirven para orientar investigación y capacidad. El cuarto renglón solo identifica casos fuera de perfil.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F08E75-E3F6-4C3A-9CA9-FF69BC01F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77B299-A025-4F5B-89C8-78329D75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45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6D4AFF"/>
                </a:solidFill>
                <a:latin typeface="Arial"/>
                <a:ea typeface="Arial"/>
                <a:cs typeface="Arial"/>
              </a:rPr>
              <a:t>480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EFA310-7DF5-42BE-8FD5-3BEAB527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perfiles modelados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5E0989-4324-4953-8F44-5D5696DA2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336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4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4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4243D"/>
                </a:solidFill>
                <a:latin typeface="Arial"/>
                <a:ea typeface="Arial"/>
                <a:cs typeface="Arial"/>
              </a:rPr>
              <a:t>98.92%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9DF0F5-F051-466A-BC2F-42942512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860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cobertura de solicitudes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DDE34022-01B1-43BA-BD40-95904FD40A75}"/>
              </a:ext>
            </a:extLst>
          </p:cNvPr>
          <p:cNvGraphicFramePr/>
          <p:nvPr/>
        </p:nvGraphicFramePr>
        <p:xfrm>
          <a:off xmlns:a="http://schemas.openxmlformats.org/drawingml/2006/main" x="685800" y="3333750"/>
          <a:ext xmlns:a="http://schemas.openxmlformats.org/drawingml/2006/main" cx="7334250" cy="27051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6650b295f634102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980818-3AA5-4D96-8023-4A5753098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0"/>
            <a:ext cx="2781300" cy="270510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14243D"/>
          </a:solidFill>
          <a:ln xmlns:a="http://schemas.openxmlformats.org/drawingml/2006/main" w="0">
            <a:solidFill>
              <a:srgbClr val="1424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DBEA87-A5F3-47E1-80F5-DF6937CA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619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 i="0">
                <a:solidFill>
                  <a:srgbClr val="DCE8FF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 i="0">
                <a:solidFill>
                  <a:srgbClr val="DCE8FF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 i="0">
                <a:solidFill>
                  <a:srgbClr val="DCE8FF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 i="0">
                <a:solidFill>
                  <a:srgbClr val="DCE8FF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 i="0">
                <a:solidFill>
                  <a:srgbClr val="DCE8FF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 i="0">
                <a:solidFill>
                  <a:srgbClr val="DCE8FF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 i="0">
                <a:solidFill>
                  <a:srgbClr val="DCE8FF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 i="0">
                <a:solidFill>
                  <a:srgbClr val="DCE8FF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 i="0">
                <a:solidFill>
                  <a:srgbClr val="DCE8FF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 i="0">
                <a:solidFill>
                  <a:srgbClr val="DCE8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DCE8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DCE8FF"/>
                </a:solidFill>
                <a:latin typeface="Arial"/>
                <a:ea typeface="Arial"/>
                <a:cs typeface="Arial"/>
              </a:rPr>
              <a:t>Cuadratura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795820-E772-4436-A476-12B949D5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76700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90000"/>
              </a:lnSpc>
              <a:buNone/>
              <a:defRPr sz="22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1,279,792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22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segmentadas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F29D97-AC8A-4C17-954E-01F9289A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972050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D4A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D6857C-848A-4987-BB6D-BC441C56E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2197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92000"/>
              </a:lnSpc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+ 14,024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sin perfil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A677CB-D86B-4408-83E5-D6FAE0CB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98A2B3"/>
                </a:solidFill>
                <a:latin typeface="Arial"/>
                <a:ea typeface="Arial"/>
                <a:cs typeface="Arial"/>
              </a:rPr>
              <a:t>Fuente: modelo de perfiles K-Means y validación BI. `Sin perfil K-Means` preserva el 100% del universo.</a:t>
            </a:r>
          </a:p>
        </p:txBody>
      </p:sp>
    </p:spTree>
    <p:extLst>
      <p:ext uri="{BB962C8B-B14F-4D97-AF65-F5344CB8AC3E}">
        <p14:creationId xmlns:p14="http://schemas.microsoft.com/office/powerpoint/2010/main" val="82079455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48CCA7-B177-4B8F-9A58-7A1CF7C66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463EB"/>
                </a:solidFill>
                <a:latin typeface="Arial"/>
                <a:ea typeface="Arial"/>
                <a:cs typeface="Arial"/>
              </a:rPr>
              <a:t>NYC311 / FASE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79DE97-F0D8-4FC6-9CC3-03D11FA2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85750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98A2B3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79BFCE-14CE-4078-8787-F3C968FE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95000"/>
              </a:lnSpc>
              <a:buNone/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4243D"/>
                </a:solidFill>
                <a:latin typeface="Arial"/>
                <a:ea typeface="Arial"/>
                <a:cs typeface="Arial"/>
              </a:rPr>
              <a:t>Valor y costo: escenario, no ROI observado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D767A6-B331-40BE-9C48-8C60FBEE3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Horizonte de 3 años. La sensibilidad cambia las horas de análisis evitadas, no las métricas de minería.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876CE6-00CB-457B-AE1F-0AFBE96F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20AFA5-C44F-4D23-A0E0-44215E8C2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463EB"/>
                </a:solidFill>
                <a:latin typeface="Arial"/>
                <a:ea typeface="Arial"/>
                <a:cs typeface="Arial"/>
              </a:rPr>
              <a:t>CAPEX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CB790B-19DF-4AFC-B4C0-9B08DB5E1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4243D"/>
                </a:solidFill>
                <a:latin typeface="Arial"/>
                <a:ea typeface="Arial"/>
                <a:cs typeface="Arial"/>
              </a:rPr>
              <a:t>4,200 USD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5640BB-97FD-4249-BC55-9DD1BB3F3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38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463EB"/>
                </a:solidFill>
                <a:latin typeface="Arial"/>
                <a:ea typeface="Arial"/>
                <a:cs typeface="Arial"/>
              </a:rPr>
              <a:t>OPEX anual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24752C-5E44-4B4E-A753-33DC3A0FD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669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4243D"/>
                </a:solidFill>
                <a:latin typeface="Arial"/>
                <a:ea typeface="Arial"/>
                <a:cs typeface="Arial"/>
              </a:rPr>
              <a:t>2,640 USD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1F299E-65AE-42FE-ADD4-220CA559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38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463EB"/>
                </a:solidFill>
                <a:latin typeface="Arial"/>
                <a:ea typeface="Arial"/>
                <a:cs typeface="Arial"/>
              </a:rPr>
              <a:t>TCO 3 años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E5E299-53DB-478C-8D40-1AF4186DF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669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6D4AFF"/>
                </a:solidFill>
                <a:latin typeface="Arial"/>
                <a:ea typeface="Arial"/>
                <a:cs typeface="Arial"/>
              </a:rPr>
              <a:t>12,120 USD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1438EE-D5DE-4815-97C1-391601E9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098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Supuesto de tarifa: 18 USD/hora</a:t>
            </a:r>
          </a:p>
        </p:txBody>
      </p:sp>
      <p:graphicFrame>
        <p:nvGraphicFrame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3A31D7-BDB7-4578-93C8-C059D920586A}"/>
              </a:ext>
            </a:extLst>
          </p:cNvPr>
          <p:cNvGraphicFramePr/>
          <p:nvPr/>
        </p:nvGraphicFramePr>
        <p:xfrm>
          <a:off xmlns:a="http://schemas.openxmlformats.org/drawingml/2006/main" x="685800" y="3162300"/>
          <a:ext xmlns:a="http://schemas.openxmlformats.org/drawingml/2006/main" cx="10744200" cy="2381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571750"/>
                <a:gridCol w="1714500"/>
                <a:gridCol w="2190750"/>
                <a:gridCol w="2000250"/>
                <a:gridCol w="2266950"/>
              </a:tblGrid>
              <a:tr h="59531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Escenario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EE8"/>
                      </a:solidFill>
                      <a:prstDash val="solid"/>
                    </a:lnL>
                    <a:lnR w="9525">
                      <a:solidFill>
                        <a:srgbClr val="D9DEE8"/>
                      </a:solidFill>
                      <a:prstDash val="solid"/>
                    </a:lnR>
                    <a:lnT w="9525">
                      <a:solidFill>
                        <a:srgbClr val="D9DEE8"/>
                      </a:solidFill>
                      <a:prstDash val="solid"/>
                    </a:lnT>
                    <a:lnB w="9525">
                      <a:solidFill>
                        <a:srgbClr val="D9DEE8"/>
                      </a:solidFill>
                      <a:prstDash val="solid"/>
                    </a:lnB>
                    <a:solidFill>
                      <a:srgbClr val="14243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Ahorro h/sem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EE8"/>
                      </a:solidFill>
                      <a:prstDash val="solid"/>
                    </a:lnR>
                    <a:lnT w="9525">
                      <a:solidFill>
                        <a:srgbClr val="D9DEE8"/>
                      </a:solidFill>
                      <a:prstDash val="solid"/>
                    </a:lnT>
                    <a:lnB w="9525">
                      <a:solidFill>
                        <a:srgbClr val="D9DEE8"/>
                      </a:solidFill>
                      <a:prstDash val="solid"/>
                    </a:lnB>
                    <a:solidFill>
                      <a:srgbClr val="14243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Beneficio/año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EE8"/>
                      </a:solidFill>
                      <a:prstDash val="solid"/>
                    </a:lnR>
                    <a:lnT w="9525">
                      <a:solidFill>
                        <a:srgbClr val="D9DEE8"/>
                      </a:solidFill>
                      <a:prstDash val="solid"/>
                    </a:lnT>
                    <a:lnB w="9525">
                      <a:solidFill>
                        <a:srgbClr val="D9DEE8"/>
                      </a:solidFill>
                      <a:prstDash val="solid"/>
                    </a:lnB>
                    <a:solidFill>
                      <a:srgbClr val="14243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ROI 3 años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EE8"/>
                      </a:solidFill>
                      <a:prstDash val="solid"/>
                    </a:lnR>
                    <a:lnT w="9525">
                      <a:solidFill>
                        <a:srgbClr val="D9DEE8"/>
                      </a:solidFill>
                      <a:prstDash val="solid"/>
                    </a:lnT>
                    <a:lnB w="9525">
                      <a:solidFill>
                        <a:srgbClr val="D9DEE8"/>
                      </a:solidFill>
                      <a:prstDash val="solid"/>
                    </a:lnB>
                    <a:solidFill>
                      <a:srgbClr val="14243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Punto de equilibrio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EE8"/>
                      </a:solidFill>
                      <a:prstDash val="solid"/>
                    </a:lnR>
                    <a:lnT w="9525">
                      <a:solidFill>
                        <a:srgbClr val="D9DEE8"/>
                      </a:solidFill>
                      <a:prstDash val="solid"/>
                    </a:lnT>
                    <a:lnB w="9525">
                      <a:solidFill>
                        <a:srgbClr val="D9DEE8"/>
                      </a:solidFill>
                      <a:prstDash val="solid"/>
                    </a:lnB>
                    <a:solidFill>
                      <a:srgbClr val="14243D"/>
                    </a:solidFill>
                  </a:tcPr>
                </a:tc>
              </a:tr>
              <a:tr h="59531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Conservador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EE8"/>
                      </a:solidFill>
                      <a:prstDash val="solid"/>
                    </a:lnL>
                    <a:lnR w="9525">
                      <a:solidFill>
                        <a:srgbClr val="D9DEE8"/>
                      </a:solidFill>
                      <a:prstDash val="solid"/>
                    </a:lnR>
                    <a:lnB w="9525">
                      <a:solidFill>
                        <a:srgbClr val="D9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EE8"/>
                      </a:solidFill>
                      <a:prstDash val="solid"/>
                    </a:lnR>
                    <a:lnB w="9525">
                      <a:solidFill>
                        <a:srgbClr val="D9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7,488 USD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EE8"/>
                      </a:solidFill>
                      <a:prstDash val="solid"/>
                    </a:lnR>
                    <a:lnB w="9525">
                      <a:solidFill>
                        <a:srgbClr val="D9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31.2%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EE8"/>
                      </a:solidFill>
                      <a:prstDash val="solid"/>
                    </a:lnR>
                    <a:lnB w="9525">
                      <a:solidFill>
                        <a:srgbClr val="D9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Mes 28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EE8"/>
                      </a:solidFill>
                      <a:prstDash val="solid"/>
                    </a:lnR>
                    <a:lnB w="9525">
                      <a:solidFill>
                        <a:srgbClr val="D9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Base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EE8"/>
                      </a:solidFill>
                      <a:prstDash val="solid"/>
                    </a:lnL>
                    <a:lnR w="9525">
                      <a:solidFill>
                        <a:srgbClr val="D9DEE8"/>
                      </a:solidFill>
                      <a:prstDash val="solid"/>
                    </a:lnR>
                    <a:lnB w="9525">
                      <a:solidFill>
                        <a:srgbClr val="D9DEE8"/>
                      </a:solidFill>
                      <a:prstDash val="solid"/>
                    </a:lnB>
                    <a:solidFill>
                      <a:srgbClr val="EEE9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EE8"/>
                      </a:solidFill>
                      <a:prstDash val="solid"/>
                    </a:lnR>
                    <a:lnB w="9525">
                      <a:solidFill>
                        <a:srgbClr val="D9DEE8"/>
                      </a:solidFill>
                      <a:prstDash val="solid"/>
                    </a:lnB>
                    <a:solidFill>
                      <a:srgbClr val="EEE9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14,976 USD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EE8"/>
                      </a:solidFill>
                      <a:prstDash val="solid"/>
                    </a:lnR>
                    <a:lnB w="9525">
                      <a:solidFill>
                        <a:srgbClr val="D9DEE8"/>
                      </a:solidFill>
                      <a:prstDash val="solid"/>
                    </a:lnB>
                    <a:solidFill>
                      <a:srgbClr val="EEE9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270.7%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EE8"/>
                      </a:solidFill>
                      <a:prstDash val="solid"/>
                    </a:lnR>
                    <a:lnB w="9525">
                      <a:solidFill>
                        <a:srgbClr val="D9DEE8"/>
                      </a:solidFill>
                      <a:prstDash val="solid"/>
                    </a:lnB>
                    <a:solidFill>
                      <a:srgbClr val="EEE9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Mes 10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EE8"/>
                      </a:solidFill>
                      <a:prstDash val="solid"/>
                    </a:lnR>
                    <a:lnB w="9525">
                      <a:solidFill>
                        <a:srgbClr val="D9DEE8"/>
                      </a:solidFill>
                      <a:prstDash val="solid"/>
                    </a:lnB>
                    <a:solidFill>
                      <a:srgbClr val="EEE9FF"/>
                    </a:solidFill>
                  </a:tcPr>
                </a:tc>
              </a:tr>
              <a:tr h="59531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Optimista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DEE8"/>
                      </a:solidFill>
                      <a:prstDash val="solid"/>
                    </a:lnL>
                    <a:lnR w="9525">
                      <a:solidFill>
                        <a:srgbClr val="D9DEE8"/>
                      </a:solidFill>
                      <a:prstDash val="solid"/>
                    </a:lnR>
                    <a:lnB w="9525">
                      <a:solidFill>
                        <a:srgbClr val="D9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24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EE8"/>
                      </a:solidFill>
                      <a:prstDash val="solid"/>
                    </a:lnR>
                    <a:lnB w="9525">
                      <a:solidFill>
                        <a:srgbClr val="D9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22,464 USD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EE8"/>
                      </a:solidFill>
                      <a:prstDash val="solid"/>
                    </a:lnR>
                    <a:lnB w="9525">
                      <a:solidFill>
                        <a:srgbClr val="D9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456.0%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EE8"/>
                      </a:solidFill>
                      <a:prstDash val="solid"/>
                    </a:lnR>
                    <a:lnB w="9525">
                      <a:solidFill>
                        <a:srgbClr val="D9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Mes 7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DEE8"/>
                      </a:solidFill>
                      <a:prstDash val="solid"/>
                    </a:lnR>
                    <a:lnB w="9525">
                      <a:solidFill>
                        <a:srgbClr val="D9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528F90-011E-409A-AB6E-0DB6A4EE4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1074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La memoria modela ahorro de horas. No monetiza Recall, falsos negativos ni una adopción que todavía no existe.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261235-8215-4CD8-B37C-AAA6F71A0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98A2B3"/>
                </a:solidFill>
                <a:latin typeface="Arial"/>
                <a:ea typeface="Arial"/>
                <a:cs typeface="Arial"/>
              </a:rPr>
              <a:t>Fuente: Documento Fase 3, sección de viabilidad. Cifras de escenario, no medición de producción.</a:t>
            </a:r>
          </a:p>
        </p:txBody>
      </p:sp>
    </p:spTree>
    <p:extLst>
      <p:ext uri="{BB962C8B-B14F-4D97-AF65-F5344CB8AC3E}">
        <p14:creationId xmlns:p14="http://schemas.microsoft.com/office/powerpoint/2010/main" val="18303841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30A5DC-46EB-4A29-AC7A-CAB92EA5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463EB"/>
                </a:solidFill>
                <a:latin typeface="Arial"/>
                <a:ea typeface="Arial"/>
                <a:cs typeface="Arial"/>
              </a:rPr>
              <a:t>NYC311 / FASE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EB2C82-E4B3-4FBC-A076-B17FF7F8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85750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75" b="1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98A2B3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47D139-DC17-49C7-A499-98EBDB9E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95000"/>
              </a:lnSpc>
              <a:buNone/>
              <a:defRPr sz="285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4243D"/>
                </a:solidFill>
                <a:latin typeface="Arial"/>
                <a:ea typeface="Arial"/>
                <a:cs typeface="Arial"/>
              </a:rPr>
              <a:t>Cierre y demo: de la evidencia a una acción concreta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1C96A0-0D11-4687-AA27-AA3FA004A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La defensa termina mostrando una interacción real y nombrando lo que el modelo todavía no puede afirmar.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52A639-85E6-4D3F-899D-5CA432E27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304629-F972-4843-B58E-B1690FB3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4243D"/>
                </a:solidFill>
                <a:latin typeface="Arial"/>
                <a:ea typeface="Arial"/>
                <a:cs typeface="Arial"/>
              </a:rPr>
              <a:t>Tres decisiones defendibles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63D3CA-F3DB-403A-9CE3-D7120E2CF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4667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449"/>
          </a:bodyPr>
          <a:lstStyle xmlns:a="http://schemas.openxmlformats.org/drawingml/2006/main">
            <a:defPPr>
              <a:defRPr sz="1500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  <a:lvl1pPr>
              <a:defRPr sz="150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1pPr>
            <a:lvl2pPr>
              <a:defRPr sz="150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2pPr>
            <a:lvl3pPr>
              <a:defRPr sz="150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3pPr>
            <a:lvl4pPr>
              <a:defRPr sz="150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4pPr>
            <a:lvl5pPr>
              <a:defRPr sz="150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5pPr>
            <a:lvl6pPr>
              <a:defRPr sz="150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6pPr>
            <a:lvl7pPr>
              <a:defRPr sz="150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7pPr>
            <a:lvl8pPr>
              <a:defRPr sz="150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8pPr>
            <a:lvl9pPr>
              <a:defRPr sz="1500">
                <a:solidFill>
                  <a:srgbClr val="1118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100"/>
              </a:spcAft>
              <a:buNone/>
              <a:defRPr sz="15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11827"/>
                </a:solidFill>
                <a:latin typeface="Arial"/>
                <a:ea typeface="Arial"/>
                <a:cs typeface="Arial"/>
              </a:rPr>
              <a:t>Conservar NULL y separar calidad de dato de demora alta.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100"/>
              </a:spcAft>
              <a:buNone/>
              <a:defRPr sz="15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11827"/>
                </a:solidFill>
                <a:latin typeface="Arial"/>
                <a:ea typeface="Arial"/>
                <a:cs typeface="Arial"/>
              </a:rPr>
              <a:t>Usar K-Means para orientar capacidad por perfil, no para etiquetar causalidad.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100"/>
              </a:spcAft>
              <a:buNone/>
              <a:defRPr sz="15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11827"/>
                </a:solidFill>
                <a:latin typeface="Arial"/>
                <a:ea typeface="Arial"/>
                <a:cs typeface="Arial"/>
              </a:rPr>
              <a:t>Usar el árbol como filtro de revisión humana, no como decisión automática.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3092BF-38FE-4570-A535-935F469B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4667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0">
            <a:solidFill>
              <a:srgbClr val="EEE9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98C590-DAD5-45AB-91A3-107F5A66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6D4AFF"/>
                </a:solidFill>
                <a:latin typeface="Arial"/>
                <a:ea typeface="Arial"/>
                <a:cs typeface="Arial"/>
              </a:rPr>
              <a:t>Lo que sí sabemos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DA5124-4B60-4B0C-85BB-9A16B769A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578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>
            <a:defPPr algn="l">
              <a:defRPr sz="150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4243D"/>
                </a:solidFill>
                <a:latin typeface="Arial"/>
                <a:ea typeface="Arial"/>
                <a:cs typeface="Arial"/>
              </a:rPr>
              <a:t>El tablero permite comparar volumen y demora con el mismo filtro.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136A36-B292-4851-B3F7-257308CF7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717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4243D"/>
                </a:solidFill>
                <a:latin typeface="Arial"/>
                <a:ea typeface="Arial"/>
                <a:cs typeface="Arial"/>
              </a:rPr>
              <a:t>Demo en 3 pasos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843F80-7AE9-42FE-AF25-07C9FC048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860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2463E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FA910E-D605-4786-B12D-DC24A9BF6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686050"/>
            <a:ext cx="398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4243D"/>
                </a:solidFill>
                <a:latin typeface="Arial"/>
                <a:ea typeface="Arial"/>
                <a:cs typeface="Arial"/>
              </a:rPr>
              <a:t>Filtrar BRONX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7EEAB2-F1C3-4BA8-9C91-7079BB33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90850"/>
            <a:ext cx="3981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256,770 solicitudes · mediana 415 min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A878C8-FEA0-430F-ADF5-F8508D8D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524250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2BB114-931C-4446-A15E-3EF4751D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719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6D4A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6D4A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BFEDF6-9632-44A8-A030-FD08EB22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771900"/>
            <a:ext cx="398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4243D"/>
                </a:solidFill>
                <a:latin typeface="Arial"/>
                <a:ea typeface="Arial"/>
                <a:cs typeface="Arial"/>
              </a:rPr>
              <a:t>Aislar sin perfil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A7E658-65F5-4834-9503-3066B094B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076700"/>
            <a:ext cx="3981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14,024 solicitudes · la cuadratura se conserva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B0EDAC-FB9C-43CC-AFF2-4EC498D92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610100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4D9383-31BA-4B99-864F-D420CE55A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577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2463EB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2463E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912EF5-B8F4-445B-A186-00150E616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857750"/>
            <a:ext cx="398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14243D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4243D"/>
                </a:solidFill>
                <a:latin typeface="Arial"/>
                <a:ea typeface="Arial"/>
                <a:cs typeface="Arial"/>
              </a:rPr>
              <a:t>Volver al universo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226B56-A0D4-4EEA-ABB1-20A8A658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162550"/>
            <a:ext cx="3981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1,293,816 solicitudes · P75 histórico 4,329 min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0F2D32-DDCA-49B9-8C5F-74AB9C7D3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98A2B3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98A2B3"/>
                </a:solidFill>
                <a:latin typeface="Arial"/>
                <a:ea typeface="Arial"/>
                <a:cs typeface="Arial"/>
              </a:rPr>
              <a:t>Fuentes: validación del modelo BI y guion de defensa. Abrir el PBIX nativo durante la exposición.</a:t>
            </a:r>
          </a:p>
        </p:txBody>
      </p:sp>
    </p:spTree>
    <p:extLst>
      <p:ext uri="{BB962C8B-B14F-4D97-AF65-F5344CB8AC3E}">
        <p14:creationId xmlns:p14="http://schemas.microsoft.com/office/powerpoint/2010/main" val="3218308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2026-10-26T06:16:27.5090000Z</dcterms:created>
  <dcterms:modified xsi:type="dcterms:W3CDTF">2026-10-26T06:16:27.5090000Z</dcterms:modified>
</coreProperties>
</file>